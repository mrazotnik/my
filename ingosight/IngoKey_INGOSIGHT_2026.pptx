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ление" id="{ef320c51-236e-ccfc-dd41-6b031866eb04}">
          <p14:sldIdLst>
            <p14:sldId id="256"/>
            <p14:sldId id="257"/>
            <p14:sldId id="258"/>
          </p14:sldIdLst>
        </p14:section>
        <p14:section name="Сегмент и задача" id="{de8190ff-97a3-754f-3785-5df1c5e4ef5e}">
          <p14:sldIdLst>
            <p14:sldId id="259"/>
            <p14:sldId id="260"/>
          </p14:sldIdLst>
        </p14:section>
        <p14:section name="Подтверждение проблемы" id="{3ba7c039-eab7-d12b-338e-01d49423cc50}">
          <p14:sldIdLst>
            <p14:sldId id="261"/>
            <p14:sldId id="262"/>
            <p14:sldId id="263"/>
          </p14:sldIdLst>
        </p14:section>
        <p14:section name="Альтернативы и привлекательность" id="{7e473bf5-bc3e-37f0-d6b5-be016e9180af}">
          <p14:sldIdLst>
            <p14:sldId id="264"/>
            <p14:sldId id="265"/>
            <p14:sldId id="266"/>
          </p14:sldIdLst>
        </p14:section>
        <p14:section name="Решение" id="{8a827b1a-2c16-9708-6057-d41517c890b2}">
          <p14:sldIdLst>
            <p14:sldId id="267"/>
            <p14:sldId id="268"/>
            <p14:sldId id="269"/>
          </p14:sldIdLst>
        </p14:section>
        <p14:section name="Бизнес-модель и финал" id="{8c098d99-8324-5c19-be6e-580a84854d3a}">
          <p14:sldIdLst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Депозит</c:v>
                </c:pt>
              </c:strCache>
            </c:strRef>
          </c:tx>
          <c:spPr>
            <a:solidFill>
              <a:srgbClr val="0040C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0040C0"/>
                    </a:solidFill>
                    <a:latin typeface="+mj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2020</c:v>
                  </c:pt>
                  <c:pt idx="1">
                    <c:v>2025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67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600" u="none">
                  <a:solidFill>
                    <a:srgbClr val="0040C0"/>
                  </a:solidFill>
                  <a:latin typeface="+mj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EFF6FB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млн ₽</c:v>
                </c:pt>
              </c:strCache>
            </c:strRef>
          </c:tx>
          <c:spPr>
            <a:solidFill>
              <a:srgbClr val="0040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040C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Юристы и актуарии — 0,6</c:v>
                  </c:pt>
                  <c:pt idx="1">
                    <c:v>Лендинг, бот, интеграция — 1,2</c:v>
                  </c:pt>
                  <c:pt idx="2">
                    <c:v>Тест-маркетинг, партнёры — 1,0</c:v>
                  </c:pt>
                  <c:pt idx="3">
                    <c:v>Эксперт и поддержка — 0,7</c:v>
                  </c:pt>
                  <c:pt idx="4">
                    <c:v>Резерв под выплаты — 1,0</c:v>
                  </c:pt>
                  <c:pt idx="5">
                    <c:v>Исследования — 0,3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</c:v>
                </c:pt>
                <c:pt idx="1">
                  <c:v>1.2</c:v>
                </c:pt>
                <c:pt idx="2">
                  <c:v>1</c:v>
                </c:pt>
                <c:pt idx="3">
                  <c:v>0.7</c:v>
                </c:pt>
                <c:pt idx="4">
                  <c:v>1</c:v>
                </c:pt>
                <c:pt idx="5">
                  <c:v>0.3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040C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1F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Замените [название команды] и [вуз] перед отправкой.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Заполните лаймовые блоки результатами интервью и опроса до отправки (дедлайн 26.10, 12:00). Если данных мало — честно укажите выборку и что это предварительный результат.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 оценки №9: «Описан вклад каждого участника команды в разработку решения и зоны ответственности». Заполните имена и фактический вклад.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DARK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CONTENT-image-2.jpe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611880"/>
            <a:ext cx="749808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4572000"/>
            <a:ext cx="73152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548640"/>
            <a:ext cx="78638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201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chemeClr val="accent1"/>
                </a:solidFill>
              </a:rPr>
              <a:t>INGOSIGHT 2026 · ИНГОКЛЮЧ</a:t>
            </a:r>
            <a:endParaRPr lang="en-US" sz="800" dirty="0"/>
          </a:p>
        </p:txBody>
      </p:sp>
      <p:pic>
        <p:nvPicPr>
          <p:cNvPr id="3" name="Image 0" descr="/tmp/claude-0/-home-user-my/7151b996-ac25-582f-ad95-91de1a331b55/scratchpa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94592" y="128016"/>
            <a:ext cx="292608" cy="329184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" y="228600"/>
            <a:ext cx="77724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b="1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9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61188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ИнгоКлюч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457200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Заезд без залога: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Ингосстрах ручается за жильца</a:t>
            </a:r>
            <a:endParaRPr lang="en-US" sz="2000" dirty="0"/>
          </a:p>
        </p:txBody>
      </p:sp>
      <p:sp>
        <p:nvSpPr>
          <p:cNvPr id="4" name="text-1"/>
          <p:cNvSpPr txBox="1"/>
          <p:nvPr/>
        </p:nvSpPr>
        <p:spPr>
          <a:xfrm>
            <a:off x="502920" y="5577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Отборочный тур · Направления: жильё и недвижимость × финансовое благополучие</a:t>
            </a:r>
            <a:endParaRPr lang="en-US" sz="1300" dirty="0"/>
          </a:p>
        </p:txBody>
      </p:sp>
      <p:sp>
        <p:nvSpPr>
          <p:cNvPr id="5" name="text-2"/>
          <p:cNvSpPr txBox="1"/>
          <p:nvPr/>
        </p:nvSpPr>
        <p:spPr>
          <a:xfrm>
            <a:off x="502920" y="5943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Команда «[название команды]» · [вуз]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286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КОРОТКО О ГЛАВНОМ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Решение за одну минуту</a:t>
            </a:r>
            <a:endParaRPr lang="en-US" sz="2400" dirty="0"/>
          </a:p>
        </p:txBody>
      </p:sp>
      <p:sp>
        <p:nvSpPr>
          <p:cNvPr id="4" name="card-3"/>
          <p:cNvSpPr/>
          <p:nvPr/>
        </p:nvSpPr>
        <p:spPr>
          <a:xfrm>
            <a:off x="457200" y="1371600"/>
            <a:ext cx="7223760" cy="1115568"/>
          </a:xfrm>
          <a:prstGeom prst="roundRect">
            <a:avLst>
              <a:gd name="adj" fmla="val 98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-4"/>
          <p:cNvSpPr/>
          <p:nvPr/>
        </p:nvSpPr>
        <p:spPr>
          <a:xfrm>
            <a:off x="658368" y="15544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-5"/>
          <p:cNvSpPr txBox="1"/>
          <p:nvPr/>
        </p:nvSpPr>
        <p:spPr>
          <a:xfrm>
            <a:off x="658368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-6"/>
          <p:cNvSpPr txBox="1"/>
          <p:nvPr/>
        </p:nvSpPr>
        <p:spPr>
          <a:xfrm>
            <a:off x="1234440" y="151790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Проблема</a:t>
            </a:r>
            <a:endParaRPr lang="en-US" sz="1300" dirty="0"/>
          </a:p>
        </p:txBody>
      </p:sp>
      <p:sp>
        <p:nvSpPr>
          <p:cNvPr id="8" name="text-7"/>
          <p:cNvSpPr txBox="1"/>
          <p:nvPr/>
        </p:nvSpPr>
        <p:spPr>
          <a:xfrm>
            <a:off x="1234440" y="1783080"/>
            <a:ext cx="6263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97% собственников в крупных городах требуют депозит, в среднем 67% месячной ставки. При переезде жилец платит сразу 2–3 ставки и рискует не вернуть залог: 46% сделок проходят без договора, акт состояния квартиры почти никто не составляет.</a:t>
            </a:r>
            <a:endParaRPr lang="en-US" sz="1150" dirty="0"/>
          </a:p>
        </p:txBody>
      </p:sp>
      <p:sp>
        <p:nvSpPr>
          <p:cNvPr id="9" name="card-8"/>
          <p:cNvSpPr/>
          <p:nvPr/>
        </p:nvSpPr>
        <p:spPr>
          <a:xfrm>
            <a:off x="457200" y="2596896"/>
            <a:ext cx="7223760" cy="1115568"/>
          </a:xfrm>
          <a:prstGeom prst="roundRect">
            <a:avLst>
              <a:gd name="adj" fmla="val 98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-9"/>
          <p:cNvSpPr/>
          <p:nvPr/>
        </p:nvSpPr>
        <p:spPr>
          <a:xfrm>
            <a:off x="658368" y="27797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-10"/>
          <p:cNvSpPr txBox="1"/>
          <p:nvPr/>
        </p:nvSpPr>
        <p:spPr>
          <a:xfrm>
            <a:off x="658368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-11"/>
          <p:cNvSpPr txBox="1"/>
          <p:nvPr/>
        </p:nvSpPr>
        <p:spPr>
          <a:xfrm>
            <a:off x="1234440" y="27432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Сегмент</a:t>
            </a:r>
            <a:endParaRPr lang="en-US" sz="1300" dirty="0"/>
          </a:p>
        </p:txBody>
      </p:sp>
      <p:sp>
        <p:nvSpPr>
          <p:cNvPr id="13" name="text-12"/>
          <p:cNvSpPr txBox="1"/>
          <p:nvPr/>
        </p:nvSpPr>
        <p:spPr>
          <a:xfrm>
            <a:off x="1234440" y="3008376"/>
            <a:ext cx="6263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«Мобильные арендаторы» 22–35 лет в городах-миллионниках: снимают напрямую у собственника и переезжают раз в 1–2 года. Вторая сторона — частный собственник одной квартиры.</a:t>
            </a:r>
            <a:endParaRPr lang="en-US" sz="1150" dirty="0"/>
          </a:p>
        </p:txBody>
      </p:sp>
      <p:sp>
        <p:nvSpPr>
          <p:cNvPr id="14" name="card-13"/>
          <p:cNvSpPr/>
          <p:nvPr/>
        </p:nvSpPr>
        <p:spPr>
          <a:xfrm>
            <a:off x="457200" y="3822192"/>
            <a:ext cx="7223760" cy="1115568"/>
          </a:xfrm>
          <a:prstGeom prst="roundRect">
            <a:avLst>
              <a:gd name="adj" fmla="val 98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badge-14"/>
          <p:cNvSpPr/>
          <p:nvPr/>
        </p:nvSpPr>
        <p:spPr>
          <a:xfrm>
            <a:off x="658368" y="400507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-15"/>
          <p:cNvSpPr txBox="1"/>
          <p:nvPr/>
        </p:nvSpPr>
        <p:spPr>
          <a:xfrm>
            <a:off x="658368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-16"/>
          <p:cNvSpPr txBox="1"/>
          <p:nvPr/>
        </p:nvSpPr>
        <p:spPr>
          <a:xfrm>
            <a:off x="1234440" y="396849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Решение</a:t>
            </a:r>
            <a:endParaRPr lang="en-US" sz="1300" dirty="0"/>
          </a:p>
        </p:txBody>
      </p:sp>
      <p:sp>
        <p:nvSpPr>
          <p:cNvPr id="18" name="text-17"/>
          <p:cNvSpPr txBox="1"/>
          <p:nvPr/>
        </p:nvSpPr>
        <p:spPr>
          <a:xfrm>
            <a:off x="1234440" y="4233672"/>
            <a:ext cx="6263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ИнгоКлюч: вместо залога жилец платит невозвратный взнос ≈20% ставки в год, а собственник получает покрытие до 2 ставок от Ингосстраха и цифровой акт заезда. Каждый чистый выезд снижает взнос на следующей квартире.</a:t>
            </a:r>
            <a:endParaRPr lang="en-US" sz="1150" dirty="0"/>
          </a:p>
        </p:txBody>
      </p:sp>
      <p:sp>
        <p:nvSpPr>
          <p:cNvPr id="19" name="card-18"/>
          <p:cNvSpPr/>
          <p:nvPr/>
        </p:nvSpPr>
        <p:spPr>
          <a:xfrm>
            <a:off x="457200" y="5047488"/>
            <a:ext cx="7223760" cy="1115568"/>
          </a:xfrm>
          <a:prstGeom prst="roundRect">
            <a:avLst>
              <a:gd name="adj" fmla="val 98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badge-19"/>
          <p:cNvSpPr/>
          <p:nvPr/>
        </p:nvSpPr>
        <p:spPr>
          <a:xfrm>
            <a:off x="658368" y="523036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-20"/>
          <p:cNvSpPr txBox="1"/>
          <p:nvPr/>
        </p:nvSpPr>
        <p:spPr>
          <a:xfrm>
            <a:off x="658368" y="5230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-21"/>
          <p:cNvSpPr txBox="1"/>
          <p:nvPr/>
        </p:nvSpPr>
        <p:spPr>
          <a:xfrm>
            <a:off x="1234440" y="51937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Почему Ингосстрах</a:t>
            </a:r>
            <a:endParaRPr lang="en-US" sz="1300" dirty="0"/>
          </a:p>
        </p:txBody>
      </p:sp>
      <p:sp>
        <p:nvSpPr>
          <p:cNvPr id="23" name="text-22"/>
          <p:cNvSpPr txBox="1"/>
          <p:nvPr/>
        </p:nvSpPr>
        <p:spPr>
          <a:xfrm>
            <a:off x="1234440" y="5458968"/>
            <a:ext cx="6263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Самоосмотр квартир в приложении (с 2018 г.), урегулирование имущественных убытков, оценка риска и бренд с рейтингом ruAAA, которому собственник доверит квартиру без «живых» денег.</a:t>
            </a:r>
            <a:endParaRPr lang="en-US" sz="1150" dirty="0"/>
          </a:p>
        </p:txBody>
      </p:sp>
      <p:sp>
        <p:nvSpPr>
          <p:cNvPr id="24" name="card-23"/>
          <p:cNvSpPr/>
          <p:nvPr/>
        </p:nvSpPr>
        <p:spPr>
          <a:xfrm>
            <a:off x="7955280" y="1371600"/>
            <a:ext cx="3776472" cy="4791456"/>
          </a:xfrm>
          <a:prstGeom prst="roundRect">
            <a:avLst>
              <a:gd name="adj" fmla="val 290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-24"/>
          <p:cNvSpPr txBox="1"/>
          <p:nvPr/>
        </p:nvSpPr>
        <p:spPr>
          <a:xfrm>
            <a:off x="8229600" y="24231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денег арендаторов заморожено в залогах в крупных городах</a:t>
            </a:r>
            <a:endParaRPr lang="en-US" sz="1300" dirty="0"/>
          </a:p>
        </p:txBody>
      </p:sp>
      <p:sp>
        <p:nvSpPr>
          <p:cNvPr id="26" name="text-25"/>
          <p:cNvSpPr txBox="1"/>
          <p:nvPr/>
        </p:nvSpPr>
        <p:spPr>
          <a:xfrm>
            <a:off x="8229600" y="16459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≈94 млрд ₽</a:t>
            </a:r>
            <a:endParaRPr lang="en-US" sz="3000" dirty="0"/>
          </a:p>
        </p:txBody>
      </p:sp>
      <p:sp>
        <p:nvSpPr>
          <p:cNvPr id="27" name="tag-26"/>
          <p:cNvSpPr/>
          <p:nvPr/>
        </p:nvSpPr>
        <p:spPr>
          <a:xfrm>
            <a:off x="8229600" y="3154680"/>
            <a:ext cx="1737360" cy="21945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text-27"/>
          <p:cNvSpPr txBox="1"/>
          <p:nvPr/>
        </p:nvSpPr>
        <p:spPr>
          <a:xfrm>
            <a:off x="8229600" y="31546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РАСЧЁТ · СЛАЙД 11</a:t>
            </a:r>
            <a:endParaRPr lang="en-US" sz="800" dirty="0"/>
          </a:p>
        </p:txBody>
      </p:sp>
      <p:sp>
        <p:nvSpPr>
          <p:cNvPr id="29" name="text-28"/>
          <p:cNvSpPr txBox="1"/>
          <p:nvPr/>
        </p:nvSpPr>
        <p:spPr>
          <a:xfrm>
            <a:off x="8229600" y="3840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Вывод</a:t>
            </a:r>
            <a:endParaRPr lang="en-US" sz="1300" dirty="0"/>
          </a:p>
        </p:txBody>
      </p:sp>
      <p:sp>
        <p:nvSpPr>
          <p:cNvPr id="30" name="text-29"/>
          <p:cNvSpPr txBox="1"/>
          <p:nvPr/>
        </p:nvSpPr>
        <p:spPr>
          <a:xfrm>
            <a:off x="8229600" y="416052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Проблема массовая, рынок уже платит за замену депозита, а у Ингосстраха есть активы для MVP за 3 месяца и 4,8 млн ₽. Доказательств достаточно, чтобы инвестировать в проверку.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286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ВЫБОР НАПРАВЛЕНИЯ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Как мы выбирали возможность</a:t>
            </a:r>
            <a:endParaRPr lang="en-US" sz="2400" dirty="0"/>
          </a:p>
        </p:txBody>
      </p:sp>
      <p:graphicFrame>
        <p:nvGraphicFramePr>
          <p:cNvPr id="4" name="table-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74980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  <a:gridCol w="1554480"/>
                <a:gridCol w="18288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Критерий (1–5)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Заезд без залога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Жильё · финансы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Б/у авто с рук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Мобильность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Защита родителей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от мошенников · финансы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Острота и частота задачи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●●●●○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●●●●○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●●●●●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Размер сегмента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●●●●○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●●●●○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●●●●●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Слабость текущих решений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●●●●○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●●●○○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●●○○○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Право Ингосстраха на победу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●●●●●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●●●●○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●●○○○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MVP за 3 месяца и 5 млн ₽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●●●●○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●●●○○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●●●○○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Доступ к аудитории для исследования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●●●●●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●●●○○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●●●○○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Итого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26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21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20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5" name="card-31"/>
          <p:cNvSpPr/>
          <p:nvPr/>
        </p:nvSpPr>
        <p:spPr>
          <a:xfrm>
            <a:off x="8229600" y="1371600"/>
            <a:ext cx="3502152" cy="1481328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bg-32"/>
          <p:cNvSpPr/>
          <p:nvPr/>
        </p:nvSpPr>
        <p:spPr>
          <a:xfrm>
            <a:off x="8394192" y="15361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3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8683" y="1620683"/>
            <a:ext cx="215067" cy="215067"/>
          </a:xfrm>
          <a:prstGeom prst="rect">
            <a:avLst/>
          </a:prstGeom>
        </p:spPr>
      </p:pic>
      <p:sp>
        <p:nvSpPr>
          <p:cNvPr id="8" name="text-34"/>
          <p:cNvSpPr txBox="1"/>
          <p:nvPr/>
        </p:nvSpPr>
        <p:spPr>
          <a:xfrm>
            <a:off x="8887968" y="15910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Выбрали аренду</a:t>
            </a:r>
            <a:endParaRPr lang="en-US" sz="1200" dirty="0"/>
          </a:p>
        </p:txBody>
      </p:sp>
      <p:sp>
        <p:nvSpPr>
          <p:cNvPr id="9" name="text-35"/>
          <p:cNvSpPr txBox="1"/>
          <p:nvPr/>
        </p:nvSpPr>
        <p:spPr>
          <a:xfrm>
            <a:off x="8394192" y="199339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Проблема растёт (депозит вырос с 37% до 67% ставки), а у Ингосстраха готовые активы: самоосмотр, урегулирование, бренд. Сегмент — мы сами и наши друзья.</a:t>
            </a:r>
            <a:endParaRPr lang="en-US" sz="1050" dirty="0"/>
          </a:p>
        </p:txBody>
      </p:sp>
      <p:sp>
        <p:nvSpPr>
          <p:cNvPr id="10" name="card-36"/>
          <p:cNvSpPr/>
          <p:nvPr/>
        </p:nvSpPr>
        <p:spPr>
          <a:xfrm>
            <a:off x="8229600" y="2962656"/>
            <a:ext cx="3502152" cy="1481328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bg-37"/>
          <p:cNvSpPr/>
          <p:nvPr/>
        </p:nvSpPr>
        <p:spPr>
          <a:xfrm>
            <a:off x="8394192" y="31272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-3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683" y="3211739"/>
            <a:ext cx="215067" cy="215067"/>
          </a:xfrm>
          <a:prstGeom prst="rect">
            <a:avLst/>
          </a:prstGeom>
        </p:spPr>
      </p:pic>
      <p:sp>
        <p:nvSpPr>
          <p:cNvPr id="13" name="text-39"/>
          <p:cNvSpPr txBox="1"/>
          <p:nvPr/>
        </p:nvSpPr>
        <p:spPr>
          <a:xfrm>
            <a:off x="8887968" y="3182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Б/у авто с рук</a:t>
            </a:r>
            <a:endParaRPr lang="en-US" sz="1200" dirty="0"/>
          </a:p>
        </p:txBody>
      </p:sp>
      <p:sp>
        <p:nvSpPr>
          <p:cNvPr id="14" name="text-40"/>
          <p:cNvSpPr txBox="1"/>
          <p:nvPr/>
        </p:nvSpPr>
        <p:spPr>
          <a:xfrm>
            <a:off x="8394192" y="358444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Проверку уже закрывают Автотека и автоподбор; гарантия на агрегаты требует сети СТО и дорогих выплат — тяжело для MVP.</a:t>
            </a:r>
            <a:endParaRPr lang="en-US" sz="1050" dirty="0"/>
          </a:p>
        </p:txBody>
      </p:sp>
      <p:sp>
        <p:nvSpPr>
          <p:cNvPr id="15" name="card-41"/>
          <p:cNvSpPr/>
          <p:nvPr/>
        </p:nvSpPr>
        <p:spPr>
          <a:xfrm>
            <a:off x="8229600" y="4553712"/>
            <a:ext cx="3502152" cy="1481328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bg-42"/>
          <p:cNvSpPr/>
          <p:nvPr/>
        </p:nvSpPr>
        <p:spPr>
          <a:xfrm>
            <a:off x="8394192" y="471830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-4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683" y="4802795"/>
            <a:ext cx="215067" cy="215067"/>
          </a:xfrm>
          <a:prstGeom prst="rect">
            <a:avLst/>
          </a:prstGeom>
        </p:spPr>
      </p:pic>
      <p:sp>
        <p:nvSpPr>
          <p:cNvPr id="18" name="text-44"/>
          <p:cNvSpPr txBox="1"/>
          <p:nvPr/>
        </p:nvSpPr>
        <p:spPr>
          <a:xfrm>
            <a:off x="8887968" y="4773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Мошенники</a:t>
            </a:r>
            <a:endParaRPr lang="en-US" sz="1200" dirty="0"/>
          </a:p>
        </p:txBody>
      </p:sp>
      <p:sp>
        <p:nvSpPr>
          <p:cNvPr id="19" name="text-45"/>
          <p:cNvSpPr txBox="1"/>
          <p:nvPr/>
        </p:nvSpPr>
        <p:spPr>
          <a:xfrm>
            <a:off x="8394192" y="5175504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Сильнейшая боль, но ближе к транзакции банки и операторы связи — их «защитники» уже бесплатны. Право на победу слабое.</a:t>
            </a:r>
            <a:endParaRPr lang="en-US" sz="1050" dirty="0"/>
          </a:p>
        </p:txBody>
      </p:sp>
      <p:sp>
        <p:nvSpPr>
          <p:cNvPr id="20" name="text-46"/>
          <p:cNvSpPr txBox="1"/>
          <p:nvPr/>
        </p:nvSpPr>
        <p:spPr>
          <a:xfrm>
            <a:off x="457200" y="63276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Оценка команды по критериям методички «Продуктовый подход к поиску возможностей»: острота, частота, размер, готовность менять поведение, доступность аудитории, право на победу.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286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ЭТАП 1 ИЗ 5 · СЕГМЕНТ И ЗАДАЧА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Сегмент: мобильный арендатор</a:t>
            </a:r>
            <a:endParaRPr lang="en-US" sz="2400" dirty="0"/>
          </a:p>
        </p:txBody>
      </p:sp>
      <p:sp>
        <p:nvSpPr>
          <p:cNvPr id="4" name="card-47"/>
          <p:cNvSpPr/>
          <p:nvPr/>
        </p:nvSpPr>
        <p:spPr>
          <a:xfrm>
            <a:off x="457200" y="1371600"/>
            <a:ext cx="4754880" cy="4800600"/>
          </a:xfrm>
          <a:prstGeom prst="roundRect">
            <a:avLst>
              <a:gd name="adj" fmla="val 230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iconbg-48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con-4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766621"/>
            <a:ext cx="307238" cy="307238"/>
          </a:xfrm>
          <a:prstGeom prst="rect">
            <a:avLst/>
          </a:prstGeom>
        </p:spPr>
      </p:pic>
      <p:sp>
        <p:nvSpPr>
          <p:cNvPr id="7" name="text-50"/>
          <p:cNvSpPr txBox="1"/>
          <p:nvPr/>
        </p:nvSpPr>
        <p:spPr>
          <a:xfrm>
            <a:off x="1417320" y="17556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Кто это</a:t>
            </a:r>
            <a:endParaRPr lang="en-US" sz="1600" dirty="0"/>
          </a:p>
        </p:txBody>
      </p:sp>
      <p:sp>
        <p:nvSpPr>
          <p:cNvPr id="8" name="text-51"/>
          <p:cNvSpPr txBox="1"/>
          <p:nvPr/>
        </p:nvSpPr>
        <p:spPr>
          <a:xfrm>
            <a:off x="731520" y="237744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Студенты старших курсов и молодые специалисты 22–35 лет в Москве, Санкт-Петербурге и городах-миллионниках.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chemeClr val="bg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Снимают 1–2-комнатную квартиру напрямую у собственника через Авито и Циан, без агента.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chemeClr val="bg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Переезжают раз в 1–2 года: новая работа или учёба, рост ставки, конфликт с хозяином.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chemeClr val="bg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Подушка безопасности обычно меньше 2–3 месячных ставок — именно столько нужно отдать в день заезда.</a:t>
            </a:r>
            <a:endParaRPr lang="en-US" sz="1300" dirty="0"/>
          </a:p>
        </p:txBody>
      </p:sp>
      <p:sp>
        <p:nvSpPr>
          <p:cNvPr id="9" name="text-52"/>
          <p:cNvSpPr txBox="1"/>
          <p:nvPr/>
        </p:nvSpPr>
        <p:spPr>
          <a:xfrm>
            <a:off x="731520" y="54406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2"/>
                </a:solidFill>
              </a:rPr>
              <a:t>Мы описываем поведение и ситуацию, а не только возраст: общий у сегмента — повторяющийся переезд без посредника.</a:t>
            </a:r>
            <a:endParaRPr lang="en-US" sz="1050" dirty="0"/>
          </a:p>
        </p:txBody>
      </p:sp>
      <p:sp>
        <p:nvSpPr>
          <p:cNvPr id="10" name="card-53"/>
          <p:cNvSpPr/>
          <p:nvPr/>
        </p:nvSpPr>
        <p:spPr>
          <a:xfrm>
            <a:off x="5486400" y="1371600"/>
            <a:ext cx="6245352" cy="987552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bg-54"/>
          <p:cNvSpPr/>
          <p:nvPr/>
        </p:nvSpPr>
        <p:spPr>
          <a:xfrm>
            <a:off x="5669280" y="160934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-5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922" y="1719986"/>
            <a:ext cx="281635" cy="281635"/>
          </a:xfrm>
          <a:prstGeom prst="rect">
            <a:avLst/>
          </a:prstGeom>
        </p:spPr>
      </p:pic>
      <p:sp>
        <p:nvSpPr>
          <p:cNvPr id="13" name="text-56"/>
          <p:cNvSpPr txBox="1"/>
          <p:nvPr/>
        </p:nvSpPr>
        <p:spPr>
          <a:xfrm>
            <a:off x="6400800" y="149961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Кто пользуется</a:t>
            </a:r>
            <a:endParaRPr lang="en-US" sz="1300" dirty="0"/>
          </a:p>
        </p:txBody>
      </p:sp>
      <p:sp>
        <p:nvSpPr>
          <p:cNvPr id="14" name="text-57"/>
          <p:cNvSpPr txBox="1"/>
          <p:nvPr/>
        </p:nvSpPr>
        <p:spPr>
          <a:xfrm>
            <a:off x="6400800" y="1792224"/>
            <a:ext cx="5166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Жилец (и его соседи по квартире) — от заезда до выезда.</a:t>
            </a:r>
            <a:endParaRPr lang="en-US" sz="1200" dirty="0"/>
          </a:p>
        </p:txBody>
      </p:sp>
      <p:sp>
        <p:nvSpPr>
          <p:cNvPr id="15" name="card-58"/>
          <p:cNvSpPr/>
          <p:nvPr/>
        </p:nvSpPr>
        <p:spPr>
          <a:xfrm>
            <a:off x="5486400" y="2468880"/>
            <a:ext cx="6245352" cy="987552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bg-59"/>
          <p:cNvSpPr/>
          <p:nvPr/>
        </p:nvSpPr>
        <p:spPr>
          <a:xfrm>
            <a:off x="5669280" y="270662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-6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922" y="2817266"/>
            <a:ext cx="281635" cy="281635"/>
          </a:xfrm>
          <a:prstGeom prst="rect">
            <a:avLst/>
          </a:prstGeom>
        </p:spPr>
      </p:pic>
      <p:sp>
        <p:nvSpPr>
          <p:cNvPr id="18" name="text-61"/>
          <p:cNvSpPr txBox="1"/>
          <p:nvPr/>
        </p:nvSpPr>
        <p:spPr>
          <a:xfrm>
            <a:off x="6400800" y="259689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Кто принимает решение</a:t>
            </a:r>
            <a:endParaRPr lang="en-US" sz="1300" dirty="0"/>
          </a:p>
        </p:txBody>
      </p:sp>
      <p:sp>
        <p:nvSpPr>
          <p:cNvPr id="19" name="text-62"/>
          <p:cNvSpPr txBox="1"/>
          <p:nvPr/>
        </p:nvSpPr>
        <p:spPr>
          <a:xfrm>
            <a:off x="6400800" y="2889504"/>
            <a:ext cx="5166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Двустороннее решение: жилец предлагает ИнгоКлюч, собственник соглашается вместо депозита.</a:t>
            </a:r>
            <a:endParaRPr lang="en-US" sz="1200" dirty="0"/>
          </a:p>
        </p:txBody>
      </p:sp>
      <p:sp>
        <p:nvSpPr>
          <p:cNvPr id="20" name="card-63"/>
          <p:cNvSpPr/>
          <p:nvPr/>
        </p:nvSpPr>
        <p:spPr>
          <a:xfrm>
            <a:off x="5486400" y="3566160"/>
            <a:ext cx="6245352" cy="987552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iconbg-64"/>
          <p:cNvSpPr/>
          <p:nvPr/>
        </p:nvSpPr>
        <p:spPr>
          <a:xfrm>
            <a:off x="5669280" y="380390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con-6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922" y="3914546"/>
            <a:ext cx="281635" cy="281635"/>
          </a:xfrm>
          <a:prstGeom prst="rect">
            <a:avLst/>
          </a:prstGeom>
        </p:spPr>
      </p:pic>
      <p:sp>
        <p:nvSpPr>
          <p:cNvPr id="23" name="text-66"/>
          <p:cNvSpPr txBox="1"/>
          <p:nvPr/>
        </p:nvSpPr>
        <p:spPr>
          <a:xfrm>
            <a:off x="6400800" y="36941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Кто платит</a:t>
            </a:r>
            <a:endParaRPr lang="en-US" sz="1300" dirty="0"/>
          </a:p>
        </p:txBody>
      </p:sp>
      <p:sp>
        <p:nvSpPr>
          <p:cNvPr id="24" name="text-67"/>
          <p:cNvSpPr txBox="1"/>
          <p:nvPr/>
        </p:nvSpPr>
        <p:spPr>
          <a:xfrm>
            <a:off x="6400800" y="3986784"/>
            <a:ext cx="5166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Жилец. В B2B2C — работодатель при релокации сотрудника или агентство.</a:t>
            </a:r>
            <a:endParaRPr lang="en-US" sz="1200" dirty="0"/>
          </a:p>
        </p:txBody>
      </p:sp>
      <p:sp>
        <p:nvSpPr>
          <p:cNvPr id="25" name="card-68"/>
          <p:cNvSpPr/>
          <p:nvPr/>
        </p:nvSpPr>
        <p:spPr>
          <a:xfrm>
            <a:off x="5486400" y="4663440"/>
            <a:ext cx="6245352" cy="987552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iconbg-69"/>
          <p:cNvSpPr/>
          <p:nvPr/>
        </p:nvSpPr>
        <p:spPr>
          <a:xfrm>
            <a:off x="5669280" y="490118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con-7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9922" y="5011826"/>
            <a:ext cx="281635" cy="281635"/>
          </a:xfrm>
          <a:prstGeom prst="rect">
            <a:avLst/>
          </a:prstGeom>
        </p:spPr>
      </p:pic>
      <p:sp>
        <p:nvSpPr>
          <p:cNvPr id="28" name="text-71"/>
          <p:cNvSpPr txBox="1"/>
          <p:nvPr/>
        </p:nvSpPr>
        <p:spPr>
          <a:xfrm>
            <a:off x="640080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Что запускает потребность</a:t>
            </a:r>
            <a:endParaRPr lang="en-US" sz="1300" dirty="0"/>
          </a:p>
        </p:txBody>
      </p:sp>
      <p:sp>
        <p:nvSpPr>
          <p:cNvPr id="29" name="text-72"/>
          <p:cNvSpPr txBox="1"/>
          <p:nvPr/>
        </p:nvSpPr>
        <p:spPr>
          <a:xfrm>
            <a:off x="6400800" y="5084064"/>
            <a:ext cx="5166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Найдена квартира — и за 1–2 дня нужно перевести депозит, первый месяц и часто комиссию.</a:t>
            </a:r>
            <a:endParaRPr lang="en-US" sz="1200" dirty="0"/>
          </a:p>
        </p:txBody>
      </p:sp>
      <p:sp>
        <p:nvSpPr>
          <p:cNvPr id="30" name="text-73"/>
          <p:cNvSpPr txBox="1"/>
          <p:nvPr/>
        </p:nvSpPr>
        <p:spPr>
          <a:xfrm>
            <a:off x="5486400" y="5760720"/>
            <a:ext cx="6245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Вторая сторона: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частный собственник одной квартиры (часто купленной в ипотеку). Боится ущерба и долгов и не хочет судиться.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286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ЭТАП 1 ИЗ 5 · СЕГМЕНТ И ЗАДАЧА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Задача: заехать без залога, выехать без спора</a:t>
            </a:r>
            <a:endParaRPr lang="en-US" sz="2400" dirty="0"/>
          </a:p>
        </p:txBody>
      </p:sp>
      <p:sp>
        <p:nvSpPr>
          <p:cNvPr id="4" name="card-74"/>
          <p:cNvSpPr/>
          <p:nvPr/>
        </p:nvSpPr>
        <p:spPr>
          <a:xfrm>
            <a:off x="457200" y="1371600"/>
            <a:ext cx="5513832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bg-75"/>
          <p:cNvSpPr/>
          <p:nvPr/>
        </p:nvSpPr>
        <p:spPr>
          <a:xfrm>
            <a:off x="658368" y="157276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7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673352"/>
            <a:ext cx="256032" cy="256032"/>
          </a:xfrm>
          <a:prstGeom prst="rect">
            <a:avLst/>
          </a:prstGeom>
        </p:spPr>
      </p:pic>
      <p:sp>
        <p:nvSpPr>
          <p:cNvPr id="7" name="text-77"/>
          <p:cNvSpPr txBox="1"/>
          <p:nvPr/>
        </p:nvSpPr>
        <p:spPr>
          <a:xfrm>
            <a:off x="1280160" y="16642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Работа жильца</a:t>
            </a:r>
            <a:endParaRPr lang="en-US" sz="1300" dirty="0"/>
          </a:p>
        </p:txBody>
      </p:sp>
      <p:sp>
        <p:nvSpPr>
          <p:cNvPr id="8" name="text-78"/>
          <p:cNvSpPr txBox="1"/>
          <p:nvPr/>
        </p:nvSpPr>
        <p:spPr>
          <a:xfrm>
            <a:off x="685800" y="2194560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«Когда я нашёл подходящую квартиру и должен за день заплатить 2–3 месячные ставки, я хочу заехать, не замораживая деньги и не рискуя потерять залог при выезде, чтобы переезд не съедал мою подушку и не заканчивался спором с хозяином»</a:t>
            </a:r>
            <a:endParaRPr lang="en-US" sz="1200" dirty="0"/>
          </a:p>
        </p:txBody>
      </p:sp>
      <p:sp>
        <p:nvSpPr>
          <p:cNvPr id="9" name="card-79"/>
          <p:cNvSpPr/>
          <p:nvPr/>
        </p:nvSpPr>
        <p:spPr>
          <a:xfrm>
            <a:off x="6217920" y="1371600"/>
            <a:ext cx="5513832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bg-80"/>
          <p:cNvSpPr/>
          <p:nvPr/>
        </p:nvSpPr>
        <p:spPr>
          <a:xfrm>
            <a:off x="6419088" y="157276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-8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1673352"/>
            <a:ext cx="256032" cy="256032"/>
          </a:xfrm>
          <a:prstGeom prst="rect">
            <a:avLst/>
          </a:prstGeom>
        </p:spPr>
      </p:pic>
      <p:sp>
        <p:nvSpPr>
          <p:cNvPr id="12" name="text-82"/>
          <p:cNvSpPr txBox="1"/>
          <p:nvPr/>
        </p:nvSpPr>
        <p:spPr>
          <a:xfrm>
            <a:off x="7040880" y="16642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Работа собственника</a:t>
            </a:r>
            <a:endParaRPr lang="en-US" sz="1300" dirty="0"/>
          </a:p>
        </p:txBody>
      </p:sp>
      <p:sp>
        <p:nvSpPr>
          <p:cNvPr id="13" name="text-83"/>
          <p:cNvSpPr txBox="1"/>
          <p:nvPr/>
        </p:nvSpPr>
        <p:spPr>
          <a:xfrm>
            <a:off x="6446520" y="2194560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«Когда я пускаю в квартиру незнакомого человека, я хочу быть уверен, что ущерб и долги будут покрыты быстро и без суда, чтобы сдавать квартиру без нервов и простоя»</a:t>
            </a:r>
            <a:endParaRPr lang="en-US" sz="1200" dirty="0"/>
          </a:p>
        </p:txBody>
      </p:sp>
      <p:sp>
        <p:nvSpPr>
          <p:cNvPr id="14" name="text-84"/>
          <p:cNvSpPr txBox="1"/>
          <p:nvPr/>
        </p:nvSpPr>
        <p:spPr>
          <a:xfrm>
            <a:off x="45720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Путь жильца и точки боли</a:t>
            </a:r>
            <a:endParaRPr lang="en-US" sz="1400" dirty="0"/>
          </a:p>
        </p:txBody>
      </p:sp>
      <p:sp>
        <p:nvSpPr>
          <p:cNvPr id="15" name="card-85"/>
          <p:cNvSpPr/>
          <p:nvPr/>
        </p:nvSpPr>
        <p:spPr>
          <a:xfrm>
            <a:off x="457200" y="4069080"/>
            <a:ext cx="1801368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-86"/>
          <p:cNvSpPr txBox="1"/>
          <p:nvPr/>
        </p:nvSpPr>
        <p:spPr>
          <a:xfrm>
            <a:off x="548640" y="4069080"/>
            <a:ext cx="161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1. Поиск квартиры</a:t>
            </a:r>
            <a:endParaRPr lang="en-US" sz="1150" dirty="0"/>
          </a:p>
        </p:txBody>
      </p:sp>
      <p:sp>
        <p:nvSpPr>
          <p:cNvPr id="17" name="card-87"/>
          <p:cNvSpPr/>
          <p:nvPr/>
        </p:nvSpPr>
        <p:spPr>
          <a:xfrm>
            <a:off x="2350008" y="4069080"/>
            <a:ext cx="1801368" cy="566928"/>
          </a:xfrm>
          <a:prstGeom prst="roundRect">
            <a:avLst>
              <a:gd name="adj" fmla="val 1935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-88"/>
          <p:cNvSpPr txBox="1"/>
          <p:nvPr/>
        </p:nvSpPr>
        <p:spPr>
          <a:xfrm>
            <a:off x="2441448" y="4069080"/>
            <a:ext cx="161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2. Просмотр</a:t>
            </a:r>
            <a:endParaRPr lang="en-US" sz="1150" dirty="0"/>
          </a:p>
        </p:txBody>
      </p:sp>
      <p:sp>
        <p:nvSpPr>
          <p:cNvPr id="19" name="card-89"/>
          <p:cNvSpPr/>
          <p:nvPr/>
        </p:nvSpPr>
        <p:spPr>
          <a:xfrm>
            <a:off x="2350008" y="4754880"/>
            <a:ext cx="1801368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0" name="text-90"/>
          <p:cNvSpPr txBox="1"/>
          <p:nvPr/>
        </p:nvSpPr>
        <p:spPr>
          <a:xfrm>
            <a:off x="2459736" y="4828032"/>
            <a:ext cx="1581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Мошенники просят «залог за просмотр»</a:t>
            </a:r>
            <a:endParaRPr lang="en-US" sz="1050" dirty="0"/>
          </a:p>
        </p:txBody>
      </p:sp>
      <p:sp>
        <p:nvSpPr>
          <p:cNvPr id="21" name="card-91"/>
          <p:cNvSpPr/>
          <p:nvPr/>
        </p:nvSpPr>
        <p:spPr>
          <a:xfrm>
            <a:off x="4242816" y="4069080"/>
            <a:ext cx="1801368" cy="566928"/>
          </a:xfrm>
          <a:prstGeom prst="roundRect">
            <a:avLst>
              <a:gd name="adj" fmla="val 1935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-92"/>
          <p:cNvSpPr txBox="1"/>
          <p:nvPr/>
        </p:nvSpPr>
        <p:spPr>
          <a:xfrm>
            <a:off x="4334256" y="4069080"/>
            <a:ext cx="161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3. Заезд</a:t>
            </a:r>
            <a:endParaRPr lang="en-US" sz="1150" dirty="0"/>
          </a:p>
        </p:txBody>
      </p:sp>
      <p:sp>
        <p:nvSpPr>
          <p:cNvPr id="23" name="card-93"/>
          <p:cNvSpPr/>
          <p:nvPr/>
        </p:nvSpPr>
        <p:spPr>
          <a:xfrm>
            <a:off x="4242816" y="4754880"/>
            <a:ext cx="1801368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4" name="text-94"/>
          <p:cNvSpPr txBox="1"/>
          <p:nvPr/>
        </p:nvSpPr>
        <p:spPr>
          <a:xfrm>
            <a:off x="4352544" y="4828032"/>
            <a:ext cx="1581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Депозит 67% + первый месяц + комиссия — до 2–3 ставок разом</a:t>
            </a:r>
            <a:endParaRPr lang="en-US" sz="1050" dirty="0"/>
          </a:p>
        </p:txBody>
      </p:sp>
      <p:sp>
        <p:nvSpPr>
          <p:cNvPr id="25" name="card-95"/>
          <p:cNvSpPr/>
          <p:nvPr/>
        </p:nvSpPr>
        <p:spPr>
          <a:xfrm>
            <a:off x="6135624" y="4069080"/>
            <a:ext cx="1801368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-96"/>
          <p:cNvSpPr txBox="1"/>
          <p:nvPr/>
        </p:nvSpPr>
        <p:spPr>
          <a:xfrm>
            <a:off x="6227064" y="4069080"/>
            <a:ext cx="161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4. Проживание</a:t>
            </a:r>
            <a:endParaRPr lang="en-US" sz="1150" dirty="0"/>
          </a:p>
        </p:txBody>
      </p:sp>
      <p:sp>
        <p:nvSpPr>
          <p:cNvPr id="27" name="card-97"/>
          <p:cNvSpPr/>
          <p:nvPr/>
        </p:nvSpPr>
        <p:spPr>
          <a:xfrm>
            <a:off x="8028432" y="4069080"/>
            <a:ext cx="1801368" cy="566928"/>
          </a:xfrm>
          <a:prstGeom prst="roundRect">
            <a:avLst>
              <a:gd name="adj" fmla="val 1935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-98"/>
          <p:cNvSpPr txBox="1"/>
          <p:nvPr/>
        </p:nvSpPr>
        <p:spPr>
          <a:xfrm>
            <a:off x="8119872" y="4069080"/>
            <a:ext cx="161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5. Выезд и осмотр</a:t>
            </a:r>
            <a:endParaRPr lang="en-US" sz="1150" dirty="0"/>
          </a:p>
        </p:txBody>
      </p:sp>
      <p:sp>
        <p:nvSpPr>
          <p:cNvPr id="29" name="card-99"/>
          <p:cNvSpPr/>
          <p:nvPr/>
        </p:nvSpPr>
        <p:spPr>
          <a:xfrm>
            <a:off x="8028432" y="4754880"/>
            <a:ext cx="1801368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30" name="text-100"/>
          <p:cNvSpPr txBox="1"/>
          <p:nvPr/>
        </p:nvSpPr>
        <p:spPr>
          <a:xfrm>
            <a:off x="8138160" y="4828032"/>
            <a:ext cx="1581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Нет акта заезда — «слово против слова»</a:t>
            </a:r>
            <a:endParaRPr lang="en-US" sz="1050" dirty="0"/>
          </a:p>
        </p:txBody>
      </p:sp>
      <p:sp>
        <p:nvSpPr>
          <p:cNvPr id="31" name="card-101"/>
          <p:cNvSpPr/>
          <p:nvPr/>
        </p:nvSpPr>
        <p:spPr>
          <a:xfrm>
            <a:off x="9921240" y="4069080"/>
            <a:ext cx="1801368" cy="566928"/>
          </a:xfrm>
          <a:prstGeom prst="roundRect">
            <a:avLst>
              <a:gd name="adj" fmla="val 1935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-102"/>
          <p:cNvSpPr txBox="1"/>
          <p:nvPr/>
        </p:nvSpPr>
        <p:spPr>
          <a:xfrm>
            <a:off x="10012680" y="4069080"/>
            <a:ext cx="161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6. Возврат залога</a:t>
            </a:r>
            <a:endParaRPr lang="en-US" sz="1150" dirty="0"/>
          </a:p>
        </p:txBody>
      </p:sp>
      <p:sp>
        <p:nvSpPr>
          <p:cNvPr id="33" name="card-103"/>
          <p:cNvSpPr/>
          <p:nvPr/>
        </p:nvSpPr>
        <p:spPr>
          <a:xfrm>
            <a:off x="9921240" y="4754880"/>
            <a:ext cx="1801368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34" name="text-104"/>
          <p:cNvSpPr txBox="1"/>
          <p:nvPr/>
        </p:nvSpPr>
        <p:spPr>
          <a:xfrm>
            <a:off x="10030968" y="4828032"/>
            <a:ext cx="1581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До 25% залогов не возвращают без объективной причины</a:t>
            </a:r>
            <a:endParaRPr lang="en-US" sz="1050" dirty="0"/>
          </a:p>
        </p:txBody>
      </p:sp>
      <p:sp>
        <p:nvSpPr>
          <p:cNvPr id="35" name="text-105"/>
          <p:cNvSpPr txBox="1"/>
          <p:nvPr/>
        </p:nvSpPr>
        <p:spPr>
          <a:xfrm>
            <a:off x="457200" y="63276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Источники: ЦИАН (ноябрь 2025) — размер депозита; РБК (2019) — оценка участников рынка по невозврату залогов; F6 / Мирквартир (2025) — схемы мошенничества.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286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ЭТАП 2 ИЗ 5 · ПОДТВЕРЖДЕНИЕ ПРОБЛЕМЫ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Залог стал нормой рынка — и растёт</a:t>
            </a:r>
            <a:endParaRPr lang="en-US" sz="2400" dirty="0"/>
          </a:p>
        </p:txBody>
      </p:sp>
      <p:sp>
        <p:nvSpPr>
          <p:cNvPr id="4" name="card-106"/>
          <p:cNvSpPr/>
          <p:nvPr/>
        </p:nvSpPr>
        <p:spPr>
          <a:xfrm>
            <a:off x="457200" y="1371600"/>
            <a:ext cx="4572000" cy="48006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-107"/>
          <p:cNvSpPr txBox="1"/>
          <p:nvPr/>
        </p:nvSpPr>
        <p:spPr>
          <a:xfrm>
            <a:off x="685800" y="1554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Средний депозит, % месячной ставки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920240"/>
          <a:ext cx="42062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-108"/>
          <p:cNvSpPr txBox="1"/>
          <p:nvPr/>
        </p:nvSpPr>
        <p:spPr>
          <a:xfrm>
            <a:off x="685800" y="53949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×1,8 за пять лет. Эксперты связывают рост с расходами собственников на ремонт после выезда жильцов.</a:t>
            </a:r>
            <a:endParaRPr lang="en-US" sz="1100" dirty="0"/>
          </a:p>
        </p:txBody>
      </p:sp>
      <p:sp>
        <p:nvSpPr>
          <p:cNvPr id="8" name="card-109"/>
          <p:cNvSpPr/>
          <p:nvPr/>
        </p:nvSpPr>
        <p:spPr>
          <a:xfrm>
            <a:off x="5303520" y="1371600"/>
            <a:ext cx="3108960" cy="2313432"/>
          </a:xfrm>
          <a:prstGeom prst="roundRect">
            <a:avLst>
              <a:gd name="adj" fmla="val 474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-110"/>
          <p:cNvSpPr txBox="1"/>
          <p:nvPr/>
        </p:nvSpPr>
        <p:spPr>
          <a:xfrm>
            <a:off x="5532120" y="157276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5,8 млн</a:t>
            </a:r>
            <a:endParaRPr lang="en-US" sz="2800" dirty="0"/>
          </a:p>
        </p:txBody>
      </p:sp>
      <p:sp>
        <p:nvSpPr>
          <p:cNvPr id="10" name="text-111"/>
          <p:cNvSpPr txBox="1"/>
          <p:nvPr/>
        </p:nvSpPr>
        <p:spPr>
          <a:xfrm>
            <a:off x="5532120" y="22402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семей снимают жильё на рыночных условиях; в 2020 году — 5,1 млн</a:t>
            </a:r>
            <a:endParaRPr lang="en-US" sz="1150" dirty="0"/>
          </a:p>
        </p:txBody>
      </p:sp>
      <p:sp>
        <p:nvSpPr>
          <p:cNvPr id="11" name="tag-112"/>
          <p:cNvSpPr/>
          <p:nvPr/>
        </p:nvSpPr>
        <p:spPr>
          <a:xfrm>
            <a:off x="5532120" y="3273552"/>
            <a:ext cx="2377440" cy="2194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-113"/>
          <p:cNvSpPr txBox="1"/>
          <p:nvPr/>
        </p:nvSpPr>
        <p:spPr>
          <a:xfrm>
            <a:off x="5532120" y="327355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ФАКТ · ДОМ.РФ, 2025</a:t>
            </a:r>
            <a:endParaRPr lang="en-US" sz="800" dirty="0"/>
          </a:p>
        </p:txBody>
      </p:sp>
      <p:sp>
        <p:nvSpPr>
          <p:cNvPr id="13" name="card-114"/>
          <p:cNvSpPr/>
          <p:nvPr/>
        </p:nvSpPr>
        <p:spPr>
          <a:xfrm>
            <a:off x="8549640" y="1371600"/>
            <a:ext cx="3108960" cy="2313432"/>
          </a:xfrm>
          <a:prstGeom prst="roundRect">
            <a:avLst>
              <a:gd name="adj" fmla="val 47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-115"/>
          <p:cNvSpPr txBox="1"/>
          <p:nvPr/>
        </p:nvSpPr>
        <p:spPr>
          <a:xfrm>
            <a:off x="8778240" y="157276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97%</a:t>
            </a:r>
            <a:endParaRPr lang="en-US" sz="2800" dirty="0"/>
          </a:p>
        </p:txBody>
      </p:sp>
      <p:sp>
        <p:nvSpPr>
          <p:cNvPr id="15" name="text-116"/>
          <p:cNvSpPr txBox="1"/>
          <p:nvPr/>
        </p:nvSpPr>
        <p:spPr>
          <a:xfrm>
            <a:off x="8778240" y="22402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объявлений о долгосрочной аренде в крупных городах — с депозитом (годом ранее 95%)</a:t>
            </a:r>
            <a:endParaRPr lang="en-US" sz="1150" dirty="0"/>
          </a:p>
        </p:txBody>
      </p:sp>
      <p:sp>
        <p:nvSpPr>
          <p:cNvPr id="16" name="tag-117"/>
          <p:cNvSpPr/>
          <p:nvPr/>
        </p:nvSpPr>
        <p:spPr>
          <a:xfrm>
            <a:off x="8778240" y="3273552"/>
            <a:ext cx="2377440" cy="2194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-118"/>
          <p:cNvSpPr txBox="1"/>
          <p:nvPr/>
        </p:nvSpPr>
        <p:spPr>
          <a:xfrm>
            <a:off x="8778240" y="327355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ФАКТ · ЦИАН, НОЯБРЬ 2025</a:t>
            </a:r>
            <a:endParaRPr lang="en-US" sz="800" dirty="0"/>
          </a:p>
        </p:txBody>
      </p:sp>
      <p:sp>
        <p:nvSpPr>
          <p:cNvPr id="18" name="card-119"/>
          <p:cNvSpPr/>
          <p:nvPr/>
        </p:nvSpPr>
        <p:spPr>
          <a:xfrm>
            <a:off x="5303520" y="3822192"/>
            <a:ext cx="3108960" cy="2313432"/>
          </a:xfrm>
          <a:prstGeom prst="roundRect">
            <a:avLst>
              <a:gd name="adj" fmla="val 47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-120"/>
          <p:cNvSpPr txBox="1"/>
          <p:nvPr/>
        </p:nvSpPr>
        <p:spPr>
          <a:xfrm>
            <a:off x="5532120" y="40233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46%</a:t>
            </a:r>
            <a:endParaRPr lang="en-US" sz="2800" dirty="0"/>
          </a:p>
        </p:txBody>
      </p:sp>
      <p:sp>
        <p:nvSpPr>
          <p:cNvPr id="20" name="text-121"/>
          <p:cNvSpPr txBox="1"/>
          <p:nvPr/>
        </p:nvSpPr>
        <p:spPr>
          <a:xfrm>
            <a:off x="5532120" y="4690872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снимавших жильё делали это без официального договора; 85% готовы оформлять официально</a:t>
            </a:r>
            <a:endParaRPr lang="en-US" sz="1150" dirty="0"/>
          </a:p>
        </p:txBody>
      </p:sp>
      <p:sp>
        <p:nvSpPr>
          <p:cNvPr id="21" name="tag-122"/>
          <p:cNvSpPr/>
          <p:nvPr/>
        </p:nvSpPr>
        <p:spPr>
          <a:xfrm>
            <a:off x="5532120" y="5724144"/>
            <a:ext cx="2377440" cy="2194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-123"/>
          <p:cNvSpPr txBox="1"/>
          <p:nvPr/>
        </p:nvSpPr>
        <p:spPr>
          <a:xfrm>
            <a:off x="5532120" y="572414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ФАКТ · ДОМ.РФ И ВЦИОМ, 2023</a:t>
            </a:r>
            <a:endParaRPr lang="en-US" sz="800" dirty="0"/>
          </a:p>
        </p:txBody>
      </p:sp>
      <p:sp>
        <p:nvSpPr>
          <p:cNvPr id="23" name="card-124"/>
          <p:cNvSpPr/>
          <p:nvPr/>
        </p:nvSpPr>
        <p:spPr>
          <a:xfrm>
            <a:off x="8549640" y="3822192"/>
            <a:ext cx="3108960" cy="2313432"/>
          </a:xfrm>
          <a:prstGeom prst="roundRect">
            <a:avLst>
              <a:gd name="adj" fmla="val 47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-125"/>
          <p:cNvSpPr txBox="1"/>
          <p:nvPr/>
        </p:nvSpPr>
        <p:spPr>
          <a:xfrm>
            <a:off x="8778240" y="40233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до 25%</a:t>
            </a:r>
            <a:endParaRPr lang="en-US" sz="2800" dirty="0"/>
          </a:p>
        </p:txBody>
      </p:sp>
      <p:sp>
        <p:nvSpPr>
          <p:cNvPr id="25" name="text-126"/>
          <p:cNvSpPr txBox="1"/>
          <p:nvPr/>
        </p:nvSpPr>
        <p:spPr>
          <a:xfrm>
            <a:off x="8778240" y="4690872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залогов не возвращают без объективной причины — проверяем в нашем опросе</a:t>
            </a:r>
            <a:endParaRPr lang="en-US" sz="1150" dirty="0"/>
          </a:p>
        </p:txBody>
      </p:sp>
      <p:sp>
        <p:nvSpPr>
          <p:cNvPr id="26" name="tag-127"/>
          <p:cNvSpPr/>
          <p:nvPr/>
        </p:nvSpPr>
        <p:spPr>
          <a:xfrm>
            <a:off x="8778240" y="5724144"/>
            <a:ext cx="2377440" cy="2194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-128"/>
          <p:cNvSpPr txBox="1"/>
          <p:nvPr/>
        </p:nvSpPr>
        <p:spPr>
          <a:xfrm>
            <a:off x="8778240" y="572414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ФАКТ · РБК, 2019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286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ЭТАП 2 ИЗ 5 · ПОДТВЕРЖДЕНИЕ ПРОБЛЕМЫ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Что говорят арендаторы и собственники</a:t>
            </a:r>
            <a:endParaRPr lang="en-US" sz="2400" dirty="0"/>
          </a:p>
        </p:txBody>
      </p:sp>
      <p:sp>
        <p:nvSpPr>
          <p:cNvPr id="4" name="card-129"/>
          <p:cNvSpPr/>
          <p:nvPr/>
        </p:nvSpPr>
        <p:spPr>
          <a:xfrm>
            <a:off x="457200" y="1371600"/>
            <a:ext cx="3566160" cy="4800600"/>
          </a:xfrm>
          <a:prstGeom prst="roundRect">
            <a:avLst>
              <a:gd name="adj" fmla="val 307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iconbg-130"/>
          <p:cNvSpPr/>
          <p:nvPr/>
        </p:nvSpPr>
        <p:spPr>
          <a:xfrm>
            <a:off x="685800" y="16002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con-13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" y="1710842"/>
            <a:ext cx="281635" cy="281635"/>
          </a:xfrm>
          <a:prstGeom prst="rect">
            <a:avLst/>
          </a:prstGeom>
        </p:spPr>
      </p:pic>
      <p:sp>
        <p:nvSpPr>
          <p:cNvPr id="7" name="text-132"/>
          <p:cNvSpPr txBox="1"/>
          <p:nvPr/>
        </p:nvSpPr>
        <p:spPr>
          <a:xfrm>
            <a:off x="685800" y="2240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Как мы исследовали</a:t>
            </a:r>
            <a:endParaRPr lang="en-US" sz="1400" dirty="0"/>
          </a:p>
        </p:txBody>
      </p:sp>
      <p:sp>
        <p:nvSpPr>
          <p:cNvPr id="8" name="text-133"/>
          <p:cNvSpPr txBox="1"/>
          <p:nvPr/>
        </p:nvSpPr>
        <p:spPr>
          <a:xfrm>
            <a:off x="685800" y="265176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Глубинные интервью по JTBD: триггер, текущий способ, затраты, страхи, кто влияет на решение.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Онлайн-опрос в студенческих и рабочих чатах (25–26.10).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Тест оффера: сообщения собственникам из объявлений с вопросом, примут ли гарантию вместо депозита.</a:t>
            </a:r>
            <a:endParaRPr lang="en-US" sz="1150" dirty="0"/>
          </a:p>
        </p:txBody>
      </p:sp>
      <p:sp>
        <p:nvSpPr>
          <p:cNvPr id="9" name="text-134"/>
          <p:cNvSpPr txBox="1"/>
          <p:nvPr/>
        </p:nvSpPr>
        <p:spPr>
          <a:xfrm>
            <a:off x="685800" y="5349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2"/>
                </a:solidFill>
              </a:rPr>
              <a:t>Гайд интервью, анкета и сырые данные — в файле «Материалы исследования».</a:t>
            </a:r>
            <a:endParaRPr lang="en-US" sz="1050" dirty="0"/>
          </a:p>
        </p:txBody>
      </p:sp>
      <p:sp>
        <p:nvSpPr>
          <p:cNvPr id="10" name="card-135"/>
          <p:cNvSpPr/>
          <p:nvPr/>
        </p:nvSpPr>
        <p:spPr>
          <a:xfrm>
            <a:off x="4297680" y="1371600"/>
            <a:ext cx="23774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-136"/>
          <p:cNvSpPr txBox="1"/>
          <p:nvPr/>
        </p:nvSpPr>
        <p:spPr>
          <a:xfrm>
            <a:off x="4480560" y="1481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[N]</a:t>
            </a:r>
            <a:endParaRPr lang="en-US" sz="2400" dirty="0"/>
          </a:p>
        </p:txBody>
      </p:sp>
      <p:sp>
        <p:nvSpPr>
          <p:cNvPr id="12" name="text-137"/>
          <p:cNvSpPr txBox="1"/>
          <p:nvPr/>
        </p:nvSpPr>
        <p:spPr>
          <a:xfrm>
            <a:off x="4480560" y="2011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интервью с арендаторами</a:t>
            </a:r>
            <a:endParaRPr lang="en-US" sz="1100" dirty="0"/>
          </a:p>
        </p:txBody>
      </p:sp>
      <p:sp>
        <p:nvSpPr>
          <p:cNvPr id="13" name="card-138"/>
          <p:cNvSpPr/>
          <p:nvPr/>
        </p:nvSpPr>
        <p:spPr>
          <a:xfrm>
            <a:off x="6812280" y="1371600"/>
            <a:ext cx="23774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-139"/>
          <p:cNvSpPr txBox="1"/>
          <p:nvPr/>
        </p:nvSpPr>
        <p:spPr>
          <a:xfrm>
            <a:off x="6995160" y="1481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[N]</a:t>
            </a:r>
            <a:endParaRPr lang="en-US" sz="2400" dirty="0"/>
          </a:p>
        </p:txBody>
      </p:sp>
      <p:sp>
        <p:nvSpPr>
          <p:cNvPr id="15" name="text-140"/>
          <p:cNvSpPr txBox="1"/>
          <p:nvPr/>
        </p:nvSpPr>
        <p:spPr>
          <a:xfrm>
            <a:off x="6995160" y="2011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интервью с собственниками</a:t>
            </a:r>
            <a:endParaRPr lang="en-US" sz="1100" dirty="0"/>
          </a:p>
        </p:txBody>
      </p:sp>
      <p:sp>
        <p:nvSpPr>
          <p:cNvPr id="16" name="card-141"/>
          <p:cNvSpPr/>
          <p:nvPr/>
        </p:nvSpPr>
        <p:spPr>
          <a:xfrm>
            <a:off x="9326880" y="1371600"/>
            <a:ext cx="23774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-142"/>
          <p:cNvSpPr txBox="1"/>
          <p:nvPr/>
        </p:nvSpPr>
        <p:spPr>
          <a:xfrm>
            <a:off x="9509760" y="1481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[N]</a:t>
            </a:r>
            <a:endParaRPr lang="en-US" sz="2400" dirty="0"/>
          </a:p>
        </p:txBody>
      </p:sp>
      <p:sp>
        <p:nvSpPr>
          <p:cNvPr id="18" name="text-143"/>
          <p:cNvSpPr txBox="1"/>
          <p:nvPr/>
        </p:nvSpPr>
        <p:spPr>
          <a:xfrm>
            <a:off x="9509760" y="2011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ответов в опросе</a:t>
            </a:r>
            <a:endParaRPr lang="en-US" sz="1100" dirty="0"/>
          </a:p>
        </p:txBody>
      </p:sp>
      <p:sp>
        <p:nvSpPr>
          <p:cNvPr id="19" name="text-144"/>
          <p:cNvSpPr txBox="1"/>
          <p:nvPr/>
        </p:nvSpPr>
        <p:spPr>
          <a:xfrm>
            <a:off x="429768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Ключевые результаты опроса</a:t>
            </a:r>
            <a:endParaRPr lang="en-US" sz="1300" dirty="0"/>
          </a:p>
        </p:txBody>
      </p:sp>
      <p:sp>
        <p:nvSpPr>
          <p:cNvPr id="20" name="todo-145"/>
          <p:cNvSpPr/>
          <p:nvPr/>
        </p:nvSpPr>
        <p:spPr>
          <a:xfrm>
            <a:off x="4297680" y="3017520"/>
            <a:ext cx="7434072" cy="548640"/>
          </a:xfrm>
          <a:prstGeom prst="roundRect">
            <a:avLst>
              <a:gd name="adj" fmla="val 13333"/>
            </a:avLst>
          </a:prstGeom>
          <a:solidFill>
            <a:schemeClr val="accent2">
              <a:alpha val="65000"/>
            </a:schemeClr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21" name="text-146"/>
          <p:cNvSpPr txBox="1"/>
          <p:nvPr/>
        </p:nvSpPr>
        <p:spPr>
          <a:xfrm>
            <a:off x="4407408" y="3017520"/>
            <a:ext cx="7214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chemeClr val="accent1"/>
                </a:solidFill>
              </a:rPr>
              <a:t>[__]% платили депозит при последнем заезде · [__]% сталкивались с удержанием залога · медианная сумма удержания [__] ₽</a:t>
            </a:r>
            <a:endParaRPr lang="en-US" sz="1150" dirty="0"/>
          </a:p>
        </p:txBody>
      </p:sp>
      <p:sp>
        <p:nvSpPr>
          <p:cNvPr id="22" name="todo-147"/>
          <p:cNvSpPr/>
          <p:nvPr/>
        </p:nvSpPr>
        <p:spPr>
          <a:xfrm>
            <a:off x="4297680" y="3657600"/>
            <a:ext cx="7434072" cy="548640"/>
          </a:xfrm>
          <a:prstGeom prst="roundRect">
            <a:avLst>
              <a:gd name="adj" fmla="val 13333"/>
            </a:avLst>
          </a:prstGeom>
          <a:solidFill>
            <a:schemeClr val="accent2">
              <a:alpha val="65000"/>
            </a:schemeClr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23" name="text-148"/>
          <p:cNvSpPr txBox="1"/>
          <p:nvPr/>
        </p:nvSpPr>
        <p:spPr>
          <a:xfrm>
            <a:off x="4407408" y="3657600"/>
            <a:ext cx="7214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chemeClr val="accent1"/>
                </a:solidFill>
              </a:rPr>
              <a:t>[__]% выбрали бы невозвратный взнос 20% ставки вместо депозита · [__]% собственников приняли бы гарантию страховой</a:t>
            </a:r>
            <a:endParaRPr lang="en-US" sz="1150" dirty="0"/>
          </a:p>
        </p:txBody>
      </p:sp>
      <p:sp>
        <p:nvSpPr>
          <p:cNvPr id="24" name="text-149"/>
          <p:cNvSpPr txBox="1"/>
          <p:nvPr/>
        </p:nvSpPr>
        <p:spPr>
          <a:xfrm>
            <a:off x="429768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Повторяющиеся паттерны из интервью</a:t>
            </a:r>
            <a:endParaRPr lang="en-US" sz="1300" dirty="0"/>
          </a:p>
        </p:txBody>
      </p:sp>
      <p:sp>
        <p:nvSpPr>
          <p:cNvPr id="25" name="todo-150"/>
          <p:cNvSpPr/>
          <p:nvPr/>
        </p:nvSpPr>
        <p:spPr>
          <a:xfrm>
            <a:off x="4297680" y="4709160"/>
            <a:ext cx="2377440" cy="1051560"/>
          </a:xfrm>
          <a:prstGeom prst="roundRect">
            <a:avLst>
              <a:gd name="adj" fmla="val 6957"/>
            </a:avLst>
          </a:prstGeom>
          <a:solidFill>
            <a:schemeClr val="accent2">
              <a:alpha val="65000"/>
            </a:schemeClr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26" name="text-151"/>
          <p:cNvSpPr txBox="1"/>
          <p:nvPr/>
        </p:nvSpPr>
        <p:spPr>
          <a:xfrm>
            <a:off x="4407408" y="4709160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«[цитата арендатора про деньги при заезде]»</a:t>
            </a:r>
            <a:endParaRPr lang="en-US" sz="1100" dirty="0"/>
          </a:p>
        </p:txBody>
      </p:sp>
      <p:sp>
        <p:nvSpPr>
          <p:cNvPr id="27" name="todo-152"/>
          <p:cNvSpPr/>
          <p:nvPr/>
        </p:nvSpPr>
        <p:spPr>
          <a:xfrm>
            <a:off x="6812280" y="4709160"/>
            <a:ext cx="2377440" cy="1051560"/>
          </a:xfrm>
          <a:prstGeom prst="roundRect">
            <a:avLst>
              <a:gd name="adj" fmla="val 6957"/>
            </a:avLst>
          </a:prstGeom>
          <a:solidFill>
            <a:schemeClr val="accent2">
              <a:alpha val="65000"/>
            </a:schemeClr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28" name="text-153"/>
          <p:cNvSpPr txBox="1"/>
          <p:nvPr/>
        </p:nvSpPr>
        <p:spPr>
          <a:xfrm>
            <a:off x="6922008" y="4709160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«[цитата про спор при выезде]»</a:t>
            </a:r>
            <a:endParaRPr lang="en-US" sz="1100" dirty="0"/>
          </a:p>
        </p:txBody>
      </p:sp>
      <p:sp>
        <p:nvSpPr>
          <p:cNvPr id="29" name="todo-154"/>
          <p:cNvSpPr/>
          <p:nvPr/>
        </p:nvSpPr>
        <p:spPr>
          <a:xfrm>
            <a:off x="9326880" y="4709160"/>
            <a:ext cx="2377440" cy="1051560"/>
          </a:xfrm>
          <a:prstGeom prst="roundRect">
            <a:avLst>
              <a:gd name="adj" fmla="val 6957"/>
            </a:avLst>
          </a:prstGeom>
          <a:solidFill>
            <a:schemeClr val="accent2">
              <a:alpha val="65000"/>
            </a:schemeClr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30" name="text-155"/>
          <p:cNvSpPr txBox="1"/>
          <p:nvPr/>
        </p:nvSpPr>
        <p:spPr>
          <a:xfrm>
            <a:off x="9436608" y="4709160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«[цитата собственника про страх ущерба]»</a:t>
            </a:r>
            <a:endParaRPr lang="en-US" sz="1100" dirty="0"/>
          </a:p>
        </p:txBody>
      </p:sp>
      <p:sp>
        <p:nvSpPr>
          <p:cNvPr id="31" name="text-156"/>
          <p:cNvSpPr txBox="1"/>
          <p:nvPr/>
        </p:nvSpPr>
        <p:spPr>
          <a:xfrm>
            <a:off x="4297680" y="5852160"/>
            <a:ext cx="7434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Что противоречит гипотезе и как это изменило решение: [заполнить]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286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ЭТАП 2 ИЗ 5 · ПОДТВЕРЖДЕНИЕ ПРОБЛЕМЫ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Признаки сильной проблемы</a:t>
            </a:r>
            <a:endParaRPr lang="en-US" sz="2400" dirty="0"/>
          </a:p>
        </p:txBody>
      </p:sp>
      <p:sp>
        <p:nvSpPr>
          <p:cNvPr id="4" name="card-157"/>
          <p:cNvSpPr/>
          <p:nvPr/>
        </p:nvSpPr>
        <p:spPr>
          <a:xfrm>
            <a:off x="457200" y="1371600"/>
            <a:ext cx="3648456" cy="2258568"/>
          </a:xfrm>
          <a:prstGeom prst="roundRect">
            <a:avLst>
              <a:gd name="adj" fmla="val 48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bg-158"/>
          <p:cNvSpPr/>
          <p:nvPr/>
        </p:nvSpPr>
        <p:spPr>
          <a:xfrm>
            <a:off x="685800" y="1600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15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" y="1710842"/>
            <a:ext cx="281635" cy="281635"/>
          </a:xfrm>
          <a:prstGeom prst="rect">
            <a:avLst/>
          </a:prstGeom>
        </p:spPr>
      </p:pic>
      <p:sp>
        <p:nvSpPr>
          <p:cNvPr id="7" name="text-160"/>
          <p:cNvSpPr txBox="1"/>
          <p:nvPr/>
        </p:nvSpPr>
        <p:spPr>
          <a:xfrm>
            <a:off x="1325880" y="16733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Уже платят деньги</a:t>
            </a:r>
            <a:endParaRPr lang="en-US" sz="1300" dirty="0"/>
          </a:p>
        </p:txBody>
      </p:sp>
      <p:sp>
        <p:nvSpPr>
          <p:cNvPr id="8" name="text-161"/>
          <p:cNvSpPr txBox="1"/>
          <p:nvPr/>
        </p:nvSpPr>
        <p:spPr>
          <a:xfrm>
            <a:off x="685800" y="22402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Депозит — в 97% объявлений, часто ещё и комиссия агента. Деньги заморожены на весь срок аренды.</a:t>
            </a:r>
            <a:endParaRPr lang="en-US" sz="1150" dirty="0"/>
          </a:p>
        </p:txBody>
      </p:sp>
      <p:sp>
        <p:nvSpPr>
          <p:cNvPr id="9" name="tag-162"/>
          <p:cNvSpPr/>
          <p:nvPr/>
        </p:nvSpPr>
        <p:spPr>
          <a:xfrm>
            <a:off x="685800" y="3246120"/>
            <a:ext cx="731520" cy="2194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-163"/>
          <p:cNvSpPr txBox="1"/>
          <p:nvPr/>
        </p:nvSpPr>
        <p:spPr>
          <a:xfrm>
            <a:off x="685800" y="32461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ФАКТ</a:t>
            </a:r>
            <a:endParaRPr lang="en-US" sz="800" dirty="0"/>
          </a:p>
        </p:txBody>
      </p:sp>
      <p:sp>
        <p:nvSpPr>
          <p:cNvPr id="11" name="card-164"/>
          <p:cNvSpPr/>
          <p:nvPr/>
        </p:nvSpPr>
        <p:spPr>
          <a:xfrm>
            <a:off x="4270248" y="1371600"/>
            <a:ext cx="3648456" cy="2258568"/>
          </a:xfrm>
          <a:prstGeom prst="roundRect">
            <a:avLst>
              <a:gd name="adj" fmla="val 48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iconbg-165"/>
          <p:cNvSpPr/>
          <p:nvPr/>
        </p:nvSpPr>
        <p:spPr>
          <a:xfrm>
            <a:off x="4498848" y="1600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con-16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490" y="1710842"/>
            <a:ext cx="281635" cy="281635"/>
          </a:xfrm>
          <a:prstGeom prst="rect">
            <a:avLst/>
          </a:prstGeom>
        </p:spPr>
      </p:pic>
      <p:sp>
        <p:nvSpPr>
          <p:cNvPr id="14" name="text-167"/>
          <p:cNvSpPr txBox="1"/>
          <p:nvPr/>
        </p:nvSpPr>
        <p:spPr>
          <a:xfrm>
            <a:off x="5138928" y="16733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Строят «костыли»</a:t>
            </a:r>
            <a:endParaRPr lang="en-US" sz="1300" dirty="0"/>
          </a:p>
        </p:txBody>
      </p:sp>
      <p:sp>
        <p:nvSpPr>
          <p:cNvPr id="15" name="text-168"/>
          <p:cNvSpPr txBox="1"/>
          <p:nvPr/>
        </p:nvSpPr>
        <p:spPr>
          <a:xfrm>
            <a:off x="4498848" y="22402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Снимают квартиру на телефон при заезде, пишут расписки, хранят переписку как доказательство.</a:t>
            </a:r>
            <a:endParaRPr lang="en-US" sz="1150" dirty="0"/>
          </a:p>
        </p:txBody>
      </p:sp>
      <p:sp>
        <p:nvSpPr>
          <p:cNvPr id="16" name="tag-169"/>
          <p:cNvSpPr/>
          <p:nvPr/>
        </p:nvSpPr>
        <p:spPr>
          <a:xfrm>
            <a:off x="4498848" y="3246120"/>
            <a:ext cx="1828800" cy="2194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-170"/>
          <p:cNvSpPr txBox="1"/>
          <p:nvPr/>
        </p:nvSpPr>
        <p:spPr>
          <a:xfrm>
            <a:off x="4498848" y="32461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ДОПУЩЕНИЕ · ПРОВЕРЯЕМ</a:t>
            </a:r>
            <a:endParaRPr lang="en-US" sz="800" dirty="0"/>
          </a:p>
        </p:txBody>
      </p:sp>
      <p:sp>
        <p:nvSpPr>
          <p:cNvPr id="18" name="card-171"/>
          <p:cNvSpPr/>
          <p:nvPr/>
        </p:nvSpPr>
        <p:spPr>
          <a:xfrm>
            <a:off x="8083296" y="1371600"/>
            <a:ext cx="3648456" cy="2258568"/>
          </a:xfrm>
          <a:prstGeom prst="roundRect">
            <a:avLst>
              <a:gd name="adj" fmla="val 48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bg-172"/>
          <p:cNvSpPr/>
          <p:nvPr/>
        </p:nvSpPr>
        <p:spPr>
          <a:xfrm>
            <a:off x="8311896" y="1600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-17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538" y="1710842"/>
            <a:ext cx="281635" cy="281635"/>
          </a:xfrm>
          <a:prstGeom prst="rect">
            <a:avLst/>
          </a:prstGeom>
        </p:spPr>
      </p:pic>
      <p:sp>
        <p:nvSpPr>
          <p:cNvPr id="21" name="text-174"/>
          <p:cNvSpPr txBox="1"/>
          <p:nvPr/>
        </p:nvSpPr>
        <p:spPr>
          <a:xfrm>
            <a:off x="8951976" y="16733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Ищут альтернативы</a:t>
            </a:r>
            <a:endParaRPr lang="en-US" sz="1300" dirty="0"/>
          </a:p>
        </p:txBody>
      </p:sp>
      <p:sp>
        <p:nvSpPr>
          <p:cNvPr id="22" name="text-175"/>
          <p:cNvSpPr txBox="1"/>
          <p:nvPr/>
        </p:nvSpPr>
        <p:spPr>
          <a:xfrm>
            <a:off x="8311896" y="22402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На площадках есть фильтр «без залога»; депозит просят разбить на части; идут в Яндекс Аренду.</a:t>
            </a:r>
            <a:endParaRPr lang="en-US" sz="1150" dirty="0"/>
          </a:p>
        </p:txBody>
      </p:sp>
      <p:sp>
        <p:nvSpPr>
          <p:cNvPr id="23" name="tag-176"/>
          <p:cNvSpPr/>
          <p:nvPr/>
        </p:nvSpPr>
        <p:spPr>
          <a:xfrm>
            <a:off x="8311896" y="3246120"/>
            <a:ext cx="731520" cy="2194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-177"/>
          <p:cNvSpPr txBox="1"/>
          <p:nvPr/>
        </p:nvSpPr>
        <p:spPr>
          <a:xfrm>
            <a:off x="8311896" y="32461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ФАКТ</a:t>
            </a:r>
            <a:endParaRPr lang="en-US" sz="800" dirty="0"/>
          </a:p>
        </p:txBody>
      </p:sp>
      <p:sp>
        <p:nvSpPr>
          <p:cNvPr id="25" name="card-178"/>
          <p:cNvSpPr/>
          <p:nvPr/>
        </p:nvSpPr>
        <p:spPr>
          <a:xfrm>
            <a:off x="457200" y="3767328"/>
            <a:ext cx="3648456" cy="2258568"/>
          </a:xfrm>
          <a:prstGeom prst="roundRect">
            <a:avLst>
              <a:gd name="adj" fmla="val 48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iconbg-179"/>
          <p:cNvSpPr/>
          <p:nvPr/>
        </p:nvSpPr>
        <p:spPr>
          <a:xfrm>
            <a:off x="685800" y="399592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con-18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" y="4106570"/>
            <a:ext cx="281635" cy="281635"/>
          </a:xfrm>
          <a:prstGeom prst="rect">
            <a:avLst/>
          </a:prstGeom>
        </p:spPr>
      </p:pic>
      <p:sp>
        <p:nvSpPr>
          <p:cNvPr id="28" name="text-181"/>
          <p:cNvSpPr txBox="1"/>
          <p:nvPr/>
        </p:nvSpPr>
        <p:spPr>
          <a:xfrm>
            <a:off x="1325880" y="4069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Высокий риск ошибки</a:t>
            </a:r>
            <a:endParaRPr lang="en-US" sz="1300" dirty="0"/>
          </a:p>
        </p:txBody>
      </p:sp>
      <p:sp>
        <p:nvSpPr>
          <p:cNvPr id="29" name="text-182"/>
          <p:cNvSpPr txBox="1"/>
          <p:nvPr/>
        </p:nvSpPr>
        <p:spPr>
          <a:xfrm>
            <a:off x="685800" y="4636008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46% сделок без договора; без акта состояния спор при выезде решается «на слово».</a:t>
            </a:r>
            <a:endParaRPr lang="en-US" sz="1150" dirty="0"/>
          </a:p>
        </p:txBody>
      </p:sp>
      <p:sp>
        <p:nvSpPr>
          <p:cNvPr id="30" name="tag-183"/>
          <p:cNvSpPr/>
          <p:nvPr/>
        </p:nvSpPr>
        <p:spPr>
          <a:xfrm>
            <a:off x="685800" y="5641848"/>
            <a:ext cx="731520" cy="2194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-184"/>
          <p:cNvSpPr txBox="1"/>
          <p:nvPr/>
        </p:nvSpPr>
        <p:spPr>
          <a:xfrm>
            <a:off x="685800" y="56418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ФАКТ</a:t>
            </a:r>
            <a:endParaRPr lang="en-US" sz="800" dirty="0"/>
          </a:p>
        </p:txBody>
      </p:sp>
      <p:sp>
        <p:nvSpPr>
          <p:cNvPr id="32" name="card-185"/>
          <p:cNvSpPr/>
          <p:nvPr/>
        </p:nvSpPr>
        <p:spPr>
          <a:xfrm>
            <a:off x="4270248" y="3767328"/>
            <a:ext cx="3648456" cy="2258568"/>
          </a:xfrm>
          <a:prstGeom prst="roundRect">
            <a:avLst>
              <a:gd name="adj" fmla="val 48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iconbg-186"/>
          <p:cNvSpPr/>
          <p:nvPr/>
        </p:nvSpPr>
        <p:spPr>
          <a:xfrm>
            <a:off x="4498848" y="399592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icon-18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9490" y="4106570"/>
            <a:ext cx="281635" cy="281635"/>
          </a:xfrm>
          <a:prstGeom prst="rect">
            <a:avLst/>
          </a:prstGeom>
        </p:spPr>
      </p:pic>
      <p:sp>
        <p:nvSpPr>
          <p:cNvPr id="35" name="text-188"/>
          <p:cNvSpPr txBox="1"/>
          <p:nvPr/>
        </p:nvSpPr>
        <p:spPr>
          <a:xfrm>
            <a:off x="5138928" y="4069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Задача повторяется</a:t>
            </a:r>
            <a:endParaRPr lang="en-US" sz="1300" dirty="0"/>
          </a:p>
        </p:txBody>
      </p:sp>
      <p:sp>
        <p:nvSpPr>
          <p:cNvPr id="36" name="text-189"/>
          <p:cNvSpPr txBox="1"/>
          <p:nvPr/>
        </p:nvSpPr>
        <p:spPr>
          <a:xfrm>
            <a:off x="4498848" y="4636008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Переезд раз в 1–2 года — и каждый раз заново депозит и риск спора. Проверяем частоту в опросе.</a:t>
            </a:r>
            <a:endParaRPr lang="en-US" sz="1150" dirty="0"/>
          </a:p>
        </p:txBody>
      </p:sp>
      <p:sp>
        <p:nvSpPr>
          <p:cNvPr id="37" name="tag-190"/>
          <p:cNvSpPr/>
          <p:nvPr/>
        </p:nvSpPr>
        <p:spPr>
          <a:xfrm>
            <a:off x="4498848" y="5641848"/>
            <a:ext cx="1828800" cy="2194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8" name="text-191"/>
          <p:cNvSpPr txBox="1"/>
          <p:nvPr/>
        </p:nvSpPr>
        <p:spPr>
          <a:xfrm>
            <a:off x="4498848" y="56418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ДОПУЩЕНИЕ · ПРОВЕРЯЕМ</a:t>
            </a:r>
            <a:endParaRPr lang="en-US" sz="800" dirty="0"/>
          </a:p>
        </p:txBody>
      </p:sp>
      <p:sp>
        <p:nvSpPr>
          <p:cNvPr id="39" name="card-192"/>
          <p:cNvSpPr/>
          <p:nvPr/>
        </p:nvSpPr>
        <p:spPr>
          <a:xfrm>
            <a:off x="8083296" y="3767328"/>
            <a:ext cx="3648456" cy="2258568"/>
          </a:xfrm>
          <a:prstGeom prst="roundRect">
            <a:avLst>
              <a:gd name="adj" fmla="val 48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iconbg-193"/>
          <p:cNvSpPr/>
          <p:nvPr/>
        </p:nvSpPr>
        <p:spPr>
          <a:xfrm>
            <a:off x="8311896" y="399592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1" name="icon-19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2538" y="4106570"/>
            <a:ext cx="281635" cy="281635"/>
          </a:xfrm>
          <a:prstGeom prst="rect">
            <a:avLst/>
          </a:prstGeom>
        </p:spPr>
      </p:pic>
      <p:sp>
        <p:nvSpPr>
          <p:cNvPr id="42" name="text-195"/>
          <p:cNvSpPr txBox="1"/>
          <p:nvPr/>
        </p:nvSpPr>
        <p:spPr>
          <a:xfrm>
            <a:off x="8951976" y="4069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Рынок уже реагирует</a:t>
            </a:r>
            <a:endParaRPr lang="en-US" sz="1300" dirty="0"/>
          </a:p>
        </p:txBody>
      </p:sp>
      <p:sp>
        <p:nvSpPr>
          <p:cNvPr id="43" name="text-196"/>
          <p:cNvSpPr txBox="1"/>
          <p:nvPr/>
        </p:nvSpPr>
        <p:spPr>
          <a:xfrm>
            <a:off x="8311896" y="4636008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Яндекс Аренда, ПИК-Аренда с АльфаСтрахованием, «Самолёт Плюс» заменяют депозит страховкой — но только внутри своих сетей.</a:t>
            </a:r>
            <a:endParaRPr lang="en-US" sz="1150" dirty="0"/>
          </a:p>
        </p:txBody>
      </p:sp>
      <p:sp>
        <p:nvSpPr>
          <p:cNvPr id="44" name="tag-197"/>
          <p:cNvSpPr/>
          <p:nvPr/>
        </p:nvSpPr>
        <p:spPr>
          <a:xfrm>
            <a:off x="8311896" y="5641848"/>
            <a:ext cx="731520" cy="2194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5" name="text-198"/>
          <p:cNvSpPr txBox="1"/>
          <p:nvPr/>
        </p:nvSpPr>
        <p:spPr>
          <a:xfrm>
            <a:off x="8311896" y="56418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ФАКТ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286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ЭТАП 3 ИЗ 5 · АЛЬТЕРНАТИВЫ И ПРИВЛЕКАТЕЛЬНОСТЬ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Как жильцы решают задачу сегодня</a:t>
            </a:r>
            <a:endParaRPr lang="en-US" sz="2400" dirty="0"/>
          </a:p>
        </p:txBody>
      </p:sp>
      <p:graphicFrame>
        <p:nvGraphicFramePr>
          <p:cNvPr id="10" name="table-1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776472"/>
                <a:gridCol w="2286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Способ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Что работает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Что мешает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Цена для жильца*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Наличный депозит</a:t>
                      </a:r>
                      <a:endParaRPr lang="en-US" sz="110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Привычно и понятно собственнику</a:t>
                      </a:r>
                      <a:endParaRPr lang="en-US" sz="110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Деньги заморожены; риск невозврата; нет акта состояния</a:t>
                      </a:r>
                      <a:endParaRPr lang="en-US" sz="110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≈48 тыс. ₽ заморожено</a:t>
                      </a:r>
                      <a:endParaRPr lang="en-US" sz="110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Депозит частями</a:t>
                      </a:r>
                      <a:endParaRPr lang="en-US" sz="110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Легче первый платёж</a:t>
                      </a:r>
                      <a:endParaRPr lang="en-US" sz="110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Держится на доверии; собственники неохотно соглашаются</a:t>
                      </a:r>
                      <a:endParaRPr lang="en-US" sz="110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Те же ≈48 тыс. ₽, на 2–3 мес.</a:t>
                      </a:r>
                      <a:endParaRPr lang="en-US" sz="110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Яндекс Аренда</a:t>
                      </a:r>
                      <a:endParaRPr lang="en-US" sz="110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Без залога и риелтора, страховка собственнику</a:t>
                      </a:r>
                      <a:endParaRPr lang="en-US" sz="110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Только квартиры сервиса; комиссия 5% каждый месяц</a:t>
                      </a:r>
                      <a:endParaRPr lang="en-US" sz="110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≈43 тыс. ₽ в год</a:t>
                      </a:r>
                      <a:endParaRPr lang="en-US" sz="110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«Самолёт Плюс», ПИК-Аренда</a:t>
                      </a:r>
                      <a:endParaRPr lang="en-US" sz="110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Полис вместо депозита</a:t>
                      </a:r>
                      <a:endParaRPr lang="en-US" sz="110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Только через свою сеть агентов или свой фонд; плюс комиссия агента</a:t>
                      </a:r>
                      <a:endParaRPr lang="en-US" sz="110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≈12–15 тыс. ₽ + комиссия</a:t>
                      </a:r>
                      <a:endParaRPr lang="en-US" sz="110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«Без залога на доверии»</a:t>
                      </a:r>
                      <a:endParaRPr lang="en-US" sz="110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Ничего не стоит</a:t>
                      </a:r>
                      <a:endParaRPr lang="en-US" sz="110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Таких объявлений 3%; собственник несёт весь риск</a:t>
                      </a:r>
                      <a:endParaRPr lang="en-US" sz="110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 ₽, но выбора почти нет</a:t>
                      </a:r>
                      <a:endParaRPr lang="en-US" sz="110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ИнгоКлюч</a:t>
                      </a:r>
                      <a:endParaRPr lang="en-US" sz="110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1"/>
                          </a:solidFill>
                        </a:rPr>
                        <a:t>Любая квартира, включая прямые сделки на Авито и Циан</a:t>
                      </a:r>
                      <a:endParaRPr lang="en-US" sz="110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1"/>
                          </a:solidFill>
                        </a:rPr>
                        <a:t>Нужно убедить собственника принять гарантию — главная гипотеза</a:t>
                      </a:r>
                      <a:endParaRPr lang="en-US" sz="110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≈14 тыс. ₽ в год, дешевле с историей</a:t>
                      </a:r>
                      <a:endParaRPr lang="en-US" sz="110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5" name="text-200"/>
          <p:cNvSpPr txBox="1"/>
          <p:nvPr/>
        </p:nvSpPr>
        <p:spPr>
          <a:xfrm>
            <a:off x="457200" y="57150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Главный конкурент — наличный депозит: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он бесплатный для собственника и привычный. Экосистемные решения доказали, что замена депозита страховкой работает, но закрыты внутри своих сетей.</a:t>
            </a:r>
            <a:endParaRPr lang="en-US" sz="1150" dirty="0"/>
          </a:p>
        </p:txBody>
      </p:sp>
      <p:sp>
        <p:nvSpPr>
          <p:cNvPr id="6" name="text-201"/>
          <p:cNvSpPr txBox="1"/>
          <p:nvPr/>
        </p:nvSpPr>
        <p:spPr>
          <a:xfrm>
            <a:off x="457200" y="63276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* Расчёт для ставки 72 тыс. ₽ (однушка в Москве, ЦИАН, ноябрь 2024) и депозита 67% ставки. Условия конкурентов — из открытых источников 2021–2026 гг.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286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ЭТАП 3 ИЗ 5 · АЛЬТЕРНАТИВЫ И ПРИВЛЕКАТЕЛЬНОСТЬ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Свободная ниша: прямые сделки</a:t>
            </a:r>
            <a:endParaRPr lang="en-US" sz="2400" dirty="0"/>
          </a:p>
        </p:txBody>
      </p:sp>
      <p:sp>
        <p:nvSpPr>
          <p:cNvPr id="4" name="card-202"/>
          <p:cNvSpPr/>
          <p:nvPr/>
        </p:nvSpPr>
        <p:spPr>
          <a:xfrm>
            <a:off x="457200" y="1371600"/>
            <a:ext cx="6766560" cy="48006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axis-203"/>
          <p:cNvSpPr/>
          <p:nvPr/>
        </p:nvSpPr>
        <p:spPr>
          <a:xfrm>
            <a:off x="3840480" y="1691640"/>
            <a:ext cx="0" cy="397764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6" name="axis-204"/>
          <p:cNvSpPr/>
          <p:nvPr/>
        </p:nvSpPr>
        <p:spPr>
          <a:xfrm>
            <a:off x="777240" y="3589020"/>
            <a:ext cx="612648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7" name="text-205"/>
          <p:cNvSpPr txBox="1"/>
          <p:nvPr/>
        </p:nvSpPr>
        <p:spPr>
          <a:xfrm>
            <a:off x="731520" y="5760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Закрытая сеть (свой фонд или агенты)</a:t>
            </a:r>
            <a:endParaRPr lang="en-US" sz="1000" dirty="0"/>
          </a:p>
        </p:txBody>
      </p:sp>
      <p:sp>
        <p:nvSpPr>
          <p:cNvPr id="8" name="text-206"/>
          <p:cNvSpPr txBox="1"/>
          <p:nvPr/>
        </p:nvSpPr>
        <p:spPr>
          <a:xfrm>
            <a:off x="4023360" y="5760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Любая квартира на рынке →</a:t>
            </a:r>
            <a:endParaRPr lang="en-US" sz="1000" dirty="0"/>
          </a:p>
        </p:txBody>
      </p:sp>
      <p:sp>
        <p:nvSpPr>
          <p:cNvPr id="9" name="text-207"/>
          <p:cNvSpPr txBox="1"/>
          <p:nvPr/>
        </p:nvSpPr>
        <p:spPr>
          <a:xfrm>
            <a:off x="731520" y="1481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↑ Деньги + фиксация состояния + репутация жильца</a:t>
            </a:r>
            <a:endParaRPr lang="en-US" sz="1000" dirty="0"/>
          </a:p>
        </p:txBody>
      </p:sp>
      <p:sp>
        <p:nvSpPr>
          <p:cNvPr id="10" name="text-208"/>
          <p:cNvSpPr txBox="1"/>
          <p:nvPr/>
        </p:nvSpPr>
        <p:spPr>
          <a:xfrm>
            <a:off x="731520" y="36804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Только замена денег</a:t>
            </a:r>
            <a:endParaRPr lang="en-US" sz="1000" dirty="0"/>
          </a:p>
        </p:txBody>
      </p:sp>
      <p:sp>
        <p:nvSpPr>
          <p:cNvPr id="11" name="pos-209"/>
          <p:cNvSpPr/>
          <p:nvPr/>
        </p:nvSpPr>
        <p:spPr>
          <a:xfrm>
            <a:off x="1005840" y="260604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-210"/>
          <p:cNvSpPr txBox="1"/>
          <p:nvPr/>
        </p:nvSpPr>
        <p:spPr>
          <a:xfrm>
            <a:off x="100584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Яндекс Аренда</a:t>
            </a:r>
            <a:endParaRPr lang="en-US" sz="1100" dirty="0"/>
          </a:p>
        </p:txBody>
      </p:sp>
      <p:sp>
        <p:nvSpPr>
          <p:cNvPr id="13" name="pos-211"/>
          <p:cNvSpPr/>
          <p:nvPr/>
        </p:nvSpPr>
        <p:spPr>
          <a:xfrm>
            <a:off x="1005840" y="411480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-212"/>
          <p:cNvSpPr txBox="1"/>
          <p:nvPr/>
        </p:nvSpPr>
        <p:spPr>
          <a:xfrm>
            <a:off x="100584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«Самолёт Плюс»</a:t>
            </a:r>
            <a:endParaRPr lang="en-US" sz="1100" dirty="0"/>
          </a:p>
        </p:txBody>
      </p:sp>
      <p:sp>
        <p:nvSpPr>
          <p:cNvPr id="15" name="pos-213"/>
          <p:cNvSpPr/>
          <p:nvPr/>
        </p:nvSpPr>
        <p:spPr>
          <a:xfrm>
            <a:off x="1005840" y="475488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-214"/>
          <p:cNvSpPr txBox="1"/>
          <p:nvPr/>
        </p:nvSpPr>
        <p:spPr>
          <a:xfrm>
            <a:off x="1005840" y="4754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ПИК-Аренда</a:t>
            </a:r>
            <a:endParaRPr lang="en-US" sz="1100" dirty="0"/>
          </a:p>
        </p:txBody>
      </p:sp>
      <p:sp>
        <p:nvSpPr>
          <p:cNvPr id="17" name="pos-215"/>
          <p:cNvSpPr/>
          <p:nvPr/>
        </p:nvSpPr>
        <p:spPr>
          <a:xfrm>
            <a:off x="4480560" y="443484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-216"/>
          <p:cNvSpPr txBox="1"/>
          <p:nvPr/>
        </p:nvSpPr>
        <p:spPr>
          <a:xfrm>
            <a:off x="4480560" y="4434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Наличный депозит</a:t>
            </a:r>
            <a:endParaRPr lang="en-US" sz="1100" dirty="0"/>
          </a:p>
        </p:txBody>
      </p:sp>
      <p:sp>
        <p:nvSpPr>
          <p:cNvPr id="19" name="pos-217"/>
          <p:cNvSpPr/>
          <p:nvPr/>
        </p:nvSpPr>
        <p:spPr>
          <a:xfrm>
            <a:off x="4480560" y="2240280"/>
            <a:ext cx="219456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-218"/>
          <p:cNvSpPr txBox="1"/>
          <p:nvPr/>
        </p:nvSpPr>
        <p:spPr>
          <a:xfrm>
            <a:off x="4480560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ИнгоКлюч</a:t>
            </a:r>
            <a:endParaRPr lang="en-US" sz="1100" dirty="0"/>
          </a:p>
        </p:txBody>
      </p:sp>
      <p:pic>
        <p:nvPicPr>
          <p:cNvPr id="21" name="star-219" descr="/tmp/claude-0/-home-user-my/7151b996-ac25-582f-ad95-91de1a331b55/scratchpa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874520"/>
            <a:ext cx="384048" cy="429768"/>
          </a:xfrm>
          <a:prstGeom prst="rect">
            <a:avLst/>
          </a:prstGeom>
        </p:spPr>
      </p:pic>
      <p:sp>
        <p:nvSpPr>
          <p:cNvPr id="22" name="card-220"/>
          <p:cNvSpPr/>
          <p:nvPr/>
        </p:nvSpPr>
        <p:spPr>
          <a:xfrm>
            <a:off x="7498080" y="1371600"/>
            <a:ext cx="4233672" cy="2286000"/>
          </a:xfrm>
          <a:prstGeom prst="roundRect">
            <a:avLst>
              <a:gd name="adj" fmla="val 48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-221"/>
          <p:cNvSpPr txBox="1"/>
          <p:nvPr/>
        </p:nvSpPr>
        <p:spPr>
          <a:xfrm>
            <a:off x="7726680" y="15544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54%</a:t>
            </a:r>
            <a:endParaRPr lang="en-US" sz="3600" dirty="0"/>
          </a:p>
        </p:txBody>
      </p:sp>
      <p:sp>
        <p:nvSpPr>
          <p:cNvPr id="24" name="text-222"/>
          <p:cNvSpPr txBox="1"/>
          <p:nvPr/>
        </p:nvSpPr>
        <p:spPr>
          <a:xfrm>
            <a:off x="7726680" y="22860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объявлений об аренде — без комиссии, то есть почти все — напрямую от собственника. Здесь депозит пока никто не заменяет.</a:t>
            </a:r>
            <a:endParaRPr lang="en-US" sz="1200" dirty="0"/>
          </a:p>
        </p:txBody>
      </p:sp>
      <p:sp>
        <p:nvSpPr>
          <p:cNvPr id="25" name="tag-223"/>
          <p:cNvSpPr/>
          <p:nvPr/>
        </p:nvSpPr>
        <p:spPr>
          <a:xfrm>
            <a:off x="7726680" y="3310128"/>
            <a:ext cx="2103120" cy="2194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-224"/>
          <p:cNvSpPr txBox="1"/>
          <p:nvPr/>
        </p:nvSpPr>
        <p:spPr>
          <a:xfrm>
            <a:off x="7726680" y="331012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ФАКТ · INC. RUSSIA, 2025</a:t>
            </a:r>
            <a:endParaRPr lang="en-US" sz="800" dirty="0"/>
          </a:p>
        </p:txBody>
      </p:sp>
      <p:sp>
        <p:nvSpPr>
          <p:cNvPr id="27" name="card-225"/>
          <p:cNvSpPr/>
          <p:nvPr/>
        </p:nvSpPr>
        <p:spPr>
          <a:xfrm>
            <a:off x="7498080" y="3840480"/>
            <a:ext cx="4233672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-226"/>
          <p:cNvSpPr txBox="1"/>
          <p:nvPr/>
        </p:nvSpPr>
        <p:spPr>
          <a:xfrm>
            <a:off x="7726680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Возможность</a:t>
            </a:r>
            <a:endParaRPr lang="en-US" sz="1300" dirty="0"/>
          </a:p>
        </p:txBody>
      </p:sp>
      <p:sp>
        <p:nvSpPr>
          <p:cNvPr id="29" name="text-227"/>
          <p:cNvSpPr txBox="1"/>
          <p:nvPr/>
        </p:nvSpPr>
        <p:spPr>
          <a:xfrm>
            <a:off x="7726680" y="4315968"/>
            <a:ext cx="3794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Открытая гарантия, которую жилец «приносит» в любую квартиру, плюс то, чего нет ни у кого: независимый акт состояния и история надёжности жильца, которая снижает цену при каждом следующем переезде.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286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ЭТАП 3 ИЗ 5 · АЛЬТЕРНАТИВЫ И ПРИВЛЕКАТЕЛЬНОСТЬ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Размер возможности: ≈28 млрд ₽ в год</a:t>
            </a:r>
            <a:endParaRPr lang="en-US" sz="2400" dirty="0"/>
          </a:p>
        </p:txBody>
      </p:sp>
      <p:sp>
        <p:nvSpPr>
          <p:cNvPr id="4" name="card-228"/>
          <p:cNvSpPr/>
          <p:nvPr/>
        </p:nvSpPr>
        <p:spPr>
          <a:xfrm>
            <a:off x="457200" y="1371600"/>
            <a:ext cx="694944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-229"/>
          <p:cNvSpPr txBox="1"/>
          <p:nvPr/>
        </p:nvSpPr>
        <p:spPr>
          <a:xfrm>
            <a:off x="658368" y="1371600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5,8 млн</a:t>
            </a:r>
            <a:endParaRPr lang="en-US" sz="1600" dirty="0"/>
          </a:p>
        </p:txBody>
      </p:sp>
      <p:sp>
        <p:nvSpPr>
          <p:cNvPr id="6" name="text-230"/>
          <p:cNvSpPr txBox="1"/>
          <p:nvPr/>
        </p:nvSpPr>
        <p:spPr>
          <a:xfrm>
            <a:off x="2788920" y="1371600"/>
            <a:ext cx="2971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семей снимают жильё на рыночных условиях</a:t>
            </a:r>
            <a:endParaRPr lang="en-US" sz="1150" dirty="0"/>
          </a:p>
        </p:txBody>
      </p:sp>
      <p:sp>
        <p:nvSpPr>
          <p:cNvPr id="7" name="tag-231"/>
          <p:cNvSpPr/>
          <p:nvPr/>
        </p:nvSpPr>
        <p:spPr>
          <a:xfrm>
            <a:off x="5833872" y="1609344"/>
            <a:ext cx="1417320" cy="2194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-232"/>
          <p:cNvSpPr txBox="1"/>
          <p:nvPr/>
        </p:nvSpPr>
        <p:spPr>
          <a:xfrm>
            <a:off x="5833872" y="160934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ФАКТ · ДОМ.РФ</a:t>
            </a:r>
            <a:endParaRPr lang="en-US" sz="800" dirty="0"/>
          </a:p>
        </p:txBody>
      </p:sp>
      <p:sp>
        <p:nvSpPr>
          <p:cNvPr id="9" name="card-233"/>
          <p:cNvSpPr/>
          <p:nvPr/>
        </p:nvSpPr>
        <p:spPr>
          <a:xfrm>
            <a:off x="457200" y="2176272"/>
            <a:ext cx="676656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-234"/>
          <p:cNvSpPr txBox="1"/>
          <p:nvPr/>
        </p:nvSpPr>
        <p:spPr>
          <a:xfrm>
            <a:off x="658368" y="2176272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× 50%</a:t>
            </a:r>
            <a:endParaRPr lang="en-US" sz="1600" dirty="0"/>
          </a:p>
        </p:txBody>
      </p:sp>
      <p:sp>
        <p:nvSpPr>
          <p:cNvPr id="11" name="text-235"/>
          <p:cNvSpPr txBox="1"/>
          <p:nvPr/>
        </p:nvSpPr>
        <p:spPr>
          <a:xfrm>
            <a:off x="2788920" y="2176272"/>
            <a:ext cx="2788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живут в крупных городах, где депозит — норма</a:t>
            </a:r>
            <a:endParaRPr lang="en-US" sz="1150" dirty="0"/>
          </a:p>
        </p:txBody>
      </p:sp>
      <p:sp>
        <p:nvSpPr>
          <p:cNvPr id="12" name="tag-236"/>
          <p:cNvSpPr/>
          <p:nvPr/>
        </p:nvSpPr>
        <p:spPr>
          <a:xfrm>
            <a:off x="5650992" y="2414016"/>
            <a:ext cx="1417320" cy="2194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-237"/>
          <p:cNvSpPr txBox="1"/>
          <p:nvPr/>
        </p:nvSpPr>
        <p:spPr>
          <a:xfrm>
            <a:off x="5650992" y="241401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ДОПУЩЕНИЕ</a:t>
            </a:r>
            <a:endParaRPr lang="en-US" sz="800" dirty="0"/>
          </a:p>
        </p:txBody>
      </p:sp>
      <p:sp>
        <p:nvSpPr>
          <p:cNvPr id="14" name="card-238"/>
          <p:cNvSpPr/>
          <p:nvPr/>
        </p:nvSpPr>
        <p:spPr>
          <a:xfrm>
            <a:off x="457200" y="2980944"/>
            <a:ext cx="658368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-239"/>
          <p:cNvSpPr txBox="1"/>
          <p:nvPr/>
        </p:nvSpPr>
        <p:spPr>
          <a:xfrm>
            <a:off x="658368" y="2980944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× 97%</a:t>
            </a:r>
            <a:endParaRPr lang="en-US" sz="1600" dirty="0"/>
          </a:p>
        </p:txBody>
      </p:sp>
      <p:sp>
        <p:nvSpPr>
          <p:cNvPr id="16" name="text-240"/>
          <p:cNvSpPr txBox="1"/>
          <p:nvPr/>
        </p:nvSpPr>
        <p:spPr>
          <a:xfrm>
            <a:off x="2788920" y="298094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объявлений требуют депозит</a:t>
            </a:r>
            <a:endParaRPr lang="en-US" sz="1150" dirty="0"/>
          </a:p>
        </p:txBody>
      </p:sp>
      <p:sp>
        <p:nvSpPr>
          <p:cNvPr id="17" name="tag-241"/>
          <p:cNvSpPr/>
          <p:nvPr/>
        </p:nvSpPr>
        <p:spPr>
          <a:xfrm>
            <a:off x="5468112" y="3218688"/>
            <a:ext cx="1417320" cy="2194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-242"/>
          <p:cNvSpPr txBox="1"/>
          <p:nvPr/>
        </p:nvSpPr>
        <p:spPr>
          <a:xfrm>
            <a:off x="5468112" y="321868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ФАКТ · ЦИАН</a:t>
            </a:r>
            <a:endParaRPr lang="en-US" sz="800" dirty="0"/>
          </a:p>
        </p:txBody>
      </p:sp>
      <p:sp>
        <p:nvSpPr>
          <p:cNvPr id="19" name="card-243"/>
          <p:cNvSpPr/>
          <p:nvPr/>
        </p:nvSpPr>
        <p:spPr>
          <a:xfrm>
            <a:off x="457200" y="3785616"/>
            <a:ext cx="64008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-244"/>
          <p:cNvSpPr txBox="1"/>
          <p:nvPr/>
        </p:nvSpPr>
        <p:spPr>
          <a:xfrm>
            <a:off x="658368" y="3785616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= 2,8 млн</a:t>
            </a:r>
            <a:endParaRPr lang="en-US" sz="1600" dirty="0"/>
          </a:p>
        </p:txBody>
      </p:sp>
      <p:sp>
        <p:nvSpPr>
          <p:cNvPr id="21" name="text-245"/>
          <p:cNvSpPr txBox="1"/>
          <p:nvPr/>
        </p:nvSpPr>
        <p:spPr>
          <a:xfrm>
            <a:off x="2788920" y="3785616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домохозяйств вносят депозит</a:t>
            </a:r>
            <a:endParaRPr lang="en-US" sz="1150" dirty="0"/>
          </a:p>
        </p:txBody>
      </p:sp>
      <p:sp>
        <p:nvSpPr>
          <p:cNvPr id="22" name="tag-246"/>
          <p:cNvSpPr/>
          <p:nvPr/>
        </p:nvSpPr>
        <p:spPr>
          <a:xfrm>
            <a:off x="5285232" y="4023360"/>
            <a:ext cx="1417320" cy="21945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-247"/>
          <p:cNvSpPr txBox="1"/>
          <p:nvPr/>
        </p:nvSpPr>
        <p:spPr>
          <a:xfrm>
            <a:off x="5285232" y="402336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РАСЧЁТ</a:t>
            </a:r>
            <a:endParaRPr lang="en-US" sz="800" dirty="0"/>
          </a:p>
        </p:txBody>
      </p:sp>
      <p:sp>
        <p:nvSpPr>
          <p:cNvPr id="24" name="card-248"/>
          <p:cNvSpPr/>
          <p:nvPr/>
        </p:nvSpPr>
        <p:spPr>
          <a:xfrm>
            <a:off x="457200" y="4590288"/>
            <a:ext cx="621792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-249"/>
          <p:cNvSpPr txBox="1"/>
          <p:nvPr/>
        </p:nvSpPr>
        <p:spPr>
          <a:xfrm>
            <a:off x="658368" y="4590288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× 33,5 тыс. ₽</a:t>
            </a:r>
            <a:endParaRPr lang="en-US" sz="1600" dirty="0"/>
          </a:p>
        </p:txBody>
      </p:sp>
      <p:sp>
        <p:nvSpPr>
          <p:cNvPr id="26" name="text-250"/>
          <p:cNvSpPr txBox="1"/>
          <p:nvPr/>
        </p:nvSpPr>
        <p:spPr>
          <a:xfrm>
            <a:off x="2788920" y="4590288"/>
            <a:ext cx="2240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средний депозит: 67% × ставка 50 тыс. ₽</a:t>
            </a:r>
            <a:endParaRPr lang="en-US" sz="1150" dirty="0"/>
          </a:p>
        </p:txBody>
      </p:sp>
      <p:sp>
        <p:nvSpPr>
          <p:cNvPr id="27" name="tag-251"/>
          <p:cNvSpPr/>
          <p:nvPr/>
        </p:nvSpPr>
        <p:spPr>
          <a:xfrm>
            <a:off x="5102352" y="4828032"/>
            <a:ext cx="1417320" cy="2194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8" name="text-252"/>
          <p:cNvSpPr txBox="1"/>
          <p:nvPr/>
        </p:nvSpPr>
        <p:spPr>
          <a:xfrm>
            <a:off x="5102352" y="48280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ФАКТ + ДОПУЩЕНИЕ</a:t>
            </a:r>
            <a:endParaRPr lang="en-US" sz="800" dirty="0"/>
          </a:p>
        </p:txBody>
      </p:sp>
      <p:sp>
        <p:nvSpPr>
          <p:cNvPr id="29" name="card-253"/>
          <p:cNvSpPr/>
          <p:nvPr/>
        </p:nvSpPr>
        <p:spPr>
          <a:xfrm>
            <a:off x="457200" y="5394960"/>
            <a:ext cx="6035040" cy="694944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-254"/>
          <p:cNvSpPr txBox="1"/>
          <p:nvPr/>
        </p:nvSpPr>
        <p:spPr>
          <a:xfrm>
            <a:off x="658368" y="5394960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≈ 94 млрд ₽</a:t>
            </a:r>
            <a:endParaRPr lang="en-US" sz="1600" dirty="0"/>
          </a:p>
        </p:txBody>
      </p:sp>
      <p:sp>
        <p:nvSpPr>
          <p:cNvPr id="31" name="text-255"/>
          <p:cNvSpPr txBox="1"/>
          <p:nvPr/>
        </p:nvSpPr>
        <p:spPr>
          <a:xfrm>
            <a:off x="2788920" y="5394960"/>
            <a:ext cx="2057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денег арендаторов заморожено в залогах</a:t>
            </a:r>
            <a:endParaRPr lang="en-US" sz="1150" dirty="0"/>
          </a:p>
        </p:txBody>
      </p:sp>
      <p:sp>
        <p:nvSpPr>
          <p:cNvPr id="32" name="tag-256"/>
          <p:cNvSpPr/>
          <p:nvPr/>
        </p:nvSpPr>
        <p:spPr>
          <a:xfrm>
            <a:off x="4919472" y="5632704"/>
            <a:ext cx="1417320" cy="21945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3" name="text-257"/>
          <p:cNvSpPr txBox="1"/>
          <p:nvPr/>
        </p:nvSpPr>
        <p:spPr>
          <a:xfrm>
            <a:off x="4919472" y="563270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РАСЧЁТ</a:t>
            </a:r>
            <a:endParaRPr lang="en-US" sz="800" dirty="0"/>
          </a:p>
        </p:txBody>
      </p:sp>
      <p:sp>
        <p:nvSpPr>
          <p:cNvPr id="34" name="card-258"/>
          <p:cNvSpPr/>
          <p:nvPr/>
        </p:nvSpPr>
        <p:spPr>
          <a:xfrm>
            <a:off x="7680960" y="1371600"/>
            <a:ext cx="4050792" cy="2331720"/>
          </a:xfrm>
          <a:prstGeom prst="roundRect">
            <a:avLst>
              <a:gd name="adj" fmla="val 470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-259"/>
          <p:cNvSpPr txBox="1"/>
          <p:nvPr/>
        </p:nvSpPr>
        <p:spPr>
          <a:xfrm>
            <a:off x="7909560" y="153619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≈28 млрд ₽</a:t>
            </a:r>
            <a:endParaRPr lang="en-US" sz="2800" dirty="0"/>
          </a:p>
        </p:txBody>
      </p:sp>
      <p:sp>
        <p:nvSpPr>
          <p:cNvPr id="36" name="text-260"/>
          <p:cNvSpPr txBox="1"/>
          <p:nvPr/>
        </p:nvSpPr>
        <p:spPr>
          <a:xfrm>
            <a:off x="7909560" y="22402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в год — потенциал взносов: 2,8 млн домохозяйств × взнос 20% ставки (≈10 тыс. ₽)</a:t>
            </a:r>
            <a:endParaRPr lang="en-US" sz="1200" dirty="0"/>
          </a:p>
        </p:txBody>
      </p:sp>
      <p:sp>
        <p:nvSpPr>
          <p:cNvPr id="37" name="tag-261"/>
          <p:cNvSpPr/>
          <p:nvPr/>
        </p:nvSpPr>
        <p:spPr>
          <a:xfrm>
            <a:off x="7909560" y="3200400"/>
            <a:ext cx="914400" cy="21945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8" name="text-262"/>
          <p:cNvSpPr txBox="1"/>
          <p:nvPr/>
        </p:nvSpPr>
        <p:spPr>
          <a:xfrm>
            <a:off x="7909560" y="32004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РАСЧЁТ</a:t>
            </a:r>
            <a:endParaRPr lang="en-US" sz="800" dirty="0"/>
          </a:p>
        </p:txBody>
      </p:sp>
      <p:sp>
        <p:nvSpPr>
          <p:cNvPr id="39" name="card-263"/>
          <p:cNvSpPr/>
          <p:nvPr/>
        </p:nvSpPr>
        <p:spPr>
          <a:xfrm>
            <a:off x="7680960" y="3840480"/>
            <a:ext cx="4050792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text-264"/>
          <p:cNvSpPr txBox="1"/>
          <p:nvPr/>
        </p:nvSpPr>
        <p:spPr>
          <a:xfrm>
            <a:off x="7909560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Цель 3-го года</a:t>
            </a:r>
            <a:endParaRPr lang="en-US" sz="1300" dirty="0"/>
          </a:p>
        </p:txBody>
      </p:sp>
      <p:sp>
        <p:nvSpPr>
          <p:cNvPr id="41" name="text-265"/>
          <p:cNvSpPr txBox="1"/>
          <p:nvPr/>
        </p:nvSpPr>
        <p:spPr>
          <a:xfrm>
            <a:off x="7909560" y="4315968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1% рынка = 28 тыс. полисов ≈ 0,3 млрд ₽ взносов, плюс 28 тыс. собственников для кросс-продаж страхования квартир.</a:t>
            </a:r>
            <a:endParaRPr lang="en-US" sz="1150" dirty="0"/>
          </a:p>
        </p:txBody>
      </p:sp>
      <p:sp>
        <p:nvSpPr>
          <p:cNvPr id="42" name="tag-266"/>
          <p:cNvSpPr/>
          <p:nvPr/>
        </p:nvSpPr>
        <p:spPr>
          <a:xfrm>
            <a:off x="7909560" y="5623560"/>
            <a:ext cx="1188720" cy="2194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3" name="text-267"/>
          <p:cNvSpPr txBox="1"/>
          <p:nvPr/>
        </p:nvSpPr>
        <p:spPr>
          <a:xfrm>
            <a:off x="7909560" y="56235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ДОПУЩЕНИЕ</a:t>
            </a:r>
            <a:endParaRPr lang="en-US" sz="800" dirty="0"/>
          </a:p>
        </p:txBody>
      </p:sp>
      <p:sp>
        <p:nvSpPr>
          <p:cNvPr id="44" name="text-268"/>
          <p:cNvSpPr txBox="1"/>
          <p:nvPr/>
        </p:nvSpPr>
        <p:spPr>
          <a:xfrm>
            <a:off x="457200" y="62362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4"/>
                </a:solidFill>
              </a:rPr>
              <a:t>Легенда: </a:t>
            </a:r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синий — факт из источника · голубой — расчёт на основе фактов · оранжевый — допущение команды. Средняя ставка 50 тыс. ₽ — допущение между Москвой (72 тыс.) и Санкт-Петербургом и миллионниками.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286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ЭТАП 4 ИЗ 5 · ГИПОТЕЗА РЕШЕНИЯ И ПРЕИМУЩЕСТВА ИНГОССТРАХА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Ценностное предложение ИнгоКлюча</a:t>
            </a:r>
            <a:endParaRPr lang="en-US" sz="2400" dirty="0"/>
          </a:p>
        </p:txBody>
      </p:sp>
      <p:sp>
        <p:nvSpPr>
          <p:cNvPr id="4" name="card-269"/>
          <p:cNvSpPr/>
          <p:nvPr/>
        </p:nvSpPr>
        <p:spPr>
          <a:xfrm>
            <a:off x="457200" y="1371600"/>
            <a:ext cx="5513832" cy="2880360"/>
          </a:xfrm>
          <a:prstGeom prst="roundRect">
            <a:avLst>
              <a:gd name="adj" fmla="val 381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iconbg-270"/>
          <p:cNvSpPr/>
          <p:nvPr/>
        </p:nvSpPr>
        <p:spPr>
          <a:xfrm>
            <a:off x="685800" y="157276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con-27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" y="1683410"/>
            <a:ext cx="281635" cy="281635"/>
          </a:xfrm>
          <a:prstGeom prst="rect">
            <a:avLst/>
          </a:prstGeom>
        </p:spPr>
      </p:pic>
      <p:sp>
        <p:nvSpPr>
          <p:cNvPr id="7" name="text-272"/>
          <p:cNvSpPr txBox="1"/>
          <p:nvPr/>
        </p:nvSpPr>
        <p:spPr>
          <a:xfrm>
            <a:off x="1325880" y="16642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Для жильца</a:t>
            </a:r>
            <a:endParaRPr lang="en-US" sz="1500" dirty="0"/>
          </a:p>
        </p:txBody>
      </p:sp>
      <p:sp>
        <p:nvSpPr>
          <p:cNvPr id="8" name="text-273"/>
          <p:cNvSpPr txBox="1"/>
          <p:nvPr/>
        </p:nvSpPr>
        <p:spPr>
          <a:xfrm>
            <a:off x="685800" y="2240280"/>
            <a:ext cx="5074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Для мобильного арендатора, который при переезде должен за день заплатить 2–3 ставки, ИнгоКлюч позволяет заехать с невозвратным взносом ≈20% ставки вместо залога и выехать без спора благодаря тому, что риск берёт на себя Ингосстрах, а состояние квартиры фиксирует цифровой акт — в отличие от депозита, который заморожен и часто не возвращается.</a:t>
            </a:r>
            <a:endParaRPr lang="en-US" sz="1200" dirty="0"/>
          </a:p>
        </p:txBody>
      </p:sp>
      <p:sp>
        <p:nvSpPr>
          <p:cNvPr id="9" name="card-274"/>
          <p:cNvSpPr/>
          <p:nvPr/>
        </p:nvSpPr>
        <p:spPr>
          <a:xfrm>
            <a:off x="6217920" y="1371600"/>
            <a:ext cx="5513832" cy="28803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bg-275"/>
          <p:cNvSpPr/>
          <p:nvPr/>
        </p:nvSpPr>
        <p:spPr>
          <a:xfrm>
            <a:off x="6446520" y="157276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-27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162" y="1683410"/>
            <a:ext cx="281635" cy="281635"/>
          </a:xfrm>
          <a:prstGeom prst="rect">
            <a:avLst/>
          </a:prstGeom>
        </p:spPr>
      </p:pic>
      <p:sp>
        <p:nvSpPr>
          <p:cNvPr id="12" name="text-277"/>
          <p:cNvSpPr txBox="1"/>
          <p:nvPr/>
        </p:nvSpPr>
        <p:spPr>
          <a:xfrm>
            <a:off x="7086600" y="16642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Для собственника</a:t>
            </a:r>
            <a:endParaRPr lang="en-US" sz="1500" dirty="0"/>
          </a:p>
        </p:txBody>
      </p:sp>
      <p:sp>
        <p:nvSpPr>
          <p:cNvPr id="13" name="text-278"/>
          <p:cNvSpPr txBox="1"/>
          <p:nvPr/>
        </p:nvSpPr>
        <p:spPr>
          <a:xfrm>
            <a:off x="6446520" y="2240280"/>
            <a:ext cx="5074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Для частного собственника, который боится ущерба и долгов, ИнгоКлюч даёт покрытие до 2 месячных ставок — в 3 раза больше среднего депозита — с выплатой за 5 рабочих дней благодаря экспертизе Ингосстраха в урегулировании убытков, в отличие от депозита, которого может не хватить, и суда.</a:t>
            </a:r>
            <a:endParaRPr lang="en-US" sz="1200" dirty="0"/>
          </a:p>
        </p:txBody>
      </p:sp>
      <p:sp>
        <p:nvSpPr>
          <p:cNvPr id="14" name="card-279"/>
          <p:cNvSpPr/>
          <p:nvPr/>
        </p:nvSpPr>
        <p:spPr>
          <a:xfrm>
            <a:off x="457200" y="4480560"/>
            <a:ext cx="3648456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bg-280"/>
          <p:cNvSpPr/>
          <p:nvPr/>
        </p:nvSpPr>
        <p:spPr>
          <a:xfrm>
            <a:off x="658368" y="4663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-28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764024"/>
            <a:ext cx="256032" cy="256032"/>
          </a:xfrm>
          <a:prstGeom prst="rect">
            <a:avLst/>
          </a:prstGeom>
        </p:spPr>
      </p:pic>
      <p:sp>
        <p:nvSpPr>
          <p:cNvPr id="17" name="text-282"/>
          <p:cNvSpPr txBox="1"/>
          <p:nvPr/>
        </p:nvSpPr>
        <p:spPr>
          <a:xfrm>
            <a:off x="1234440" y="47274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Любая квартира</a:t>
            </a:r>
            <a:endParaRPr lang="en-US" sz="1300" dirty="0"/>
          </a:p>
        </p:txBody>
      </p:sp>
      <p:sp>
        <p:nvSpPr>
          <p:cNvPr id="18" name="text-283"/>
          <p:cNvSpPr txBox="1"/>
          <p:nvPr/>
        </p:nvSpPr>
        <p:spPr>
          <a:xfrm>
            <a:off x="658368" y="5230368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Работает в прямых сделках на Авито и Циан, без агента и закрытой сети</a:t>
            </a:r>
            <a:endParaRPr lang="en-US" sz="1150" dirty="0"/>
          </a:p>
        </p:txBody>
      </p:sp>
      <p:sp>
        <p:nvSpPr>
          <p:cNvPr id="19" name="card-284"/>
          <p:cNvSpPr/>
          <p:nvPr/>
        </p:nvSpPr>
        <p:spPr>
          <a:xfrm>
            <a:off x="4270248" y="4480560"/>
            <a:ext cx="3648456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conbg-285"/>
          <p:cNvSpPr/>
          <p:nvPr/>
        </p:nvSpPr>
        <p:spPr>
          <a:xfrm>
            <a:off x="4471416" y="4663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con-28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764024"/>
            <a:ext cx="256032" cy="256032"/>
          </a:xfrm>
          <a:prstGeom prst="rect">
            <a:avLst/>
          </a:prstGeom>
        </p:spPr>
      </p:pic>
      <p:sp>
        <p:nvSpPr>
          <p:cNvPr id="22" name="text-287"/>
          <p:cNvSpPr txBox="1"/>
          <p:nvPr/>
        </p:nvSpPr>
        <p:spPr>
          <a:xfrm>
            <a:off x="5047488" y="47274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Цифровой акт</a:t>
            </a:r>
            <a:endParaRPr lang="en-US" sz="1300" dirty="0"/>
          </a:p>
        </p:txBody>
      </p:sp>
      <p:sp>
        <p:nvSpPr>
          <p:cNvPr id="23" name="text-288"/>
          <p:cNvSpPr txBox="1"/>
          <p:nvPr/>
        </p:nvSpPr>
        <p:spPr>
          <a:xfrm>
            <a:off x="4471416" y="5230368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Фото и видео с геометкой и временем при заезде и выезде — доказательство для обеих сторон</a:t>
            </a:r>
            <a:endParaRPr lang="en-US" sz="1150" dirty="0"/>
          </a:p>
        </p:txBody>
      </p:sp>
      <p:sp>
        <p:nvSpPr>
          <p:cNvPr id="24" name="card-289"/>
          <p:cNvSpPr/>
          <p:nvPr/>
        </p:nvSpPr>
        <p:spPr>
          <a:xfrm>
            <a:off x="8083296" y="4480560"/>
            <a:ext cx="3648456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iconbg-290"/>
          <p:cNvSpPr/>
          <p:nvPr/>
        </p:nvSpPr>
        <p:spPr>
          <a:xfrm>
            <a:off x="8284464" y="4663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on-29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4764024"/>
            <a:ext cx="256032" cy="256032"/>
          </a:xfrm>
          <a:prstGeom prst="rect">
            <a:avLst/>
          </a:prstGeom>
        </p:spPr>
      </p:pic>
      <p:sp>
        <p:nvSpPr>
          <p:cNvPr id="27" name="text-292"/>
          <p:cNvSpPr txBox="1"/>
          <p:nvPr/>
        </p:nvSpPr>
        <p:spPr>
          <a:xfrm>
            <a:off x="8860536" y="47274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Паспорт надёжного жильца</a:t>
            </a:r>
            <a:endParaRPr lang="en-US" sz="1300" dirty="0"/>
          </a:p>
        </p:txBody>
      </p:sp>
      <p:sp>
        <p:nvSpPr>
          <p:cNvPr id="28" name="text-293"/>
          <p:cNvSpPr txBox="1"/>
          <p:nvPr/>
        </p:nvSpPr>
        <p:spPr>
          <a:xfrm>
            <a:off x="8284464" y="5230368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−25% к взносу за каждый выезд без претензий; собственники видят историю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286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ЭТАП 4 ИЗ 5 · ГИПОТЕЗА РЕШЕНИЯ И ПРЕИМУЩЕСТВА ИНГОССТРАХА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Ключевой сценарий: 7 шагов</a:t>
            </a:r>
            <a:endParaRPr lang="en-US" sz="2400" dirty="0"/>
          </a:p>
        </p:txBody>
      </p:sp>
      <p:sp>
        <p:nvSpPr>
          <p:cNvPr id="4" name="card-294"/>
          <p:cNvSpPr/>
          <p:nvPr/>
        </p:nvSpPr>
        <p:spPr>
          <a:xfrm>
            <a:off x="457200" y="1417320"/>
            <a:ext cx="1536192" cy="393192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-295"/>
          <p:cNvSpPr/>
          <p:nvPr/>
        </p:nvSpPr>
        <p:spPr>
          <a:xfrm>
            <a:off x="594360" y="157276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-296"/>
          <p:cNvSpPr txBox="1"/>
          <p:nvPr/>
        </p:nvSpPr>
        <p:spPr>
          <a:xfrm>
            <a:off x="594360" y="1572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-297"/>
          <p:cNvSpPr txBox="1"/>
          <p:nvPr/>
        </p:nvSpPr>
        <p:spPr>
          <a:xfrm>
            <a:off x="594360" y="2121408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Нашёл квартиру</a:t>
            </a:r>
            <a:endParaRPr lang="en-US" sz="1200" dirty="0"/>
          </a:p>
        </p:txBody>
      </p:sp>
      <p:sp>
        <p:nvSpPr>
          <p:cNvPr id="8" name="text-298"/>
          <p:cNvSpPr txBox="1"/>
          <p:nvPr/>
        </p:nvSpPr>
        <p:spPr>
          <a:xfrm>
            <a:off x="594360" y="2788920"/>
            <a:ext cx="12893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Собственник просит депозит 67% ставки — жилец предлагает ИнгоКлюч.</a:t>
            </a:r>
            <a:endParaRPr lang="en-US" sz="1050" dirty="0"/>
          </a:p>
        </p:txBody>
      </p:sp>
      <p:sp>
        <p:nvSpPr>
          <p:cNvPr id="9" name="card-299"/>
          <p:cNvSpPr/>
          <p:nvPr/>
        </p:nvSpPr>
        <p:spPr>
          <a:xfrm>
            <a:off x="2080260" y="1417320"/>
            <a:ext cx="1536192" cy="393192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-300"/>
          <p:cNvSpPr/>
          <p:nvPr/>
        </p:nvSpPr>
        <p:spPr>
          <a:xfrm>
            <a:off x="2217420" y="157276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-301"/>
          <p:cNvSpPr txBox="1"/>
          <p:nvPr/>
        </p:nvSpPr>
        <p:spPr>
          <a:xfrm>
            <a:off x="2217420" y="1572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-302"/>
          <p:cNvSpPr txBox="1"/>
          <p:nvPr/>
        </p:nvSpPr>
        <p:spPr>
          <a:xfrm>
            <a:off x="2217420" y="2121408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Скоринг за 3 минуты</a:t>
            </a:r>
            <a:endParaRPr lang="en-US" sz="1200" dirty="0"/>
          </a:p>
        </p:txBody>
      </p:sp>
      <p:sp>
        <p:nvSpPr>
          <p:cNvPr id="13" name="text-303"/>
          <p:cNvSpPr txBox="1"/>
          <p:nvPr/>
        </p:nvSpPr>
        <p:spPr>
          <a:xfrm>
            <a:off x="2217420" y="2788920"/>
            <a:ext cx="12893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Сайт или Telegram-бот: паспорт, доход, история аренды. Цена взноса — по риску.</a:t>
            </a:r>
            <a:endParaRPr lang="en-US" sz="1050" dirty="0"/>
          </a:p>
        </p:txBody>
      </p:sp>
      <p:sp>
        <p:nvSpPr>
          <p:cNvPr id="14" name="ingo-304"/>
          <p:cNvSpPr/>
          <p:nvPr/>
        </p:nvSpPr>
        <p:spPr>
          <a:xfrm>
            <a:off x="2189988" y="4846320"/>
            <a:ext cx="1316736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-305"/>
          <p:cNvSpPr txBox="1"/>
          <p:nvPr/>
        </p:nvSpPr>
        <p:spPr>
          <a:xfrm>
            <a:off x="2189988" y="4846320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Андеррайтинг</a:t>
            </a:r>
            <a:endParaRPr lang="en-US" sz="950" dirty="0"/>
          </a:p>
        </p:txBody>
      </p:sp>
      <p:sp>
        <p:nvSpPr>
          <p:cNvPr id="16" name="card-306"/>
          <p:cNvSpPr/>
          <p:nvPr/>
        </p:nvSpPr>
        <p:spPr>
          <a:xfrm>
            <a:off x="3703320" y="1417320"/>
            <a:ext cx="1536192" cy="3931920"/>
          </a:xfrm>
          <a:prstGeom prst="roundRect">
            <a:avLst>
              <a:gd name="adj" fmla="val 714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badge-307"/>
          <p:cNvSpPr/>
          <p:nvPr/>
        </p:nvSpPr>
        <p:spPr>
          <a:xfrm>
            <a:off x="3840480" y="1572768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-308"/>
          <p:cNvSpPr txBox="1"/>
          <p:nvPr/>
        </p:nvSpPr>
        <p:spPr>
          <a:xfrm>
            <a:off x="3840480" y="1572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-309"/>
          <p:cNvSpPr txBox="1"/>
          <p:nvPr/>
        </p:nvSpPr>
        <p:spPr>
          <a:xfrm>
            <a:off x="3840480" y="2121408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Сертификат собственнику</a:t>
            </a:r>
            <a:endParaRPr lang="en-US" sz="1200" dirty="0"/>
          </a:p>
        </p:txBody>
      </p:sp>
      <p:sp>
        <p:nvSpPr>
          <p:cNvPr id="20" name="text-310"/>
          <p:cNvSpPr txBox="1"/>
          <p:nvPr/>
        </p:nvSpPr>
        <p:spPr>
          <a:xfrm>
            <a:off x="3840480" y="2788920"/>
            <a:ext cx="12893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Ссылка «Ингосстрах ручается за жильца»: сумма покрытия, условия, контакты.</a:t>
            </a:r>
            <a:endParaRPr lang="en-US" sz="1050" dirty="0"/>
          </a:p>
        </p:txBody>
      </p:sp>
      <p:sp>
        <p:nvSpPr>
          <p:cNvPr id="21" name="ingo-311"/>
          <p:cNvSpPr/>
          <p:nvPr/>
        </p:nvSpPr>
        <p:spPr>
          <a:xfrm>
            <a:off x="3813048" y="4846320"/>
            <a:ext cx="1316736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-312"/>
          <p:cNvSpPr txBox="1"/>
          <p:nvPr/>
        </p:nvSpPr>
        <p:spPr>
          <a:xfrm>
            <a:off x="3813048" y="4846320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Бренд ruAAA</a:t>
            </a:r>
            <a:endParaRPr lang="en-US" sz="950" dirty="0"/>
          </a:p>
        </p:txBody>
      </p:sp>
      <p:sp>
        <p:nvSpPr>
          <p:cNvPr id="23" name="card-313"/>
          <p:cNvSpPr/>
          <p:nvPr/>
        </p:nvSpPr>
        <p:spPr>
          <a:xfrm>
            <a:off x="5326380" y="1417320"/>
            <a:ext cx="1536192" cy="393192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badge-314"/>
          <p:cNvSpPr/>
          <p:nvPr/>
        </p:nvSpPr>
        <p:spPr>
          <a:xfrm>
            <a:off x="5463540" y="157276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-315"/>
          <p:cNvSpPr txBox="1"/>
          <p:nvPr/>
        </p:nvSpPr>
        <p:spPr>
          <a:xfrm>
            <a:off x="5463540" y="1572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-316"/>
          <p:cNvSpPr txBox="1"/>
          <p:nvPr/>
        </p:nvSpPr>
        <p:spPr>
          <a:xfrm>
            <a:off x="5463540" y="2121408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Оплата и договор</a:t>
            </a:r>
            <a:endParaRPr lang="en-US" sz="1200" dirty="0"/>
          </a:p>
        </p:txBody>
      </p:sp>
      <p:sp>
        <p:nvSpPr>
          <p:cNvPr id="27" name="text-317"/>
          <p:cNvSpPr txBox="1"/>
          <p:nvPr/>
        </p:nvSpPr>
        <p:spPr>
          <a:xfrm>
            <a:off x="5463540" y="2788920"/>
            <a:ext cx="12893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Взнос ≈20% ставки, шаблон договора найма, полис на имя собственника.</a:t>
            </a:r>
            <a:endParaRPr lang="en-US" sz="1050" dirty="0"/>
          </a:p>
        </p:txBody>
      </p:sp>
      <p:sp>
        <p:nvSpPr>
          <p:cNvPr id="28" name="card-318"/>
          <p:cNvSpPr/>
          <p:nvPr/>
        </p:nvSpPr>
        <p:spPr>
          <a:xfrm>
            <a:off x="6949440" y="1417320"/>
            <a:ext cx="1536192" cy="393192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badge-319"/>
          <p:cNvSpPr/>
          <p:nvPr/>
        </p:nvSpPr>
        <p:spPr>
          <a:xfrm>
            <a:off x="7086600" y="157276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-320"/>
          <p:cNvSpPr txBox="1"/>
          <p:nvPr/>
        </p:nvSpPr>
        <p:spPr>
          <a:xfrm>
            <a:off x="7086600" y="1572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-321"/>
          <p:cNvSpPr txBox="1"/>
          <p:nvPr/>
        </p:nvSpPr>
        <p:spPr>
          <a:xfrm>
            <a:off x="7086600" y="2121408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Цифровой акт заезда</a:t>
            </a:r>
            <a:endParaRPr lang="en-US" sz="1200" dirty="0"/>
          </a:p>
        </p:txBody>
      </p:sp>
      <p:sp>
        <p:nvSpPr>
          <p:cNvPr id="32" name="text-322"/>
          <p:cNvSpPr txBox="1"/>
          <p:nvPr/>
        </p:nvSpPr>
        <p:spPr>
          <a:xfrm>
            <a:off x="7086600" y="2788920"/>
            <a:ext cx="12893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Самоосмотр в приложении за 10–15 минут, обе стороны подтверждают.</a:t>
            </a:r>
            <a:endParaRPr lang="en-US" sz="1050" dirty="0"/>
          </a:p>
        </p:txBody>
      </p:sp>
      <p:sp>
        <p:nvSpPr>
          <p:cNvPr id="33" name="ingo-323"/>
          <p:cNvSpPr/>
          <p:nvPr/>
        </p:nvSpPr>
        <p:spPr>
          <a:xfrm>
            <a:off x="7059168" y="4846320"/>
            <a:ext cx="1316736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text-324"/>
          <p:cNvSpPr txBox="1"/>
          <p:nvPr/>
        </p:nvSpPr>
        <p:spPr>
          <a:xfrm>
            <a:off x="7059168" y="4846320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Самоосмотр</a:t>
            </a:r>
            <a:endParaRPr lang="en-US" sz="950" dirty="0"/>
          </a:p>
        </p:txBody>
      </p:sp>
      <p:sp>
        <p:nvSpPr>
          <p:cNvPr id="35" name="card-325"/>
          <p:cNvSpPr/>
          <p:nvPr/>
        </p:nvSpPr>
        <p:spPr>
          <a:xfrm>
            <a:off x="8572500" y="1417320"/>
            <a:ext cx="1536192" cy="393192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badge-326"/>
          <p:cNvSpPr/>
          <p:nvPr/>
        </p:nvSpPr>
        <p:spPr>
          <a:xfrm>
            <a:off x="8709660" y="157276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text-327"/>
          <p:cNvSpPr txBox="1"/>
          <p:nvPr/>
        </p:nvSpPr>
        <p:spPr>
          <a:xfrm>
            <a:off x="8709660" y="1572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-328"/>
          <p:cNvSpPr txBox="1"/>
          <p:nvPr/>
        </p:nvSpPr>
        <p:spPr>
          <a:xfrm>
            <a:off x="8709660" y="2121408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Выезд</a:t>
            </a:r>
            <a:endParaRPr lang="en-US" sz="1200" dirty="0"/>
          </a:p>
        </p:txBody>
      </p:sp>
      <p:sp>
        <p:nvSpPr>
          <p:cNvPr id="39" name="text-329"/>
          <p:cNvSpPr txBox="1"/>
          <p:nvPr/>
        </p:nvSpPr>
        <p:spPr>
          <a:xfrm>
            <a:off x="8709660" y="2788920"/>
            <a:ext cx="12893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Повторный осмотр. При претензии эксперт оценивает ущерб, выплата собственнику за 5 дней, затем регресс к жильцу.</a:t>
            </a:r>
            <a:endParaRPr lang="en-US" sz="1050" dirty="0"/>
          </a:p>
        </p:txBody>
      </p:sp>
      <p:sp>
        <p:nvSpPr>
          <p:cNvPr id="40" name="ingo-330"/>
          <p:cNvSpPr/>
          <p:nvPr/>
        </p:nvSpPr>
        <p:spPr>
          <a:xfrm>
            <a:off x="8682228" y="4846320"/>
            <a:ext cx="1316736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1" name="text-331"/>
          <p:cNvSpPr txBox="1"/>
          <p:nvPr/>
        </p:nvSpPr>
        <p:spPr>
          <a:xfrm>
            <a:off x="8682228" y="4846320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Урегулирование</a:t>
            </a:r>
            <a:endParaRPr lang="en-US" sz="950" dirty="0"/>
          </a:p>
        </p:txBody>
      </p:sp>
      <p:sp>
        <p:nvSpPr>
          <p:cNvPr id="42" name="card-332"/>
          <p:cNvSpPr/>
          <p:nvPr/>
        </p:nvSpPr>
        <p:spPr>
          <a:xfrm>
            <a:off x="10195560" y="1417320"/>
            <a:ext cx="1536192" cy="3931920"/>
          </a:xfrm>
          <a:prstGeom prst="roundRect">
            <a:avLst>
              <a:gd name="adj" fmla="val 714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3" name="badge-333"/>
          <p:cNvSpPr/>
          <p:nvPr/>
        </p:nvSpPr>
        <p:spPr>
          <a:xfrm>
            <a:off x="10332720" y="1572768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4" name="text-334"/>
          <p:cNvSpPr txBox="1"/>
          <p:nvPr/>
        </p:nvSpPr>
        <p:spPr>
          <a:xfrm>
            <a:off x="10332720" y="1572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</a:t>
            </a:r>
            <a:endParaRPr lang="en-US" sz="1300" dirty="0"/>
          </a:p>
        </p:txBody>
      </p:sp>
      <p:sp>
        <p:nvSpPr>
          <p:cNvPr id="45" name="text-335"/>
          <p:cNvSpPr txBox="1"/>
          <p:nvPr/>
        </p:nvSpPr>
        <p:spPr>
          <a:xfrm>
            <a:off x="10332720" y="2121408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Следующий переезд</a:t>
            </a:r>
            <a:endParaRPr lang="en-US" sz="1200" dirty="0"/>
          </a:p>
        </p:txBody>
      </p:sp>
      <p:sp>
        <p:nvSpPr>
          <p:cNvPr id="46" name="text-336"/>
          <p:cNvSpPr txBox="1"/>
          <p:nvPr/>
        </p:nvSpPr>
        <p:spPr>
          <a:xfrm>
            <a:off x="10332720" y="2788920"/>
            <a:ext cx="12893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Чистый выезд → +1 в паспорте надёжности, следующий взнос на 25% дешевле.</a:t>
            </a:r>
            <a:endParaRPr lang="en-US" sz="1050" dirty="0"/>
          </a:p>
        </p:txBody>
      </p:sp>
      <p:sp>
        <p:nvSpPr>
          <p:cNvPr id="47" name="text-337"/>
          <p:cNvSpPr txBox="1"/>
          <p:nvPr/>
        </p:nvSpPr>
        <p:spPr>
          <a:xfrm>
            <a:off x="457200" y="55321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Момент ценности: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шаг 3 — собственник соглашается без «живых» денег; шаг 7 — жилец возвращается при каждом переезде.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Лаймовые метки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— где работают системы и экспертиза Ингосстраха.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286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ЭТАП 4 ИЗ 5 · ГИПОТЕЗА РЕШЕНИЯ И ПРЕИМУЩЕСТВА ИНГОССТРАХА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Почему это может сделать именно Ингосстрах</a:t>
            </a:r>
            <a:endParaRPr lang="en-US" sz="2400" dirty="0"/>
          </a:p>
        </p:txBody>
      </p:sp>
      <p:sp>
        <p:nvSpPr>
          <p:cNvPr id="4" name="card-338"/>
          <p:cNvSpPr/>
          <p:nvPr/>
        </p:nvSpPr>
        <p:spPr>
          <a:xfrm>
            <a:off x="457200" y="1371600"/>
            <a:ext cx="3648456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bg-339"/>
          <p:cNvSpPr/>
          <p:nvPr/>
        </p:nvSpPr>
        <p:spPr>
          <a:xfrm>
            <a:off x="658368" y="157276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34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975" y="1677375"/>
            <a:ext cx="266273" cy="266273"/>
          </a:xfrm>
          <a:prstGeom prst="rect">
            <a:avLst/>
          </a:prstGeom>
        </p:spPr>
      </p:pic>
      <p:sp>
        <p:nvSpPr>
          <p:cNvPr id="7" name="text-341"/>
          <p:cNvSpPr txBox="1"/>
          <p:nvPr/>
        </p:nvSpPr>
        <p:spPr>
          <a:xfrm>
            <a:off x="1280160" y="157276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Самоосмотр в приложении</a:t>
            </a:r>
            <a:endParaRPr lang="en-US" sz="1250" dirty="0"/>
          </a:p>
        </p:txBody>
      </p:sp>
      <p:sp>
        <p:nvSpPr>
          <p:cNvPr id="8" name="text-342"/>
          <p:cNvSpPr txBox="1"/>
          <p:nvPr/>
        </p:nvSpPr>
        <p:spPr>
          <a:xfrm>
            <a:off x="658368" y="217627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Онлайн-осмотр квартир в IngoMobile — с 2018 года</a:t>
            </a:r>
            <a:endParaRPr lang="en-US" sz="1100" dirty="0"/>
          </a:p>
        </p:txBody>
      </p:sp>
      <p:sp>
        <p:nvSpPr>
          <p:cNvPr id="9" name="text-343"/>
          <p:cNvSpPr txBox="1"/>
          <p:nvPr/>
        </p:nvSpPr>
        <p:spPr>
          <a:xfrm>
            <a:off x="658368" y="272491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→ Цифровой акт заезда и выезда без выезда специалиста</a:t>
            </a:r>
            <a:endParaRPr lang="en-US" sz="1150" dirty="0"/>
          </a:p>
        </p:txBody>
      </p:sp>
      <p:sp>
        <p:nvSpPr>
          <p:cNvPr id="10" name="card-344"/>
          <p:cNvSpPr/>
          <p:nvPr/>
        </p:nvSpPr>
        <p:spPr>
          <a:xfrm>
            <a:off x="4270248" y="1371600"/>
            <a:ext cx="3648456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bg-345"/>
          <p:cNvSpPr/>
          <p:nvPr/>
        </p:nvSpPr>
        <p:spPr>
          <a:xfrm>
            <a:off x="4471416" y="157276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-34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023" y="1677375"/>
            <a:ext cx="266273" cy="266273"/>
          </a:xfrm>
          <a:prstGeom prst="rect">
            <a:avLst/>
          </a:prstGeom>
        </p:spPr>
      </p:pic>
      <p:sp>
        <p:nvSpPr>
          <p:cNvPr id="13" name="text-347"/>
          <p:cNvSpPr txBox="1"/>
          <p:nvPr/>
        </p:nvSpPr>
        <p:spPr>
          <a:xfrm>
            <a:off x="5093208" y="157276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Урегулирование убытков</a:t>
            </a:r>
            <a:endParaRPr lang="en-US" sz="1250" dirty="0"/>
          </a:p>
        </p:txBody>
      </p:sp>
      <p:sp>
        <p:nvSpPr>
          <p:cNvPr id="14" name="text-348"/>
          <p:cNvSpPr txBox="1"/>
          <p:nvPr/>
        </p:nvSpPr>
        <p:spPr>
          <a:xfrm>
            <a:off x="4471416" y="217627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Налаженные процессы оценки ущерба имуществу</a:t>
            </a:r>
            <a:endParaRPr lang="en-US" sz="1100" dirty="0"/>
          </a:p>
        </p:txBody>
      </p:sp>
      <p:sp>
        <p:nvSpPr>
          <p:cNvPr id="15" name="text-349"/>
          <p:cNvSpPr txBox="1"/>
          <p:nvPr/>
        </p:nvSpPr>
        <p:spPr>
          <a:xfrm>
            <a:off x="4471416" y="272491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→ Независимая оценка претензии и выплата за 5 дней</a:t>
            </a:r>
            <a:endParaRPr lang="en-US" sz="1150" dirty="0"/>
          </a:p>
        </p:txBody>
      </p:sp>
      <p:sp>
        <p:nvSpPr>
          <p:cNvPr id="16" name="card-350"/>
          <p:cNvSpPr/>
          <p:nvPr/>
        </p:nvSpPr>
        <p:spPr>
          <a:xfrm>
            <a:off x="8083296" y="1371600"/>
            <a:ext cx="3648456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iconbg-351"/>
          <p:cNvSpPr/>
          <p:nvPr/>
        </p:nvSpPr>
        <p:spPr>
          <a:xfrm>
            <a:off x="8284464" y="157276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on-35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9071" y="1677375"/>
            <a:ext cx="266273" cy="266273"/>
          </a:xfrm>
          <a:prstGeom prst="rect">
            <a:avLst/>
          </a:prstGeom>
        </p:spPr>
      </p:pic>
      <p:sp>
        <p:nvSpPr>
          <p:cNvPr id="19" name="text-353"/>
          <p:cNvSpPr txBox="1"/>
          <p:nvPr/>
        </p:nvSpPr>
        <p:spPr>
          <a:xfrm>
            <a:off x="8906256" y="157276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Экспертиза рисков и данные</a:t>
            </a:r>
            <a:endParaRPr lang="en-US" sz="1250" dirty="0"/>
          </a:p>
        </p:txBody>
      </p:sp>
      <p:sp>
        <p:nvSpPr>
          <p:cNvPr id="20" name="text-354"/>
          <p:cNvSpPr txBox="1"/>
          <p:nvPr/>
        </p:nvSpPr>
        <p:spPr>
          <a:xfrm>
            <a:off x="8284464" y="217627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Модели оценки вероятности и стоимости рисков</a:t>
            </a:r>
            <a:endParaRPr lang="en-US" sz="1100" dirty="0"/>
          </a:p>
        </p:txBody>
      </p:sp>
      <p:sp>
        <p:nvSpPr>
          <p:cNvPr id="21" name="text-355"/>
          <p:cNvSpPr txBox="1"/>
          <p:nvPr/>
        </p:nvSpPr>
        <p:spPr>
          <a:xfrm>
            <a:off x="8284464" y="272491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→ Скоринг жильца и цена взноса по риску</a:t>
            </a:r>
            <a:endParaRPr lang="en-US" sz="1150" dirty="0"/>
          </a:p>
        </p:txBody>
      </p:sp>
      <p:sp>
        <p:nvSpPr>
          <p:cNvPr id="22" name="card-356"/>
          <p:cNvSpPr/>
          <p:nvPr/>
        </p:nvSpPr>
        <p:spPr>
          <a:xfrm>
            <a:off x="457200" y="3611880"/>
            <a:ext cx="3648456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iconbg-357"/>
          <p:cNvSpPr/>
          <p:nvPr/>
        </p:nvSpPr>
        <p:spPr>
          <a:xfrm>
            <a:off x="658368" y="381304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con-35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75" y="3917655"/>
            <a:ext cx="266273" cy="266273"/>
          </a:xfrm>
          <a:prstGeom prst="rect">
            <a:avLst/>
          </a:prstGeom>
        </p:spPr>
      </p:pic>
      <p:sp>
        <p:nvSpPr>
          <p:cNvPr id="25" name="text-359"/>
          <p:cNvSpPr txBox="1"/>
          <p:nvPr/>
        </p:nvSpPr>
        <p:spPr>
          <a:xfrm>
            <a:off x="1280160" y="381304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Бренд и ruAAA</a:t>
            </a:r>
            <a:endParaRPr lang="en-US" sz="1250" dirty="0"/>
          </a:p>
        </p:txBody>
      </p:sp>
      <p:sp>
        <p:nvSpPr>
          <p:cNvPr id="26" name="text-360"/>
          <p:cNvSpPr txBox="1"/>
          <p:nvPr/>
        </p:nvSpPr>
        <p:spPr>
          <a:xfrm>
            <a:off x="658368" y="441655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Один из самых узнаваемых страховых брендов, с 1947 года</a:t>
            </a:r>
            <a:endParaRPr lang="en-US" sz="1100" dirty="0"/>
          </a:p>
        </p:txBody>
      </p:sp>
      <p:sp>
        <p:nvSpPr>
          <p:cNvPr id="27" name="text-361"/>
          <p:cNvSpPr txBox="1"/>
          <p:nvPr/>
        </p:nvSpPr>
        <p:spPr>
          <a:xfrm>
            <a:off x="658368" y="496519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→ Собственник доверяет гарантии вместо «живых» денег</a:t>
            </a:r>
            <a:endParaRPr lang="en-US" sz="1150" dirty="0"/>
          </a:p>
        </p:txBody>
      </p:sp>
      <p:sp>
        <p:nvSpPr>
          <p:cNvPr id="28" name="card-362"/>
          <p:cNvSpPr/>
          <p:nvPr/>
        </p:nvSpPr>
        <p:spPr>
          <a:xfrm>
            <a:off x="4270248" y="3611880"/>
            <a:ext cx="3648456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iconbg-363"/>
          <p:cNvSpPr/>
          <p:nvPr/>
        </p:nvSpPr>
        <p:spPr>
          <a:xfrm>
            <a:off x="4471416" y="381304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con-36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6023" y="3917655"/>
            <a:ext cx="266273" cy="266273"/>
          </a:xfrm>
          <a:prstGeom prst="rect">
            <a:avLst/>
          </a:prstGeom>
        </p:spPr>
      </p:pic>
      <p:sp>
        <p:nvSpPr>
          <p:cNvPr id="31" name="text-365"/>
          <p:cNvSpPr txBox="1"/>
          <p:nvPr/>
        </p:nvSpPr>
        <p:spPr>
          <a:xfrm>
            <a:off x="5093208" y="381304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Работа с жалобами</a:t>
            </a:r>
            <a:endParaRPr lang="en-US" sz="1250" dirty="0"/>
          </a:p>
        </p:txBody>
      </p:sp>
      <p:sp>
        <p:nvSpPr>
          <p:cNvPr id="32" name="text-366"/>
          <p:cNvSpPr txBox="1"/>
          <p:nvPr/>
        </p:nvSpPr>
        <p:spPr>
          <a:xfrm>
            <a:off x="4471416" y="441655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CX World Awards 2025: лучшая практика рассмотрения жалоб</a:t>
            </a:r>
            <a:endParaRPr lang="en-US" sz="1100" dirty="0"/>
          </a:p>
        </p:txBody>
      </p:sp>
      <p:sp>
        <p:nvSpPr>
          <p:cNvPr id="33" name="text-367"/>
          <p:cNvSpPr txBox="1"/>
          <p:nvPr/>
        </p:nvSpPr>
        <p:spPr>
          <a:xfrm>
            <a:off x="4471416" y="496519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→ Справедливый разбор споров жильца и собственника</a:t>
            </a:r>
            <a:endParaRPr lang="en-US" sz="1150" dirty="0"/>
          </a:p>
        </p:txBody>
      </p:sp>
      <p:sp>
        <p:nvSpPr>
          <p:cNvPr id="34" name="card-368"/>
          <p:cNvSpPr/>
          <p:nvPr/>
        </p:nvSpPr>
        <p:spPr>
          <a:xfrm>
            <a:off x="8083296" y="3611880"/>
            <a:ext cx="3648456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iconbg-369"/>
          <p:cNvSpPr/>
          <p:nvPr/>
        </p:nvSpPr>
        <p:spPr>
          <a:xfrm>
            <a:off x="8284464" y="381304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6" name="icon-370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9071" y="3917655"/>
            <a:ext cx="266273" cy="266273"/>
          </a:xfrm>
          <a:prstGeom prst="rect">
            <a:avLst/>
          </a:prstGeom>
        </p:spPr>
      </p:pic>
      <p:sp>
        <p:nvSpPr>
          <p:cNvPr id="37" name="text-371"/>
          <p:cNvSpPr txBox="1"/>
          <p:nvPr/>
        </p:nvSpPr>
        <p:spPr>
          <a:xfrm>
            <a:off x="8906256" y="381304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6 млн клиентов, Инго Экосистема</a:t>
            </a:r>
            <a:endParaRPr lang="en-US" sz="1250" dirty="0"/>
          </a:p>
        </p:txBody>
      </p:sp>
      <p:sp>
        <p:nvSpPr>
          <p:cNvPr id="38" name="text-372"/>
          <p:cNvSpPr txBox="1"/>
          <p:nvPr/>
        </p:nvSpPr>
        <p:spPr>
          <a:xfrm>
            <a:off x="8284464" y="441655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Клиентская база, каналы продаж, партнёры</a:t>
            </a:r>
            <a:endParaRPr lang="en-US" sz="1100" dirty="0"/>
          </a:p>
        </p:txBody>
      </p:sp>
      <p:sp>
        <p:nvSpPr>
          <p:cNvPr id="39" name="text-373"/>
          <p:cNvSpPr txBox="1"/>
          <p:nvPr/>
        </p:nvSpPr>
        <p:spPr>
          <a:xfrm>
            <a:off x="8284464" y="496519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→ Кросс-продажи собственникам и первый полис для жильца</a:t>
            </a:r>
            <a:endParaRPr lang="en-US" sz="1150" dirty="0"/>
          </a:p>
        </p:txBody>
      </p:sp>
      <p:sp>
        <p:nvSpPr>
          <p:cNvPr id="40" name="text-374"/>
          <p:cNvSpPr txBox="1"/>
          <p:nvPr/>
        </p:nvSpPr>
        <p:spPr>
          <a:xfrm>
            <a:off x="457200" y="63276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Почему ценность создаёт страховщик, а не площадка: ИнгоКлюч — это перенос риска собственника на того, кто умеет его оценивать, принимать и урегулировать. Источники: ComNews (2018), материалы кейса.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286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ЭТАП 5 ИЗ 5 · БИЗНЕС-МОДЕЛЬ И ГИПОТЕЗЫ ДЛЯ ФИНАЛА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Бизнес-модель и юнит-экономика</a:t>
            </a:r>
            <a:endParaRPr lang="en-US" sz="2400" dirty="0"/>
          </a:p>
        </p:txBody>
      </p:sp>
      <p:sp>
        <p:nvSpPr>
          <p:cNvPr id="4" name="card-375"/>
          <p:cNvSpPr/>
          <p:nvPr/>
        </p:nvSpPr>
        <p:spPr>
          <a:xfrm>
            <a:off x="457200" y="1371600"/>
            <a:ext cx="21945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-376"/>
          <p:cNvSpPr txBox="1"/>
          <p:nvPr/>
        </p:nvSpPr>
        <p:spPr>
          <a:xfrm>
            <a:off x="621792" y="1481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Пользователи</a:t>
            </a:r>
            <a:endParaRPr lang="en-US" sz="1200" dirty="0"/>
          </a:p>
        </p:txBody>
      </p:sp>
      <p:sp>
        <p:nvSpPr>
          <p:cNvPr id="6" name="text-377"/>
          <p:cNvSpPr txBox="1"/>
          <p:nvPr/>
        </p:nvSpPr>
        <p:spPr>
          <a:xfrm>
            <a:off x="621792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Жилец и собственник</a:t>
            </a:r>
            <a:endParaRPr lang="en-US" sz="1100" dirty="0"/>
          </a:p>
        </p:txBody>
      </p:sp>
      <p:sp>
        <p:nvSpPr>
          <p:cNvPr id="7" name="card-378"/>
          <p:cNvSpPr/>
          <p:nvPr/>
        </p:nvSpPr>
        <p:spPr>
          <a:xfrm>
            <a:off x="2770632" y="1371600"/>
            <a:ext cx="21945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-379"/>
          <p:cNvSpPr txBox="1"/>
          <p:nvPr/>
        </p:nvSpPr>
        <p:spPr>
          <a:xfrm>
            <a:off x="2935224" y="1481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Покупатель</a:t>
            </a:r>
            <a:endParaRPr lang="en-US" sz="1200" dirty="0"/>
          </a:p>
        </p:txBody>
      </p:sp>
      <p:sp>
        <p:nvSpPr>
          <p:cNvPr id="9" name="text-380"/>
          <p:cNvSpPr txBox="1"/>
          <p:nvPr/>
        </p:nvSpPr>
        <p:spPr>
          <a:xfrm>
            <a:off x="2935224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Жилец (выбирает и оформляет)</a:t>
            </a:r>
            <a:endParaRPr lang="en-US" sz="1100" dirty="0"/>
          </a:p>
        </p:txBody>
      </p:sp>
      <p:sp>
        <p:nvSpPr>
          <p:cNvPr id="10" name="card-381"/>
          <p:cNvSpPr/>
          <p:nvPr/>
        </p:nvSpPr>
        <p:spPr>
          <a:xfrm>
            <a:off x="5084064" y="1371600"/>
            <a:ext cx="21945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-382"/>
          <p:cNvSpPr txBox="1"/>
          <p:nvPr/>
        </p:nvSpPr>
        <p:spPr>
          <a:xfrm>
            <a:off x="5248656" y="1481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Плательщик</a:t>
            </a:r>
            <a:endParaRPr lang="en-US" sz="1200" dirty="0"/>
          </a:p>
        </p:txBody>
      </p:sp>
      <p:sp>
        <p:nvSpPr>
          <p:cNvPr id="12" name="text-383"/>
          <p:cNvSpPr txBox="1"/>
          <p:nvPr/>
        </p:nvSpPr>
        <p:spPr>
          <a:xfrm>
            <a:off x="5248656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Жилец; в B2B2C — работодатель или агентство</a:t>
            </a:r>
            <a:endParaRPr lang="en-US" sz="1100" dirty="0"/>
          </a:p>
        </p:txBody>
      </p:sp>
      <p:sp>
        <p:nvSpPr>
          <p:cNvPr id="13" name="card-384"/>
          <p:cNvSpPr/>
          <p:nvPr/>
        </p:nvSpPr>
        <p:spPr>
          <a:xfrm>
            <a:off x="457200" y="2606040"/>
            <a:ext cx="6821424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-385"/>
          <p:cNvSpPr txBox="1"/>
          <p:nvPr/>
        </p:nvSpPr>
        <p:spPr>
          <a:xfrm>
            <a:off x="658368" y="2743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Источники дохода</a:t>
            </a:r>
            <a:endParaRPr lang="en-US" sz="1300" dirty="0"/>
          </a:p>
        </p:txBody>
      </p:sp>
      <p:sp>
        <p:nvSpPr>
          <p:cNvPr id="15" name="text-386"/>
          <p:cNvSpPr txBox="1"/>
          <p:nvPr/>
        </p:nvSpPr>
        <p:spPr>
          <a:xfrm>
            <a:off x="658368" y="306324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Взнос жильца ≈20% ставки в год (бенчмарк: полис «Самолёт Плюс» ≈1/5 ставки)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Кросс-продажа собственнику страхования квартиры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B2B2C: пакеты для HR-релокации и агентств</a:t>
            </a:r>
            <a:endParaRPr lang="en-US" sz="1150" dirty="0"/>
          </a:p>
        </p:txBody>
      </p:sp>
      <p:sp>
        <p:nvSpPr>
          <p:cNvPr id="16" name="text-387"/>
          <p:cNvSpPr txBox="1"/>
          <p:nvPr/>
        </p:nvSpPr>
        <p:spPr>
          <a:xfrm>
            <a:off x="3977640" y="2743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Основные затраты</a:t>
            </a:r>
            <a:endParaRPr lang="en-US" sz="1300" dirty="0"/>
          </a:p>
        </p:txBody>
      </p:sp>
      <p:sp>
        <p:nvSpPr>
          <p:cNvPr id="17" name="text-388"/>
          <p:cNvSpPr txBox="1"/>
          <p:nvPr/>
        </p:nvSpPr>
        <p:spPr>
          <a:xfrm>
            <a:off x="3977640" y="306324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Выплаты собственникам за вычетом регресса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Привлечение через площадки и агентства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Осмотры, эксперт по претензиям, поддержка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IT: бот, скоринг, интеграция с самоосмотром</a:t>
            </a:r>
            <a:endParaRPr lang="en-US" sz="1150" dirty="0"/>
          </a:p>
        </p:txBody>
      </p:sp>
      <p:sp>
        <p:nvSpPr>
          <p:cNvPr id="18" name="text-389"/>
          <p:cNvSpPr txBox="1"/>
          <p:nvPr/>
        </p:nvSpPr>
        <p:spPr>
          <a:xfrm>
            <a:off x="658368" y="5577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6"/>
                </a:solidFill>
              </a:rPr>
              <a:t>Главные драйверы экономики: частота претензий, средний ущерб и доля регресса.</a:t>
            </a:r>
            <a:endParaRPr lang="en-US" sz="1150" dirty="0"/>
          </a:p>
        </p:txBody>
      </p:sp>
      <p:sp>
        <p:nvSpPr>
          <p:cNvPr id="19" name="card-390"/>
          <p:cNvSpPr/>
          <p:nvPr/>
        </p:nvSpPr>
        <p:spPr>
          <a:xfrm>
            <a:off x="7543800" y="1371600"/>
            <a:ext cx="4187952" cy="4800600"/>
          </a:xfrm>
          <a:prstGeom prst="roundRect">
            <a:avLst>
              <a:gd name="adj" fmla="val 262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-391"/>
          <p:cNvSpPr txBox="1"/>
          <p:nvPr/>
        </p:nvSpPr>
        <p:spPr>
          <a:xfrm>
            <a:off x="7772400" y="15361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Юнит-экономика 1 полиса</a:t>
            </a:r>
            <a:endParaRPr lang="en-US" sz="1300" dirty="0"/>
          </a:p>
        </p:txBody>
      </p:sp>
      <p:sp>
        <p:nvSpPr>
          <p:cNvPr id="21" name="text-392"/>
          <p:cNvSpPr txBox="1"/>
          <p:nvPr/>
        </p:nvSpPr>
        <p:spPr>
          <a:xfrm>
            <a:off x="777240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bg1"/>
                </a:solidFill>
              </a:rPr>
              <a:t>Москва, ставка 72 тыс. ₽, все значения — допущения</a:t>
            </a:r>
            <a:endParaRPr lang="en-US" sz="1000" dirty="0"/>
          </a:p>
        </p:txBody>
      </p:sp>
      <p:sp>
        <p:nvSpPr>
          <p:cNvPr id="22" name="text-393"/>
          <p:cNvSpPr txBox="1"/>
          <p:nvPr/>
        </p:nvSpPr>
        <p:spPr>
          <a:xfrm>
            <a:off x="7772400" y="22860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Взнос жильца (20%)</a:t>
            </a:r>
            <a:endParaRPr lang="en-US" sz="1150" dirty="0"/>
          </a:p>
        </p:txBody>
      </p:sp>
      <p:sp>
        <p:nvSpPr>
          <p:cNvPr id="23" name="text-394"/>
          <p:cNvSpPr txBox="1"/>
          <p:nvPr/>
        </p:nvSpPr>
        <p:spPr>
          <a:xfrm>
            <a:off x="10332720" y="2286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+14,4</a:t>
            </a:r>
            <a:endParaRPr lang="en-US" sz="1250" dirty="0"/>
          </a:p>
        </p:txBody>
      </p:sp>
      <p:sp>
        <p:nvSpPr>
          <p:cNvPr id="24" name="text-395"/>
          <p:cNvSpPr txBox="1"/>
          <p:nvPr/>
        </p:nvSpPr>
        <p:spPr>
          <a:xfrm>
            <a:off x="7772400" y="2743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Выплаты: 20% × 36 тыс.</a:t>
            </a:r>
            <a:endParaRPr lang="en-US" sz="1150" dirty="0"/>
          </a:p>
        </p:txBody>
      </p:sp>
      <p:sp>
        <p:nvSpPr>
          <p:cNvPr id="25" name="text-396"/>
          <p:cNvSpPr txBox="1"/>
          <p:nvPr/>
        </p:nvSpPr>
        <p:spPr>
          <a:xfrm>
            <a:off x="10332720" y="27432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−7,2</a:t>
            </a:r>
            <a:endParaRPr lang="en-US" sz="1250" dirty="0"/>
          </a:p>
        </p:txBody>
      </p:sp>
      <p:sp>
        <p:nvSpPr>
          <p:cNvPr id="26" name="text-397"/>
          <p:cNvSpPr txBox="1"/>
          <p:nvPr/>
        </p:nvSpPr>
        <p:spPr>
          <a:xfrm>
            <a:off x="7772400" y="3200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Регресс к жильцам (30%)</a:t>
            </a:r>
            <a:endParaRPr lang="en-US" sz="1150" dirty="0"/>
          </a:p>
        </p:txBody>
      </p:sp>
      <p:sp>
        <p:nvSpPr>
          <p:cNvPr id="27" name="text-398"/>
          <p:cNvSpPr txBox="1"/>
          <p:nvPr/>
        </p:nvSpPr>
        <p:spPr>
          <a:xfrm>
            <a:off x="10332720" y="32004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+2,2</a:t>
            </a:r>
            <a:endParaRPr lang="en-US" sz="1250" dirty="0"/>
          </a:p>
        </p:txBody>
      </p:sp>
      <p:sp>
        <p:nvSpPr>
          <p:cNvPr id="28" name="text-399"/>
          <p:cNvSpPr txBox="1"/>
          <p:nvPr/>
        </p:nvSpPr>
        <p:spPr>
          <a:xfrm>
            <a:off x="7772400" y="36576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Привлечение</a:t>
            </a:r>
            <a:endParaRPr lang="en-US" sz="1150" dirty="0"/>
          </a:p>
        </p:txBody>
      </p:sp>
      <p:sp>
        <p:nvSpPr>
          <p:cNvPr id="29" name="text-400"/>
          <p:cNvSpPr txBox="1"/>
          <p:nvPr/>
        </p:nvSpPr>
        <p:spPr>
          <a:xfrm>
            <a:off x="10332720" y="36576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−2,5</a:t>
            </a:r>
            <a:endParaRPr lang="en-US" sz="1250" dirty="0"/>
          </a:p>
        </p:txBody>
      </p:sp>
      <p:sp>
        <p:nvSpPr>
          <p:cNvPr id="30" name="text-401"/>
          <p:cNvSpPr txBox="1"/>
          <p:nvPr/>
        </p:nvSpPr>
        <p:spPr>
          <a:xfrm>
            <a:off x="7772400" y="41148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Осмотры и урегулирование</a:t>
            </a:r>
            <a:endParaRPr lang="en-US" sz="1150" dirty="0"/>
          </a:p>
        </p:txBody>
      </p:sp>
      <p:sp>
        <p:nvSpPr>
          <p:cNvPr id="31" name="text-402"/>
          <p:cNvSpPr txBox="1"/>
          <p:nvPr/>
        </p:nvSpPr>
        <p:spPr>
          <a:xfrm>
            <a:off x="10332720" y="41148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−1,5</a:t>
            </a:r>
            <a:endParaRPr lang="en-US" sz="1250" dirty="0"/>
          </a:p>
        </p:txBody>
      </p:sp>
      <p:sp>
        <p:nvSpPr>
          <p:cNvPr id="32" name="text-403"/>
          <p:cNvSpPr txBox="1"/>
          <p:nvPr/>
        </p:nvSpPr>
        <p:spPr>
          <a:xfrm>
            <a:off x="7772400" y="45720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IT и сопровождение</a:t>
            </a:r>
            <a:endParaRPr lang="en-US" sz="1150" dirty="0"/>
          </a:p>
        </p:txBody>
      </p:sp>
      <p:sp>
        <p:nvSpPr>
          <p:cNvPr id="33" name="text-404"/>
          <p:cNvSpPr txBox="1"/>
          <p:nvPr/>
        </p:nvSpPr>
        <p:spPr>
          <a:xfrm>
            <a:off x="10332720" y="4572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−1,0</a:t>
            </a:r>
            <a:endParaRPr lang="en-US" sz="1250" dirty="0"/>
          </a:p>
        </p:txBody>
      </p:sp>
      <p:sp>
        <p:nvSpPr>
          <p:cNvPr id="34" name="rule-405"/>
          <p:cNvSpPr/>
          <p:nvPr/>
        </p:nvSpPr>
        <p:spPr>
          <a:xfrm>
            <a:off x="7772400" y="5074920"/>
            <a:ext cx="374904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5" name="text-406"/>
          <p:cNvSpPr txBox="1"/>
          <p:nvPr/>
        </p:nvSpPr>
        <p:spPr>
          <a:xfrm>
            <a:off x="7772400" y="5166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Маржинальный доход</a:t>
            </a:r>
            <a:endParaRPr lang="en-US" sz="1200" dirty="0"/>
          </a:p>
        </p:txBody>
      </p:sp>
      <p:sp>
        <p:nvSpPr>
          <p:cNvPr id="36" name="text-407"/>
          <p:cNvSpPr txBox="1"/>
          <p:nvPr/>
        </p:nvSpPr>
        <p:spPr>
          <a:xfrm>
            <a:off x="9784080" y="5166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+4,4 тыс. ₽</a:t>
            </a:r>
            <a:endParaRPr lang="en-US" sz="1500" dirty="0"/>
          </a:p>
        </p:txBody>
      </p:sp>
      <p:sp>
        <p:nvSpPr>
          <p:cNvPr id="37" name="text-408"/>
          <p:cNvSpPr txBox="1"/>
          <p:nvPr/>
        </p:nvSpPr>
        <p:spPr>
          <a:xfrm>
            <a:off x="7772400" y="5669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≈30% от взноса; убыточность ≈35%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286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ЭТАП 5 ИЗ 5 · БИЗНЕС-МОДЕЛЬ И ГИПОТЕЗЫ ДЛЯ ФИНАЛА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MVP: 3 месяца и 4,8 млн ₽</a:t>
            </a:r>
            <a:endParaRPr lang="en-US" sz="2400" dirty="0"/>
          </a:p>
        </p:txBody>
      </p:sp>
      <p:sp>
        <p:nvSpPr>
          <p:cNvPr id="4" name="card-409"/>
          <p:cNvSpPr/>
          <p:nvPr/>
        </p:nvSpPr>
        <p:spPr>
          <a:xfrm>
            <a:off x="457200" y="1371600"/>
            <a:ext cx="56692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-410"/>
          <p:cNvSpPr/>
          <p:nvPr/>
        </p:nvSpPr>
        <p:spPr>
          <a:xfrm>
            <a:off x="457200" y="1371600"/>
            <a:ext cx="123444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-411"/>
          <p:cNvSpPr txBox="1"/>
          <p:nvPr/>
        </p:nvSpPr>
        <p:spPr>
          <a:xfrm>
            <a:off x="457200" y="137160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Месяц 1</a:t>
            </a:r>
            <a:endParaRPr lang="en-US" sz="1200" dirty="0"/>
          </a:p>
        </p:txBody>
      </p:sp>
      <p:sp>
        <p:nvSpPr>
          <p:cNvPr id="7" name="text-412"/>
          <p:cNvSpPr txBox="1"/>
          <p:nvPr/>
        </p:nvSpPr>
        <p:spPr>
          <a:xfrm>
            <a:off x="1874520" y="1463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Запуск</a:t>
            </a:r>
            <a:endParaRPr lang="en-US" sz="1200" dirty="0"/>
          </a:p>
        </p:txBody>
      </p:sp>
      <p:sp>
        <p:nvSpPr>
          <p:cNvPr id="8" name="text-413"/>
          <p:cNvSpPr txBox="1"/>
          <p:nvPr/>
        </p:nvSpPr>
        <p:spPr>
          <a:xfrm>
            <a:off x="1874520" y="1737360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Правила: страхование финансового риска собственника с регрессом — на базе имущественных продуктов. Лендинг и Telegram-бот, ручной скоринг. Договоры с 3 агентствами.</a:t>
            </a:r>
            <a:endParaRPr lang="en-US" sz="1050" dirty="0"/>
          </a:p>
        </p:txBody>
      </p:sp>
      <p:sp>
        <p:nvSpPr>
          <p:cNvPr id="9" name="card-414"/>
          <p:cNvSpPr/>
          <p:nvPr/>
        </p:nvSpPr>
        <p:spPr>
          <a:xfrm>
            <a:off x="457200" y="2578608"/>
            <a:ext cx="56692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-415"/>
          <p:cNvSpPr/>
          <p:nvPr/>
        </p:nvSpPr>
        <p:spPr>
          <a:xfrm>
            <a:off x="457200" y="2578608"/>
            <a:ext cx="123444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-416"/>
          <p:cNvSpPr txBox="1"/>
          <p:nvPr/>
        </p:nvSpPr>
        <p:spPr>
          <a:xfrm>
            <a:off x="457200" y="2578608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Месяц 2</a:t>
            </a:r>
            <a:endParaRPr lang="en-US" sz="1200" dirty="0"/>
          </a:p>
        </p:txBody>
      </p:sp>
      <p:sp>
        <p:nvSpPr>
          <p:cNvPr id="12" name="text-417"/>
          <p:cNvSpPr txBox="1"/>
          <p:nvPr/>
        </p:nvSpPr>
        <p:spPr>
          <a:xfrm>
            <a:off x="1874520" y="2670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Пилот в Москве</a:t>
            </a:r>
            <a:endParaRPr lang="en-US" sz="1200" dirty="0"/>
          </a:p>
        </p:txBody>
      </p:sp>
      <p:sp>
        <p:nvSpPr>
          <p:cNvPr id="13" name="text-418"/>
          <p:cNvSpPr txBox="1"/>
          <p:nvPr/>
        </p:nvSpPr>
        <p:spPr>
          <a:xfrm>
            <a:off x="1874520" y="2944368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Цель — 100 полисов. Акт заезда через существующий самоосмотр. Тест оффера в объявлениях Авито и Циан.</a:t>
            </a:r>
            <a:endParaRPr lang="en-US" sz="1050" dirty="0"/>
          </a:p>
        </p:txBody>
      </p:sp>
      <p:sp>
        <p:nvSpPr>
          <p:cNvPr id="14" name="card-419"/>
          <p:cNvSpPr/>
          <p:nvPr/>
        </p:nvSpPr>
        <p:spPr>
          <a:xfrm>
            <a:off x="457200" y="3785616"/>
            <a:ext cx="56692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ard-420"/>
          <p:cNvSpPr/>
          <p:nvPr/>
        </p:nvSpPr>
        <p:spPr>
          <a:xfrm>
            <a:off x="457200" y="3785616"/>
            <a:ext cx="123444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-421"/>
          <p:cNvSpPr txBox="1"/>
          <p:nvPr/>
        </p:nvSpPr>
        <p:spPr>
          <a:xfrm>
            <a:off x="457200" y="3785616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Месяц 3</a:t>
            </a:r>
            <a:endParaRPr lang="en-US" sz="1200" dirty="0"/>
          </a:p>
        </p:txBody>
      </p:sp>
      <p:sp>
        <p:nvSpPr>
          <p:cNvPr id="17" name="text-422"/>
          <p:cNvSpPr txBox="1"/>
          <p:nvPr/>
        </p:nvSpPr>
        <p:spPr>
          <a:xfrm>
            <a:off x="1874520" y="38770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Замер</a:t>
            </a:r>
            <a:endParaRPr lang="en-US" sz="1200" dirty="0"/>
          </a:p>
        </p:txBody>
      </p:sp>
      <p:sp>
        <p:nvSpPr>
          <p:cNvPr id="18" name="text-423"/>
          <p:cNvSpPr txBox="1"/>
          <p:nvPr/>
        </p:nvSpPr>
        <p:spPr>
          <a:xfrm>
            <a:off x="1874520" y="4151376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Первые выезды и претензии, расчёт метрик, решение о масштабировании на Санкт-Петербург и миллионники.</a:t>
            </a:r>
            <a:endParaRPr lang="en-US" sz="1050" dirty="0"/>
          </a:p>
        </p:txBody>
      </p:sp>
      <p:sp>
        <p:nvSpPr>
          <p:cNvPr id="19" name="card-424"/>
          <p:cNvSpPr/>
          <p:nvPr/>
        </p:nvSpPr>
        <p:spPr>
          <a:xfrm>
            <a:off x="457200" y="5029200"/>
            <a:ext cx="5669280" cy="1143000"/>
          </a:xfrm>
          <a:prstGeom prst="roundRect">
            <a:avLst>
              <a:gd name="adj" fmla="val 96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-425"/>
          <p:cNvSpPr txBox="1"/>
          <p:nvPr/>
        </p:nvSpPr>
        <p:spPr>
          <a:xfrm>
            <a:off x="658368" y="51206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Метрики успеха MVP</a:t>
            </a:r>
            <a:endParaRPr lang="en-US" sz="1200" dirty="0"/>
          </a:p>
        </p:txBody>
      </p:sp>
      <p:sp>
        <p:nvSpPr>
          <p:cNvPr id="21" name="text-426"/>
          <p:cNvSpPr txBox="1"/>
          <p:nvPr/>
        </p:nvSpPr>
        <p:spPr>
          <a:xfrm>
            <a:off x="658368" y="5413248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≥40% собственников принимают ИнгоКлюч вместо депозита · ≥10% жильцов, увидевших оффер, оформляют · 100 полисов за 2 месяца · акт заезда ≤15 минут</a:t>
            </a:r>
            <a:endParaRPr lang="en-US" sz="1100" dirty="0"/>
          </a:p>
        </p:txBody>
      </p:sp>
      <p:sp>
        <p:nvSpPr>
          <p:cNvPr id="22" name="card-427"/>
          <p:cNvSpPr/>
          <p:nvPr/>
        </p:nvSpPr>
        <p:spPr>
          <a:xfrm>
            <a:off x="6400800" y="1371600"/>
            <a:ext cx="5330952" cy="48006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-428"/>
          <p:cNvSpPr txBox="1"/>
          <p:nvPr/>
        </p:nvSpPr>
        <p:spPr>
          <a:xfrm>
            <a:off x="6629400" y="1508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Бюджет MVP, млн ₽</a:t>
            </a:r>
            <a:endParaRPr lang="en-US" sz="13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6492240" y="1828800"/>
          <a:ext cx="51206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-429"/>
          <p:cNvSpPr txBox="1"/>
          <p:nvPr/>
        </p:nvSpPr>
        <p:spPr>
          <a:xfrm>
            <a:off x="6629400" y="55321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Итого 4,8 млн ₽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из лимита 5 млн; оценка команды. Скоринг и разбор претензий в MVP — вручную.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286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ЭТАП 5 ИЗ 5 · БИЗНЕС-МОДЕЛЬ И ГИПОТЕЗЫ ДЛЯ ФИНАЛА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5 гипотез, которые проверим в финале</a:t>
            </a:r>
            <a:endParaRPr lang="en-US" sz="2400" dirty="0"/>
          </a:p>
        </p:txBody>
      </p:sp>
      <p:graphicFrame>
        <p:nvGraphicFramePr>
          <p:cNvPr id="18" name="table-4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657600"/>
                <a:gridCol w="4206240"/>
                <a:gridCol w="2770632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Гипотеза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Как проверим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Критерий успеха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H1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Собственники примут гарантию Ингосстраха вместо денег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Тест оффера: 150 собственникам из объявлений пишем от лица жильца с сертификатом</a:t>
                      </a:r>
                      <a:endParaRPr lang="en-US" sz="110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≥40% согласий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H2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Жильцы готовы платить невозвратный взнос ≈20% ставки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Лендинг с ценой, A/B 15% / 20% / 25%, предзаказ</a:t>
                      </a:r>
                      <a:endParaRPr lang="en-US" sz="110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≥10% конверсии в заявку при 20%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H3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Претензий мало, и они небольшие — убыточность ≤40%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Данные агентств об удержании залогов + пилот 100 полисов</a:t>
                      </a:r>
                      <a:endParaRPr lang="en-US" sz="110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Частота ≤20%, средний ущерб ≤0,5 ставки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H4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Цифровой акт снижает число споров при выезде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Пилот против контрольной группы агентства</a:t>
                      </a:r>
                      <a:endParaRPr lang="en-US" sz="110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Споров в 2 раза меньше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H5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Агентства и площадки встроят оффер за комиссию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Переговоры с 5 агентствами и 1 площадкой</a:t>
                      </a:r>
                      <a:endParaRPr lang="en-US" sz="110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2 подписанных пилота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legend-431"/>
          <p:cNvSpPr/>
          <p:nvPr/>
        </p:nvSpPr>
        <p:spPr>
          <a:xfrm>
            <a:off x="457200" y="5806440"/>
            <a:ext cx="384048" cy="274320"/>
          </a:xfrm>
          <a:prstGeom prst="roundRect">
            <a:avLst>
              <a:gd name="adj" fmla="val 3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-432"/>
          <p:cNvSpPr txBox="1"/>
          <p:nvPr/>
        </p:nvSpPr>
        <p:spPr>
          <a:xfrm>
            <a:off x="960120" y="5715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Самые рискованные гипотезы: H1 (двусторонний рынок) и H3 (экономика). Их проверяем первыми — тест оффера можно провести за 2 недели без разработки.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Ответ на главный вопрос</a:t>
            </a:r>
            <a:endParaRPr lang="en-US" sz="3000" dirty="0"/>
          </a:p>
        </p:txBody>
      </p:sp>
      <p:sp>
        <p:nvSpPr>
          <p:cNvPr id="3" name="text-433"/>
          <p:cNvSpPr txBox="1"/>
          <p:nvPr/>
        </p:nvSpPr>
        <p:spPr>
          <a:xfrm>
            <a:off x="502920" y="1234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Да: доказательств достаточно, чтобы инвестировать в дальнейшее исследование и проверку ИнгоКлюча</a:t>
            </a:r>
            <a:endParaRPr lang="en-US" sz="1700" dirty="0"/>
          </a:p>
        </p:txBody>
      </p:sp>
      <p:sp>
        <p:nvSpPr>
          <p:cNvPr id="4" name="card-434"/>
          <p:cNvSpPr/>
          <p:nvPr/>
        </p:nvSpPr>
        <p:spPr>
          <a:xfrm>
            <a:off x="502920" y="210312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-435"/>
          <p:cNvSpPr txBox="1"/>
          <p:nvPr/>
        </p:nvSpPr>
        <p:spPr>
          <a:xfrm>
            <a:off x="704088" y="2267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-436"/>
          <p:cNvSpPr txBox="1"/>
          <p:nvPr/>
        </p:nvSpPr>
        <p:spPr>
          <a:xfrm>
            <a:off x="704088" y="2788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Проблема массовая и усиливается</a:t>
            </a:r>
            <a:endParaRPr lang="en-US" sz="1250" dirty="0"/>
          </a:p>
        </p:txBody>
      </p:sp>
      <p:sp>
        <p:nvSpPr>
          <p:cNvPr id="7" name="text-437"/>
          <p:cNvSpPr txBox="1"/>
          <p:nvPr/>
        </p:nvSpPr>
        <p:spPr>
          <a:xfrm>
            <a:off x="704088" y="3456432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5,8 млн семей-арендаторов, депозит в 97% объявлений, его размер вырос с 37% до 67% ставки за пять лет.</a:t>
            </a:r>
            <a:endParaRPr lang="en-US" sz="1100" dirty="0"/>
          </a:p>
        </p:txBody>
      </p:sp>
      <p:sp>
        <p:nvSpPr>
          <p:cNvPr id="8" name="card-438"/>
          <p:cNvSpPr/>
          <p:nvPr/>
        </p:nvSpPr>
        <p:spPr>
          <a:xfrm>
            <a:off x="3246120" y="210312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-439"/>
          <p:cNvSpPr txBox="1"/>
          <p:nvPr/>
        </p:nvSpPr>
        <p:spPr>
          <a:xfrm>
            <a:off x="3447288" y="2267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-440"/>
          <p:cNvSpPr txBox="1"/>
          <p:nvPr/>
        </p:nvSpPr>
        <p:spPr>
          <a:xfrm>
            <a:off x="3447288" y="2788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Рынок уже платит за замену депозита</a:t>
            </a:r>
            <a:endParaRPr lang="en-US" sz="1250" dirty="0"/>
          </a:p>
        </p:txBody>
      </p:sp>
      <p:sp>
        <p:nvSpPr>
          <p:cNvPr id="11" name="text-441"/>
          <p:cNvSpPr txBox="1"/>
          <p:nvPr/>
        </p:nvSpPr>
        <p:spPr>
          <a:xfrm>
            <a:off x="3447288" y="3456432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Яндекс Аренда, ПИК-Аренда, «Самолёт Плюс» — но только в своих сетях. Прямые сделки свободны.</a:t>
            </a:r>
            <a:endParaRPr lang="en-US" sz="1100" dirty="0"/>
          </a:p>
        </p:txBody>
      </p:sp>
      <p:sp>
        <p:nvSpPr>
          <p:cNvPr id="12" name="card-442"/>
          <p:cNvSpPr/>
          <p:nvPr/>
        </p:nvSpPr>
        <p:spPr>
          <a:xfrm>
            <a:off x="5989320" y="210312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-443"/>
          <p:cNvSpPr txBox="1"/>
          <p:nvPr/>
        </p:nvSpPr>
        <p:spPr>
          <a:xfrm>
            <a:off x="6190488" y="2267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-444"/>
          <p:cNvSpPr txBox="1"/>
          <p:nvPr/>
        </p:nvSpPr>
        <p:spPr>
          <a:xfrm>
            <a:off x="6190488" y="2788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У Ингосстраха готовые активы</a:t>
            </a:r>
            <a:endParaRPr lang="en-US" sz="1250" dirty="0"/>
          </a:p>
        </p:txBody>
      </p:sp>
      <p:sp>
        <p:nvSpPr>
          <p:cNvPr id="15" name="text-445"/>
          <p:cNvSpPr txBox="1"/>
          <p:nvPr/>
        </p:nvSpPr>
        <p:spPr>
          <a:xfrm>
            <a:off x="6190488" y="3456432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Самоосмотр, урегулирование, бренд ruAAA → MVP за 3 месяца и 4,8 млн ₽.</a:t>
            </a:r>
            <a:endParaRPr lang="en-US" sz="1100" dirty="0"/>
          </a:p>
        </p:txBody>
      </p:sp>
      <p:sp>
        <p:nvSpPr>
          <p:cNvPr id="16" name="text-446"/>
          <p:cNvSpPr txBox="1"/>
          <p:nvPr/>
        </p:nvSpPr>
        <p:spPr>
          <a:xfrm>
            <a:off x="502920" y="5120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Остановимся, если:</a:t>
            </a:r>
            <a:endParaRPr lang="en-US" sz="1300" dirty="0"/>
          </a:p>
        </p:txBody>
      </p:sp>
      <p:sp>
        <p:nvSpPr>
          <p:cNvPr id="17" name="text-447"/>
          <p:cNvSpPr txBox="1"/>
          <p:nvPr/>
        </p:nvSpPr>
        <p:spPr>
          <a:xfrm>
            <a:off x="502920" y="54406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меньше 25% собственников принимают гарантию · убыточность пилота выше 60% · конверсия жильцов ниже 5%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286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КОМАНДА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Команда и зоны ответственности</a:t>
            </a:r>
            <a:endParaRPr lang="en-US" sz="2400" dirty="0"/>
          </a:p>
        </p:txBody>
      </p:sp>
      <p:sp>
        <p:nvSpPr>
          <p:cNvPr id="4" name="card-448"/>
          <p:cNvSpPr/>
          <p:nvPr/>
        </p:nvSpPr>
        <p:spPr>
          <a:xfrm>
            <a:off x="457200" y="1371600"/>
            <a:ext cx="2697480" cy="420624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bg-449"/>
          <p:cNvSpPr/>
          <p:nvPr/>
        </p:nvSpPr>
        <p:spPr>
          <a:xfrm>
            <a:off x="685800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45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1741018"/>
            <a:ext cx="358445" cy="358445"/>
          </a:xfrm>
          <a:prstGeom prst="rect">
            <a:avLst/>
          </a:prstGeom>
        </p:spPr>
      </p:pic>
      <p:sp>
        <p:nvSpPr>
          <p:cNvPr id="7" name="todo-451"/>
          <p:cNvSpPr/>
          <p:nvPr/>
        </p:nvSpPr>
        <p:spPr>
          <a:xfrm>
            <a:off x="685800" y="2468880"/>
            <a:ext cx="2240280" cy="457200"/>
          </a:xfrm>
          <a:prstGeom prst="roundRect">
            <a:avLst>
              <a:gd name="adj" fmla="val 16000"/>
            </a:avLst>
          </a:prstGeom>
          <a:solidFill>
            <a:schemeClr val="accent2">
              <a:alpha val="65000"/>
            </a:schemeClr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8" name="text-452"/>
          <p:cNvSpPr txBox="1"/>
          <p:nvPr/>
        </p:nvSpPr>
        <p:spPr>
          <a:xfrm>
            <a:off x="795528" y="2468880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[Имя Фамилия]</a:t>
            </a:r>
            <a:endParaRPr lang="en-US" sz="1200" dirty="0"/>
          </a:p>
        </p:txBody>
      </p:sp>
      <p:sp>
        <p:nvSpPr>
          <p:cNvPr id="9" name="text-453"/>
          <p:cNvSpPr txBox="1"/>
          <p:nvPr/>
        </p:nvSpPr>
        <p:spPr>
          <a:xfrm>
            <a:off x="685800" y="3017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[курс, вуз]</a:t>
            </a:r>
            <a:endParaRPr lang="en-US" sz="1050" dirty="0"/>
          </a:p>
        </p:txBody>
      </p:sp>
      <p:sp>
        <p:nvSpPr>
          <p:cNvPr id="10" name="text-454"/>
          <p:cNvSpPr txBox="1"/>
          <p:nvPr/>
        </p:nvSpPr>
        <p:spPr>
          <a:xfrm>
            <a:off x="685800" y="3429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Исследования</a:t>
            </a:r>
            <a:endParaRPr lang="en-US" sz="1300" dirty="0"/>
          </a:p>
        </p:txBody>
      </p:sp>
      <p:sp>
        <p:nvSpPr>
          <p:cNvPr id="11" name="text-455"/>
          <p:cNvSpPr txBox="1"/>
          <p:nvPr/>
        </p:nvSpPr>
        <p:spPr>
          <a:xfrm>
            <a:off x="685800" y="40233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Интервью с арендаторами и собственниками, опрос, тест оффера</a:t>
            </a:r>
            <a:endParaRPr lang="en-US" sz="1150" dirty="0"/>
          </a:p>
        </p:txBody>
      </p:sp>
      <p:sp>
        <p:nvSpPr>
          <p:cNvPr id="12" name="card-456"/>
          <p:cNvSpPr/>
          <p:nvPr/>
        </p:nvSpPr>
        <p:spPr>
          <a:xfrm>
            <a:off x="3300984" y="1371600"/>
            <a:ext cx="2697480" cy="420624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iconbg-457"/>
          <p:cNvSpPr/>
          <p:nvPr/>
        </p:nvSpPr>
        <p:spPr>
          <a:xfrm>
            <a:off x="3529584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-45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402" y="1741018"/>
            <a:ext cx="358445" cy="358445"/>
          </a:xfrm>
          <a:prstGeom prst="rect">
            <a:avLst/>
          </a:prstGeom>
        </p:spPr>
      </p:pic>
      <p:sp>
        <p:nvSpPr>
          <p:cNvPr id="15" name="todo-459"/>
          <p:cNvSpPr/>
          <p:nvPr/>
        </p:nvSpPr>
        <p:spPr>
          <a:xfrm>
            <a:off x="3529584" y="2468880"/>
            <a:ext cx="2240280" cy="457200"/>
          </a:xfrm>
          <a:prstGeom prst="roundRect">
            <a:avLst>
              <a:gd name="adj" fmla="val 16000"/>
            </a:avLst>
          </a:prstGeom>
          <a:solidFill>
            <a:schemeClr val="accent2">
              <a:alpha val="65000"/>
            </a:schemeClr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16" name="text-460"/>
          <p:cNvSpPr txBox="1"/>
          <p:nvPr/>
        </p:nvSpPr>
        <p:spPr>
          <a:xfrm>
            <a:off x="3639312" y="2468880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[Имя Фамилия]</a:t>
            </a:r>
            <a:endParaRPr lang="en-US" sz="1200" dirty="0"/>
          </a:p>
        </p:txBody>
      </p:sp>
      <p:sp>
        <p:nvSpPr>
          <p:cNvPr id="17" name="text-461"/>
          <p:cNvSpPr txBox="1"/>
          <p:nvPr/>
        </p:nvSpPr>
        <p:spPr>
          <a:xfrm>
            <a:off x="3529584" y="3017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[курс, вуз]</a:t>
            </a:r>
            <a:endParaRPr lang="en-US" sz="1050" dirty="0"/>
          </a:p>
        </p:txBody>
      </p:sp>
      <p:sp>
        <p:nvSpPr>
          <p:cNvPr id="18" name="text-462"/>
          <p:cNvSpPr txBox="1"/>
          <p:nvPr/>
        </p:nvSpPr>
        <p:spPr>
          <a:xfrm>
            <a:off x="3529584" y="3429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Рынок и экономика</a:t>
            </a:r>
            <a:endParaRPr lang="en-US" sz="1300" dirty="0"/>
          </a:p>
        </p:txBody>
      </p:sp>
      <p:sp>
        <p:nvSpPr>
          <p:cNvPr id="19" name="text-463"/>
          <p:cNvSpPr txBox="1"/>
          <p:nvPr/>
        </p:nvSpPr>
        <p:spPr>
          <a:xfrm>
            <a:off x="3529584" y="40233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Размер возможности, юнит-экономика, бюджет MVP</a:t>
            </a:r>
            <a:endParaRPr lang="en-US" sz="1150" dirty="0"/>
          </a:p>
        </p:txBody>
      </p:sp>
      <p:sp>
        <p:nvSpPr>
          <p:cNvPr id="20" name="card-464"/>
          <p:cNvSpPr/>
          <p:nvPr/>
        </p:nvSpPr>
        <p:spPr>
          <a:xfrm>
            <a:off x="6144768" y="1371600"/>
            <a:ext cx="2697480" cy="420624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iconbg-465"/>
          <p:cNvSpPr/>
          <p:nvPr/>
        </p:nvSpPr>
        <p:spPr>
          <a:xfrm>
            <a:off x="6373368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con-46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4186" y="1741018"/>
            <a:ext cx="358445" cy="358445"/>
          </a:xfrm>
          <a:prstGeom prst="rect">
            <a:avLst/>
          </a:prstGeom>
        </p:spPr>
      </p:pic>
      <p:sp>
        <p:nvSpPr>
          <p:cNvPr id="23" name="todo-467"/>
          <p:cNvSpPr/>
          <p:nvPr/>
        </p:nvSpPr>
        <p:spPr>
          <a:xfrm>
            <a:off x="6373368" y="2468880"/>
            <a:ext cx="2240280" cy="457200"/>
          </a:xfrm>
          <a:prstGeom prst="roundRect">
            <a:avLst>
              <a:gd name="adj" fmla="val 16000"/>
            </a:avLst>
          </a:prstGeom>
          <a:solidFill>
            <a:schemeClr val="accent2">
              <a:alpha val="65000"/>
            </a:schemeClr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24" name="text-468"/>
          <p:cNvSpPr txBox="1"/>
          <p:nvPr/>
        </p:nvSpPr>
        <p:spPr>
          <a:xfrm>
            <a:off x="6483096" y="2468880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[Имя Фамилия]</a:t>
            </a:r>
            <a:endParaRPr lang="en-US" sz="1200" dirty="0"/>
          </a:p>
        </p:txBody>
      </p:sp>
      <p:sp>
        <p:nvSpPr>
          <p:cNvPr id="25" name="text-469"/>
          <p:cNvSpPr txBox="1"/>
          <p:nvPr/>
        </p:nvSpPr>
        <p:spPr>
          <a:xfrm>
            <a:off x="6373368" y="3017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[курс, вуз]</a:t>
            </a:r>
            <a:endParaRPr lang="en-US" sz="1050" dirty="0"/>
          </a:p>
        </p:txBody>
      </p:sp>
      <p:sp>
        <p:nvSpPr>
          <p:cNvPr id="26" name="text-470"/>
          <p:cNvSpPr txBox="1"/>
          <p:nvPr/>
        </p:nvSpPr>
        <p:spPr>
          <a:xfrm>
            <a:off x="6373368" y="3429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Продукт</a:t>
            </a:r>
            <a:endParaRPr lang="en-US" sz="1300" dirty="0"/>
          </a:p>
        </p:txBody>
      </p:sp>
      <p:sp>
        <p:nvSpPr>
          <p:cNvPr id="27" name="text-471"/>
          <p:cNvSpPr txBox="1"/>
          <p:nvPr/>
        </p:nvSpPr>
        <p:spPr>
          <a:xfrm>
            <a:off x="6373368" y="40233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Ценностное предложение, сценарий, гипотезы для финала</a:t>
            </a:r>
            <a:endParaRPr lang="en-US" sz="1150" dirty="0"/>
          </a:p>
        </p:txBody>
      </p:sp>
      <p:sp>
        <p:nvSpPr>
          <p:cNvPr id="28" name="card-472"/>
          <p:cNvSpPr/>
          <p:nvPr/>
        </p:nvSpPr>
        <p:spPr>
          <a:xfrm>
            <a:off x="8988552" y="1371600"/>
            <a:ext cx="2697480" cy="420624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iconbg-473"/>
          <p:cNvSpPr/>
          <p:nvPr/>
        </p:nvSpPr>
        <p:spPr>
          <a:xfrm>
            <a:off x="9217152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con-47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7970" y="1741018"/>
            <a:ext cx="358445" cy="358445"/>
          </a:xfrm>
          <a:prstGeom prst="rect">
            <a:avLst/>
          </a:prstGeom>
        </p:spPr>
      </p:pic>
      <p:sp>
        <p:nvSpPr>
          <p:cNvPr id="31" name="todo-475"/>
          <p:cNvSpPr/>
          <p:nvPr/>
        </p:nvSpPr>
        <p:spPr>
          <a:xfrm>
            <a:off x="9217152" y="2468880"/>
            <a:ext cx="2240280" cy="457200"/>
          </a:xfrm>
          <a:prstGeom prst="roundRect">
            <a:avLst>
              <a:gd name="adj" fmla="val 16000"/>
            </a:avLst>
          </a:prstGeom>
          <a:solidFill>
            <a:schemeClr val="accent2">
              <a:alpha val="65000"/>
            </a:schemeClr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32" name="text-476"/>
          <p:cNvSpPr txBox="1"/>
          <p:nvPr/>
        </p:nvSpPr>
        <p:spPr>
          <a:xfrm>
            <a:off x="9326880" y="2468880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[Имя Фамилия]</a:t>
            </a:r>
            <a:endParaRPr lang="en-US" sz="1200" dirty="0"/>
          </a:p>
        </p:txBody>
      </p:sp>
      <p:sp>
        <p:nvSpPr>
          <p:cNvPr id="33" name="text-477"/>
          <p:cNvSpPr txBox="1"/>
          <p:nvPr/>
        </p:nvSpPr>
        <p:spPr>
          <a:xfrm>
            <a:off x="9217152" y="3017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[курс, вуз]</a:t>
            </a:r>
            <a:endParaRPr lang="en-US" sz="1050" dirty="0"/>
          </a:p>
        </p:txBody>
      </p:sp>
      <p:sp>
        <p:nvSpPr>
          <p:cNvPr id="34" name="text-478"/>
          <p:cNvSpPr txBox="1"/>
          <p:nvPr/>
        </p:nvSpPr>
        <p:spPr>
          <a:xfrm>
            <a:off x="9217152" y="3429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Презентация и альтернативы</a:t>
            </a:r>
            <a:endParaRPr lang="en-US" sz="1300" dirty="0"/>
          </a:p>
        </p:txBody>
      </p:sp>
      <p:sp>
        <p:nvSpPr>
          <p:cNvPr id="35" name="text-479"/>
          <p:cNvSpPr txBox="1"/>
          <p:nvPr/>
        </p:nvSpPr>
        <p:spPr>
          <a:xfrm>
            <a:off x="9217152" y="40233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Карта альтернатив, позиционирование, сторителлинг</a:t>
            </a:r>
            <a:endParaRPr lang="en-US" sz="1150" dirty="0"/>
          </a:p>
        </p:txBody>
      </p:sp>
      <p:sp>
        <p:nvSpPr>
          <p:cNvPr id="36" name="text-480"/>
          <p:cNvSpPr txBox="1"/>
          <p:nvPr/>
        </p:nvSpPr>
        <p:spPr>
          <a:xfrm>
            <a:off x="457200" y="5806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4"/>
                </a:solidFill>
              </a:rPr>
              <a:t>Распределение ролей — предложение; замените на фактический вклад каждого участника.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286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ПРИЛОЖЕНИЕ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Источники</a:t>
            </a:r>
            <a:endParaRPr lang="en-US" sz="2400" dirty="0"/>
          </a:p>
        </p:txBody>
      </p:sp>
      <p:sp>
        <p:nvSpPr>
          <p:cNvPr id="4" name="text-481"/>
          <p:cNvSpPr txBox="1"/>
          <p:nvPr/>
        </p:nvSpPr>
        <p:spPr>
          <a:xfrm>
            <a:off x="457200" y="1371600"/>
            <a:ext cx="112471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chemeClr val="tx1"/>
                </a:solidFill>
              </a:rPr>
              <a:t>ДОМ.РФ: 5,8 млн семей снимают жильё на рыночных условиях (2025) — Коммерсантъ, Т—Ж, 2025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chemeClr val="tx1"/>
                </a:solidFill>
              </a:rPr>
              <a:t>ЦИАН: депозит в 97% объявлений, 67% месячной ставки (ноябрь 2025) — Газета.Ru / Mail.ru Финансы, m24.ru, 20.01.2026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chemeClr val="tx1"/>
                </a:solidFill>
              </a:rPr>
              <a:t>ДОМ.РФ и ВЦИОМ: 46% снимали без договора, 85% готовы оформлять официально — РБК Недвижимость, 2023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chemeClr val="tx1"/>
                </a:solidFill>
              </a:rPr>
              <a:t>ЦИАН: средняя ставка аренды однушки в Москве 72 тыс. ₽ — VBR, ноябрь 2024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chemeClr val="tx1"/>
                </a:solidFill>
              </a:rPr>
              <a:t>До 25% залогов не возвращается без объективной причины — РБК Недвижимость, 05.02.2019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chemeClr val="tx1"/>
                </a:solidFill>
              </a:rPr>
              <a:t>Доля объявлений без комиссии 54% — Inc. Russia, «В России вырос интерес к аренде квартир напрямую у собственников»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chemeClr val="tx1"/>
                </a:solidFill>
              </a:rPr>
              <a:t>F6: более 1000 пострадавших от фейковой аренды с марта 2025 — Мирквартир, 07.05.2025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chemeClr val="tx1"/>
                </a:solidFill>
              </a:rPr>
              <a:t>Ингосстрах: самоосмотр квартир онлайн в IngoMobile — ComNews, 26.07.2018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chemeClr val="tx1"/>
                </a:solidFill>
              </a:rPr>
              <a:t>Яндекс Аренда: без залога, комиссия 5% ставки — РБК Недвижимость, 2021; Москвич Mag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chemeClr val="tx1"/>
                </a:solidFill>
              </a:rPr>
              <a:t>«Самолёт Плюс»: полис на 11 месяцев ≈1/5 ставки вместо депозита — CNews, ComNews, 23.07.2026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chemeClr val="tx1"/>
                </a:solidFill>
              </a:rPr>
              <a:t>ПИК-Аренда и АльфаСтрахование: страховка вместо залога — InFullBroker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chemeClr val="tx1"/>
                </a:solidFill>
              </a:rPr>
              <a:t>Зарубежный аналог: Zero Deposit (Великобритания), взнос ≈ недельной ставки, андеррайтер — группа Munich Re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ИнгоКлюч</a:t>
            </a:r>
            <a:endParaRPr lang="en-US" sz="3000" dirty="0"/>
          </a:p>
        </p:txBody>
      </p:sp>
      <p:sp>
        <p:nvSpPr>
          <p:cNvPr id="3" name="text-482"/>
          <p:cNvSpPr txBox="1"/>
          <p:nvPr/>
        </p:nvSpPr>
        <p:spPr>
          <a:xfrm>
            <a:off x="502920" y="1600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Ингосстрах ручается за жильца</a:t>
            </a:r>
            <a:endParaRPr lang="en-US" sz="2400" dirty="0"/>
          </a:p>
        </p:txBody>
      </p:sp>
      <p:sp>
        <p:nvSpPr>
          <p:cNvPr id="4" name="text-483"/>
          <p:cNvSpPr txBox="1"/>
          <p:nvPr/>
        </p:nvSpPr>
        <p:spPr>
          <a:xfrm>
            <a:off x="502920" y="2240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Заезжайте без залога — выезжайте без спора</a:t>
            </a:r>
            <a:endParaRPr lang="en-US" sz="1500" dirty="0"/>
          </a:p>
        </p:txBody>
      </p:sp>
      <p:sp>
        <p:nvSpPr>
          <p:cNvPr id="5" name="text-484"/>
          <p:cNvSpPr txBox="1"/>
          <p:nvPr/>
        </p:nvSpPr>
        <p:spPr>
          <a:xfrm>
            <a:off x="502920" y="5120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</a:rPr>
              <a:t>Команда: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«[название команды]»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</a:rPr>
              <a:t>Контакт: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[Telegram / e-mail капитана]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GOSIGHT IngoKey">
  <a:themeElements>
    <a:clrScheme name="INGOSIGHT IngoKey">
      <a:dk1>
        <a:srgbClr val="1B1F3B"/>
      </a:dk1>
      <a:lt1>
        <a:srgbClr val="FFFFFF"/>
      </a:lt1>
      <a:dk2>
        <a:srgbClr val="0040C0"/>
      </a:dk2>
      <a:lt2>
        <a:srgbClr val="EFF6FB"/>
      </a:lt2>
      <a:accent1>
        <a:srgbClr val="0040C0"/>
      </a:accent1>
      <a:accent2>
        <a:srgbClr val="B7FE1D"/>
      </a:accent2>
      <a:accent3>
        <a:srgbClr val="1E9BE8"/>
      </a:accent3>
      <a:accent4>
        <a:srgbClr val="5A6478"/>
      </a:accent4>
      <a:accent5>
        <a:srgbClr val="D6E6F7"/>
      </a:accent5>
      <a:accent6>
        <a:srgbClr val="FF5A36"/>
      </a:accent6>
      <a:hlink>
        <a:srgbClr val="0040C0"/>
      </a:hlink>
      <a:folHlink>
        <a:srgbClr val="5A6478"/>
      </a:folHlink>
    </a:clrScheme>
    <a:fontScheme name="INGOSIGHT IngoKey">
      <a:majorFont>
        <a:latin typeface="Unbound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ИнгоКлюч — INGOSIGHT 2026</dc:title>
  <dc:subject>PptxGenJS Presentation</dc:subject>
  <dc:creator>Команда INGOSIGHT 2026</dc:creator>
  <cp:lastModifiedBy>Команда INGOSIGHT 2026</cp:lastModifiedBy>
  <cp:revision>1</cp:revision>
  <dcterms:created xsi:type="dcterms:W3CDTF">2026-10-25T16:50:05Z</dcterms:created>
  <dcterms:modified xsi:type="dcterms:W3CDTF">2026-10-25T16:50:05Z</dcterms:modified>
</cp:coreProperties>
</file>
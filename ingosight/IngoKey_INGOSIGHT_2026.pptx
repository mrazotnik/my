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5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3706ff65-30a5-75c2-2d0f-93055dde2a0c}">
          <p14:sldIdLst>
            <p14:sldId id="256"/>
            <p14:sldId id="257"/>
            <p14:sldId id="258"/>
          </p14:sldIdLst>
        </p14:section>
        <p14:section name="Сегмент и задача" id="{03349e35-6f3e-3760-aa49-ed18c5e7a910}">
          <p14:sldIdLst>
            <p14:sldId id="259"/>
            <p14:sldId id="260"/>
          </p14:sldIdLst>
        </p14:section>
        <p14:section name="Подтверждение проблемы" id="{5e982be9-8567-866f-0b63-b60a1a01f734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Альтернативы и привлекательность" id="{c3b67157-35f4-c4ec-03aa-e1e95d047b1f}">
          <p14:sldIdLst>
            <p14:sldId id="267"/>
            <p14:sldId id="268"/>
            <p14:sldId id="269"/>
            <p14:sldId id="270"/>
          </p14:sldIdLst>
        </p14:section>
        <p14:section name="Решение" id="{239e30c0-a5c5-0271-e7b7-4989b056dae8}">
          <p14:sldIdLst>
            <p14:sldId id="271"/>
            <p14:sldId id="272"/>
            <p14:sldId id="273"/>
            <p14:sldId id="274"/>
          </p14:sldIdLst>
        </p14:section>
        <p14:section name="Бизнес-модель и финал" id="{58041a8b-d026-50cc-a73f-5df05ca558cf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Ставка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
71,2</c:v>
                  </c:pt>
                  <c:pt idx="1">
                    <c:v>Санкт-
Петербург
45,6</c:v>
                  </c:pt>
                  <c:pt idx="2">
                    <c:v>38 крупных
городов
29,7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71.2</c:v>
                </c:pt>
                <c:pt idx="1">
                  <c:v>45.6</c:v>
                </c:pt>
                <c:pt idx="2">
                  <c:v>29.7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40C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Депозит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0040C0"/>
                    </a:solidFill>
                    <a:latin typeface="+mj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5 лет назад</c:v>
                  </c:pt>
                  <c:pt idx="1">
                    <c:v>3 года назад</c:v>
                  </c:pt>
                  <c:pt idx="2">
                    <c:v>ноябрь 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</c:v>
                </c:pt>
                <c:pt idx="1">
                  <c:v>50</c:v>
                </c:pt>
                <c:pt idx="2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600" u="none">
                  <a:solidFill>
                    <a:srgbClr val="0040C0"/>
                  </a:solidFill>
                  <a:latin typeface="+mj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Без комиссии</c:v>
                </c:pt>
              </c:strCache>
            </c:strRef>
          </c:tx>
          <c:spPr>
            <a:solidFill>
              <a:srgbClr val="1E9BE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139.9</c:v>
                </c:pt>
                <c:pt idx="1">
                  <c:v>89.8</c:v>
                </c:pt>
                <c:pt idx="2">
                  <c:v>49.6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Комиссия 50%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175.4</c:v>
                </c:pt>
                <c:pt idx="1">
                  <c:v>112.6</c:v>
                </c:pt>
                <c:pt idx="2">
                  <c:v>64.4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Комиссия 100%</c:v>
                </c:pt>
              </c:strCache>
            </c:strRef>
          </c:tx>
          <c:spPr>
            <a:solidFill>
              <a:srgbClr val="1B1F3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Москва</c:v>
                  </c:pt>
                  <c:pt idx="1">
                    <c:v>Санкт-Петербург</c:v>
                  </c:pt>
                  <c:pt idx="2">
                    <c:v>38 крупных городов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210.9</c:v>
                </c:pt>
                <c:pt idx="1">
                  <c:v>135.4</c:v>
                </c:pt>
                <c:pt idx="2">
                  <c:v>79.3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47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Истории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040C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Ущерб и грязь после жильцов</c:v>
                  </c:pt>
                  <c:pt idx="1">
                    <c:v>Удержали залог за досрочный выезд</c:v>
                  </c:pt>
                  <c:pt idx="2">
                    <c:v>Выплата по гарантии занижена</c:v>
                  </c:pt>
                  <c:pt idx="3">
                    <c:v>Сервис не разбирает споры</c:v>
                  </c:pt>
                  <c:pt idx="4">
                    <c:v>Без залога значит скрытая плата</c:v>
                  </c:pt>
                  <c:pt idx="5">
                    <c:v>Акт сервиса не защитил</c:v>
                  </c:pt>
                  <c:pt idx="6">
                    <c:v>Сами снимают фото и пишут расписки</c:v>
                  </c:pt>
                  <c:pt idx="7">
                    <c:v>Спорные претензии при выезде</c:v>
                  </c:pt>
                  <c:pt idx="8">
                    <c:v>Тяжелый платеж при заезде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9</c:v>
                </c:pt>
                <c:pt idx="8">
                  <c:v>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100" u="none">
                  <a:solidFill>
                    <a:srgbClr val="0040C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1F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</c:v>
                </c:pt>
              </c:strCache>
            </c:strRef>
          </c:tx>
          <c:spPr>
            <a:solidFill>
              <a:srgbClr val="0040C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Юристы и актуарии - 0,6</c:v>
                  </c:pt>
                  <c:pt idx="1">
                    <c:v>Лендинг, бот, интеграция - 1,2</c:v>
                  </c:pt>
                  <c:pt idx="2">
                    <c:v>Тест-маркетинг, партнеры - 1,0</c:v>
                  </c:pt>
                  <c:pt idx="3">
                    <c:v>Эксперт и поддержка - 0,7</c:v>
                  </c:pt>
                  <c:pt idx="4">
                    <c:v>Резерв под выплаты - 1,0</c:v>
                  </c:pt>
                  <c:pt idx="5">
                    <c:v>Анализ данных пилота - 0,3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1.2</c:v>
                </c:pt>
                <c:pt idx="2">
                  <c:v>1</c:v>
                </c:pt>
                <c:pt idx="3">
                  <c:v>0.7</c:v>
                </c:pt>
                <c:pt idx="4">
                  <c:v>1</c:v>
                </c:pt>
                <c:pt idx="5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1F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11880"/>
            <a:ext cx="74980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572000"/>
            <a:ext cx="7315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78240" y="201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chemeClr val="accent1"/>
                </a:solidFill>
              </a:rPr>
              <a:t>INGOSIGHT 2026 · ИНГОКЛЮЧ</a:t>
            </a:r>
            <a:endParaRPr lang="en-US" sz="800" dirty="0"/>
          </a:p>
        </p:txBody>
      </p:sp>
      <p:pic>
        <p:nvPicPr>
          <p:cNvPr id="3" name="Image 0" descr="/tmp/claude-0/-home-user-my/7151b996-ac25-582f-ad95-91de1a331b55/scratchpad/asse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2" y="128016"/>
            <a:ext cx="292608" cy="329184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9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36118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ИнгоКлюч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57200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Заезд без залога: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Ингосстрах ручается за жильца</a:t>
            </a:r>
            <a:endParaRPr lang="en-US" sz="2000" dirty="0"/>
          </a:p>
        </p:txBody>
      </p:sp>
      <p:sp>
        <p:nvSpPr>
          <p:cNvPr id="4" name="text-1"/>
          <p:cNvSpPr txBox="1"/>
          <p:nvPr/>
        </p:nvSpPr>
        <p:spPr>
          <a:xfrm>
            <a:off x="502920" y="55778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Отборочный тур · Жилье и недвижимость, финансовое благополучие</a:t>
            </a:r>
            <a:endParaRPr lang="en-US" sz="1300" dirty="0"/>
          </a:p>
        </p:txBody>
      </p:sp>
      <p:sp>
        <p:nvSpPr>
          <p:cNvPr id="5" name="text-2"/>
          <p:cNvSpPr txBox="1"/>
          <p:nvPr/>
        </p:nvSpPr>
        <p:spPr>
          <a:xfrm>
            <a:off x="502920" y="5943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Команда Джей и молчаливый Боб · НИУ ВШЭ · Дук Никита, Филиппов Владислав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КОРОТКО О ГЛАВНОМ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Решение за одну минуту</a:t>
            </a:r>
            <a:endParaRPr lang="en-US" sz="2400" dirty="0"/>
          </a:p>
        </p:txBody>
      </p:sp>
      <p:sp>
        <p:nvSpPr>
          <p:cNvPr id="4" name="card-3"/>
          <p:cNvSpPr/>
          <p:nvPr/>
        </p:nvSpPr>
        <p:spPr>
          <a:xfrm>
            <a:off x="457200" y="1371600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4"/>
          <p:cNvSpPr/>
          <p:nvPr/>
        </p:nvSpPr>
        <p:spPr>
          <a:xfrm>
            <a:off x="658368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5"/>
          <p:cNvSpPr txBox="1"/>
          <p:nvPr/>
        </p:nvSpPr>
        <p:spPr>
          <a:xfrm>
            <a:off x="658368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-6"/>
          <p:cNvSpPr txBox="1"/>
          <p:nvPr/>
        </p:nvSpPr>
        <p:spPr>
          <a:xfrm>
            <a:off x="1234440" y="1499616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Проблема</a:t>
            </a:r>
            <a:endParaRPr lang="en-US" sz="1300" dirty="0"/>
          </a:p>
        </p:txBody>
      </p:sp>
      <p:sp>
        <p:nvSpPr>
          <p:cNvPr id="8" name="text-7"/>
          <p:cNvSpPr txBox="1"/>
          <p:nvPr/>
        </p:nvSpPr>
        <p:spPr>
          <a:xfrm>
            <a:off x="1234440" y="1773936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Депозит просят в 97% объявлений крупных городов, в Москве в 98%. Средний депозит вырос с 37% до 67% ставки за пять лет. Заезд в московскую однушку стоит 140-211 тыс. ₽ сразу, а споры о залоге в суде идут годами.</a:t>
            </a:r>
            <a:endParaRPr lang="en-US" sz="1100" dirty="0"/>
          </a:p>
        </p:txBody>
      </p:sp>
      <p:sp>
        <p:nvSpPr>
          <p:cNvPr id="9" name="card-8"/>
          <p:cNvSpPr/>
          <p:nvPr/>
        </p:nvSpPr>
        <p:spPr>
          <a:xfrm>
            <a:off x="457200" y="2596896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9"/>
          <p:cNvSpPr/>
          <p:nvPr/>
        </p:nvSpPr>
        <p:spPr>
          <a:xfrm>
            <a:off x="658368" y="277977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-10"/>
          <p:cNvSpPr txBox="1"/>
          <p:nvPr/>
        </p:nvSpPr>
        <p:spPr>
          <a:xfrm>
            <a:off x="658368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-11"/>
          <p:cNvSpPr txBox="1"/>
          <p:nvPr/>
        </p:nvSpPr>
        <p:spPr>
          <a:xfrm>
            <a:off x="1234440" y="2724912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Сегмент</a:t>
            </a:r>
            <a:endParaRPr lang="en-US" sz="1300" dirty="0"/>
          </a:p>
        </p:txBody>
      </p:sp>
      <p:sp>
        <p:nvSpPr>
          <p:cNvPr id="13" name="text-12"/>
          <p:cNvSpPr txBox="1"/>
          <p:nvPr/>
        </p:nvSpPr>
        <p:spPr>
          <a:xfrm>
            <a:off x="1234440" y="2999232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Молодые арендаторы в городах-миллионниках, которые снимают напрямую у собственника. Среди людей 18-24 лет платят за съемное жилье 20%, среди 25-34 лет 11% при 6% в среднем (ВЦИОМ, 2026).</a:t>
            </a:r>
            <a:endParaRPr lang="en-US" sz="1100" dirty="0"/>
          </a:p>
        </p:txBody>
      </p:sp>
      <p:sp>
        <p:nvSpPr>
          <p:cNvPr id="14" name="card-13"/>
          <p:cNvSpPr/>
          <p:nvPr/>
        </p:nvSpPr>
        <p:spPr>
          <a:xfrm>
            <a:off x="457200" y="3822192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badge-14"/>
          <p:cNvSpPr/>
          <p:nvPr/>
        </p:nvSpPr>
        <p:spPr>
          <a:xfrm>
            <a:off x="658368" y="400507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-15"/>
          <p:cNvSpPr txBox="1"/>
          <p:nvPr/>
        </p:nvSpPr>
        <p:spPr>
          <a:xfrm>
            <a:off x="658368" y="4005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-16"/>
          <p:cNvSpPr txBox="1"/>
          <p:nvPr/>
        </p:nvSpPr>
        <p:spPr>
          <a:xfrm>
            <a:off x="1234440" y="39502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Решение</a:t>
            </a:r>
            <a:endParaRPr lang="en-US" sz="1300" dirty="0"/>
          </a:p>
        </p:txBody>
      </p:sp>
      <p:sp>
        <p:nvSpPr>
          <p:cNvPr id="18" name="text-17"/>
          <p:cNvSpPr txBox="1"/>
          <p:nvPr/>
        </p:nvSpPr>
        <p:spPr>
          <a:xfrm>
            <a:off x="1234440" y="4224528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ИнгоКлюч: вместо залога жилец платит взнос около 20% ставки в год. Собственник получает от Ингосстраха покрытие до двух ставок, цифровой акт заезда и выезда и выплату по понятным правилам.</a:t>
            </a:r>
            <a:endParaRPr lang="en-US" sz="1100" dirty="0"/>
          </a:p>
        </p:txBody>
      </p:sp>
      <p:sp>
        <p:nvSpPr>
          <p:cNvPr id="19" name="card-18"/>
          <p:cNvSpPr/>
          <p:nvPr/>
        </p:nvSpPr>
        <p:spPr>
          <a:xfrm>
            <a:off x="457200" y="5047488"/>
            <a:ext cx="7223760" cy="1115568"/>
          </a:xfrm>
          <a:prstGeom prst="roundRect">
            <a:avLst>
              <a:gd name="adj" fmla="val 9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badge-19"/>
          <p:cNvSpPr/>
          <p:nvPr/>
        </p:nvSpPr>
        <p:spPr>
          <a:xfrm>
            <a:off x="658368" y="52303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658368" y="5230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-21"/>
          <p:cNvSpPr txBox="1"/>
          <p:nvPr/>
        </p:nvSpPr>
        <p:spPr>
          <a:xfrm>
            <a:off x="1234440" y="5175504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Почему Ингосстрах</a:t>
            </a:r>
            <a:endParaRPr lang="en-US" sz="1300" dirty="0"/>
          </a:p>
        </p:txBody>
      </p:sp>
      <p:sp>
        <p:nvSpPr>
          <p:cNvPr id="23" name="text-22"/>
          <p:cNvSpPr txBox="1"/>
          <p:nvPr/>
        </p:nvSpPr>
        <p:spPr>
          <a:xfrm>
            <a:off x="1234440" y="5449824"/>
            <a:ext cx="6263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2-е место в страховании финансовых рисков и 1-е в добровольном страховании ответственности, 6 млн клиентов, рейтинг ruAAA. В 2021 году компания запускала Рантье, полис для арендодателей без депозита.</a:t>
            </a:r>
            <a:endParaRPr lang="en-US" sz="1100" dirty="0"/>
          </a:p>
        </p:txBody>
      </p:sp>
      <p:sp>
        <p:nvSpPr>
          <p:cNvPr id="24" name="card-23"/>
          <p:cNvSpPr/>
          <p:nvPr/>
        </p:nvSpPr>
        <p:spPr>
          <a:xfrm>
            <a:off x="7955280" y="1371600"/>
            <a:ext cx="3776472" cy="4791456"/>
          </a:xfrm>
          <a:prstGeom prst="roundRect">
            <a:avLst>
              <a:gd name="adj" fmla="val 29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24"/>
          <p:cNvSpPr txBox="1"/>
          <p:nvPr/>
        </p:nvSpPr>
        <p:spPr>
          <a:xfrm>
            <a:off x="8229600" y="16002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≈72 млрд ₽</a:t>
            </a:r>
            <a:endParaRPr lang="en-US" sz="3000" dirty="0"/>
          </a:p>
        </p:txBody>
      </p:sp>
      <p:sp>
        <p:nvSpPr>
          <p:cNvPr id="26" name="text-25"/>
          <p:cNvSpPr txBox="1"/>
          <p:nvPr/>
        </p:nvSpPr>
        <p:spPr>
          <a:xfrm>
            <a:off x="8229600" y="237744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денег арендаторов лежит в залогах в крупных городах России</a:t>
            </a:r>
            <a:endParaRPr lang="en-US" sz="1300" dirty="0"/>
          </a:p>
        </p:txBody>
      </p:sp>
      <p:sp>
        <p:nvSpPr>
          <p:cNvPr id="27" name="tag-26"/>
          <p:cNvSpPr/>
          <p:nvPr/>
        </p:nvSpPr>
        <p:spPr>
          <a:xfrm>
            <a:off x="8229600" y="3108960"/>
            <a:ext cx="173736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text-27"/>
          <p:cNvSpPr txBox="1"/>
          <p:nvPr/>
        </p:nvSpPr>
        <p:spPr>
          <a:xfrm>
            <a:off x="8229600" y="310896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СЛАЙД 16</a:t>
            </a:r>
            <a:endParaRPr lang="en-US" sz="800" dirty="0"/>
          </a:p>
        </p:txBody>
      </p:sp>
      <p:sp>
        <p:nvSpPr>
          <p:cNvPr id="29" name="text-28"/>
          <p:cNvSpPr txBox="1"/>
          <p:nvPr/>
        </p:nvSpPr>
        <p:spPr>
          <a:xfrm>
            <a:off x="8229600" y="3703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Вывод</a:t>
            </a:r>
            <a:endParaRPr lang="en-US" sz="1300" dirty="0"/>
          </a:p>
        </p:txBody>
      </p:sp>
      <p:sp>
        <p:nvSpPr>
          <p:cNvPr id="30" name="text-29"/>
          <p:cNvSpPr txBox="1"/>
          <p:nvPr/>
        </p:nvSpPr>
        <p:spPr>
          <a:xfrm>
            <a:off x="8229600" y="40233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Проблема массовая и подтверждена данными ЦИАН, ВЦИОМ, судов и 59 публичных историй. Страховку вместо залога выбирали 80% арендаторов Самолет Плюс. Ни одно решение не закрывает неоплату до двух ставок, акт и историю жильца вместе. Доказательств достаточно для MVP за 4,8 млн 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ВЫБОР НАПРАВЛЕНИЯ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Как мы выбирали возможность</a:t>
            </a:r>
            <a:endParaRPr lang="en-US" sz="2400" dirty="0"/>
          </a:p>
        </p:txBody>
      </p:sp>
      <p:graphicFrame>
        <p:nvGraphicFramePr>
          <p:cNvPr id="4" name="table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Критерий (1-5)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Заезд без залога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Жилье · финансы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Б/у авто с рук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Мобильность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Защита родителей</a:t>
                      </a:r>
                      <a:endParaRPr lang="en-US" sz="1100" dirty="0"/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от мошенников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Острота и частота задачи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Размер сегмента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Слабость текущих решений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●●○○○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Право Ингосстраха на победу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●●○○○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MVP за 3 месяца и 5 млн ₽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Доступ к данным для проверки</a:t>
                      </a:r>
                      <a:endParaRPr lang="en-US" sz="11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●●●●●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●●●○○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Итого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26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21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  <p:sp>
        <p:nvSpPr>
          <p:cNvPr id="5" name="card-31"/>
          <p:cNvSpPr/>
          <p:nvPr/>
        </p:nvSpPr>
        <p:spPr>
          <a:xfrm>
            <a:off x="8229600" y="1371600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iconbg-32"/>
          <p:cNvSpPr/>
          <p:nvPr/>
        </p:nvSpPr>
        <p:spPr>
          <a:xfrm>
            <a:off x="8394192" y="153619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con-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683" y="1620683"/>
            <a:ext cx="215067" cy="215067"/>
          </a:xfrm>
          <a:prstGeom prst="rect">
            <a:avLst/>
          </a:prstGeom>
        </p:spPr>
      </p:pic>
      <p:sp>
        <p:nvSpPr>
          <p:cNvPr id="8" name="text-34"/>
          <p:cNvSpPr txBox="1"/>
          <p:nvPr/>
        </p:nvSpPr>
        <p:spPr>
          <a:xfrm>
            <a:off x="8887968" y="1591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Выбрали аренду</a:t>
            </a:r>
            <a:endParaRPr lang="en-US" sz="1200" dirty="0"/>
          </a:p>
        </p:txBody>
      </p:sp>
      <p:sp>
        <p:nvSpPr>
          <p:cNvPr id="9" name="text-35"/>
          <p:cNvSpPr txBox="1"/>
          <p:nvPr/>
        </p:nvSpPr>
        <p:spPr>
          <a:xfrm>
            <a:off x="8394192" y="1975104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Депозит за пять лет вырос с 37% до 67% ставки (ЦИАН). Ингосстрах 2-й в финансовых рисках и 1-й в страховании ответственности. Открытых данных и историй о залогах много.</a:t>
            </a:r>
            <a:endParaRPr lang="en-US" sz="1050" dirty="0"/>
          </a:p>
        </p:txBody>
      </p:sp>
      <p:sp>
        <p:nvSpPr>
          <p:cNvPr id="10" name="card-36"/>
          <p:cNvSpPr/>
          <p:nvPr/>
        </p:nvSpPr>
        <p:spPr>
          <a:xfrm>
            <a:off x="8229600" y="2962656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37"/>
          <p:cNvSpPr/>
          <p:nvPr/>
        </p:nvSpPr>
        <p:spPr>
          <a:xfrm>
            <a:off x="8394192" y="31272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683" y="3211739"/>
            <a:ext cx="215067" cy="215067"/>
          </a:xfrm>
          <a:prstGeom prst="rect">
            <a:avLst/>
          </a:prstGeom>
        </p:spPr>
      </p:pic>
      <p:sp>
        <p:nvSpPr>
          <p:cNvPr id="13" name="text-39"/>
          <p:cNvSpPr txBox="1"/>
          <p:nvPr/>
        </p:nvSpPr>
        <p:spPr>
          <a:xfrm>
            <a:off x="8887968" y="31821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Б/у авто с рук</a:t>
            </a:r>
            <a:endParaRPr lang="en-US" sz="1200" dirty="0"/>
          </a:p>
        </p:txBody>
      </p:sp>
      <p:sp>
        <p:nvSpPr>
          <p:cNvPr id="14" name="text-40"/>
          <p:cNvSpPr txBox="1"/>
          <p:nvPr/>
        </p:nvSpPr>
        <p:spPr>
          <a:xfrm>
            <a:off x="8394192" y="3566160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Гарантия на агрегаты требует сети СТО и крупных выплат. Для MVP за 3 месяца и 5 млн ₽ это тяжело, по нашей оценке.</a:t>
            </a:r>
            <a:endParaRPr lang="en-US" sz="1050" dirty="0"/>
          </a:p>
        </p:txBody>
      </p:sp>
      <p:sp>
        <p:nvSpPr>
          <p:cNvPr id="15" name="card-41"/>
          <p:cNvSpPr/>
          <p:nvPr/>
        </p:nvSpPr>
        <p:spPr>
          <a:xfrm>
            <a:off x="8229600" y="4553712"/>
            <a:ext cx="3502152" cy="1481328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iconbg-42"/>
          <p:cNvSpPr/>
          <p:nvPr/>
        </p:nvSpPr>
        <p:spPr>
          <a:xfrm>
            <a:off x="8394192" y="47183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con-4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683" y="4802795"/>
            <a:ext cx="215067" cy="215067"/>
          </a:xfrm>
          <a:prstGeom prst="rect">
            <a:avLst/>
          </a:prstGeom>
        </p:spPr>
      </p:pic>
      <p:sp>
        <p:nvSpPr>
          <p:cNvPr id="18" name="text-44"/>
          <p:cNvSpPr txBox="1"/>
          <p:nvPr/>
        </p:nvSpPr>
        <p:spPr>
          <a:xfrm>
            <a:off x="8887968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Мошенники</a:t>
            </a:r>
            <a:endParaRPr lang="en-US" sz="1200" dirty="0"/>
          </a:p>
        </p:txBody>
      </p:sp>
      <p:sp>
        <p:nvSpPr>
          <p:cNvPr id="19" name="text-45"/>
          <p:cNvSpPr txBox="1"/>
          <p:nvPr/>
        </p:nvSpPr>
        <p:spPr>
          <a:xfrm>
            <a:off x="8394192" y="5157216"/>
            <a:ext cx="3200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Сильная боль, но ближе к деньгам клиента банки и операторы связи. Право Ингосстраха на победу мы оценили как слабое.</a:t>
            </a:r>
            <a:endParaRPr lang="en-US" sz="1050" dirty="0"/>
          </a:p>
        </p:txBody>
      </p:sp>
      <p:sp>
        <p:nvSpPr>
          <p:cNvPr id="20" name="text-46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Оценка команды по критериям методички кейса: острота, частота, размер, готовность менять поведение, доступность аудитории, право на победу.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1 ИЗ 5 · СЕГМЕНТ И ЗАДАЧА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Сегмент: молодой арендатор у собственника</a:t>
            </a:r>
            <a:endParaRPr lang="en-US" sz="2400" dirty="0"/>
          </a:p>
        </p:txBody>
      </p:sp>
      <p:sp>
        <p:nvSpPr>
          <p:cNvPr id="4" name="card-47"/>
          <p:cNvSpPr/>
          <p:nvPr/>
        </p:nvSpPr>
        <p:spPr>
          <a:xfrm>
            <a:off x="457200" y="1371600"/>
            <a:ext cx="4023360" cy="4800600"/>
          </a:xfrm>
          <a:prstGeom prst="roundRect">
            <a:avLst>
              <a:gd name="adj" fmla="val 27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iconbg-48"/>
          <p:cNvSpPr/>
          <p:nvPr/>
        </p:nvSpPr>
        <p:spPr>
          <a:xfrm>
            <a:off x="713232" y="162763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3" y="1748333"/>
            <a:ext cx="307238" cy="307238"/>
          </a:xfrm>
          <a:prstGeom prst="rect">
            <a:avLst/>
          </a:prstGeom>
        </p:spPr>
      </p:pic>
      <p:sp>
        <p:nvSpPr>
          <p:cNvPr id="7" name="text-50"/>
          <p:cNvSpPr txBox="1"/>
          <p:nvPr/>
        </p:nvSpPr>
        <p:spPr>
          <a:xfrm>
            <a:off x="1417320" y="1737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Кто это</a:t>
            </a:r>
            <a:endParaRPr lang="en-US" sz="1600" dirty="0"/>
          </a:p>
        </p:txBody>
      </p:sp>
      <p:sp>
        <p:nvSpPr>
          <p:cNvPr id="8" name="text-51"/>
          <p:cNvSpPr txBox="1"/>
          <p:nvPr/>
        </p:nvSpPr>
        <p:spPr>
          <a:xfrm>
            <a:off x="713232" y="233172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Студенты старших курсов и молодые специалисты 18-34 лет в Москве, Санкт-Петербурге и городах-миллионниках.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Снимают однушку или студию напрямую у собственника через Авито и ЦИАН.</a:t>
            </a:r>
            <a:endParaRPr lang="en-US" sz="1250" dirty="0"/>
          </a:p>
          <a:p>
            <a:pPr indent="0" marL="0">
              <a:buNone/>
            </a:pPr>
            <a:r>
              <a:rPr lang="en-US" sz="600" dirty="0">
                <a:solidFill>
                  <a:schemeClr val="bg1"/>
                </a:solidFill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chemeClr val="bg1"/>
                </a:solidFill>
              </a:rPr>
              <a:t>Переезжают при смене работы, учебы или бюджета. Каждый переезд требует сразу 2-3 ставок (слайд 8).</a:t>
            </a:r>
            <a:endParaRPr lang="en-US" sz="1250" dirty="0"/>
          </a:p>
        </p:txBody>
      </p:sp>
      <p:sp>
        <p:nvSpPr>
          <p:cNvPr id="9" name="text-52"/>
          <p:cNvSpPr txBox="1"/>
          <p:nvPr/>
        </p:nvSpPr>
        <p:spPr>
          <a:xfrm>
            <a:off x="713232" y="5074920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2"/>
                </a:solidFill>
              </a:rPr>
              <a:t>Пользуется жилец. Платит жилец. Решают вместе жилец и собственник. Триггер: найдена квартира, и за 1-2 дня нужно внести первый месяц, депозит и часто комиссию.</a:t>
            </a:r>
            <a:endParaRPr lang="en-US" sz="1050" dirty="0"/>
          </a:p>
        </p:txBody>
      </p:sp>
      <p:sp>
        <p:nvSpPr>
          <p:cNvPr id="10" name="card-53"/>
          <p:cNvSpPr/>
          <p:nvPr/>
        </p:nvSpPr>
        <p:spPr>
          <a:xfrm>
            <a:off x="4709160" y="1371600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54"/>
          <p:cNvSpPr txBox="1"/>
          <p:nvPr/>
        </p:nvSpPr>
        <p:spPr>
          <a:xfrm>
            <a:off x="4910328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20% и 11%</a:t>
            </a:r>
            <a:endParaRPr lang="en-US" sz="2600" dirty="0"/>
          </a:p>
        </p:txBody>
      </p:sp>
      <p:sp>
        <p:nvSpPr>
          <p:cNvPr id="12" name="text-55"/>
          <p:cNvSpPr txBox="1"/>
          <p:nvPr/>
        </p:nvSpPr>
        <p:spPr>
          <a:xfrm>
            <a:off x="4910328" y="2148840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людей 18-24 и 25-34 лет платят за съемное жилье, при 6% в среднем по стране</a:t>
            </a:r>
            <a:endParaRPr lang="en-US" sz="1100" dirty="0"/>
          </a:p>
        </p:txBody>
      </p:sp>
      <p:sp>
        <p:nvSpPr>
          <p:cNvPr id="13" name="tag-56"/>
          <p:cNvSpPr/>
          <p:nvPr/>
        </p:nvSpPr>
        <p:spPr>
          <a:xfrm>
            <a:off x="4910328" y="3337560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7"/>
          <p:cNvSpPr txBox="1"/>
          <p:nvPr/>
        </p:nvSpPr>
        <p:spPr>
          <a:xfrm>
            <a:off x="4910328" y="3337560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ВЦИОМ, 14.10.2026</a:t>
            </a:r>
            <a:endParaRPr lang="en-US" sz="800" dirty="0"/>
          </a:p>
        </p:txBody>
      </p:sp>
      <p:sp>
        <p:nvSpPr>
          <p:cNvPr id="15" name="card-58"/>
          <p:cNvSpPr/>
          <p:nvPr/>
        </p:nvSpPr>
        <p:spPr>
          <a:xfrm>
            <a:off x="8257032" y="1371600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59"/>
          <p:cNvSpPr txBox="1"/>
          <p:nvPr/>
        </p:nvSpPr>
        <p:spPr>
          <a:xfrm>
            <a:off x="845820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27%</a:t>
            </a:r>
            <a:endParaRPr lang="en-US" sz="2600" dirty="0"/>
          </a:p>
        </p:txBody>
      </p:sp>
      <p:sp>
        <p:nvSpPr>
          <p:cNvPr id="17" name="text-60"/>
          <p:cNvSpPr txBox="1"/>
          <p:nvPr/>
        </p:nvSpPr>
        <p:spPr>
          <a:xfrm>
            <a:off x="8458200" y="2148840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людей 18-30 лет снимают жилье, по исследованию Ингосстраха и Финансового университета</a:t>
            </a:r>
            <a:endParaRPr lang="en-US" sz="1100" dirty="0"/>
          </a:p>
        </p:txBody>
      </p:sp>
      <p:sp>
        <p:nvSpPr>
          <p:cNvPr id="18" name="tag-61"/>
          <p:cNvSpPr/>
          <p:nvPr/>
        </p:nvSpPr>
        <p:spPr>
          <a:xfrm>
            <a:off x="8458200" y="3337560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-62"/>
          <p:cNvSpPr txBox="1"/>
          <p:nvPr/>
        </p:nvSpPr>
        <p:spPr>
          <a:xfrm>
            <a:off x="8458200" y="3337560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ИНГОССТРАХ, 30.07.2026</a:t>
            </a:r>
            <a:endParaRPr lang="en-US" sz="800" dirty="0"/>
          </a:p>
        </p:txBody>
      </p:sp>
      <p:sp>
        <p:nvSpPr>
          <p:cNvPr id="20" name="card-63"/>
          <p:cNvSpPr/>
          <p:nvPr/>
        </p:nvSpPr>
        <p:spPr>
          <a:xfrm>
            <a:off x="4709160" y="3822192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-64"/>
          <p:cNvSpPr txBox="1"/>
          <p:nvPr/>
        </p:nvSpPr>
        <p:spPr>
          <a:xfrm>
            <a:off x="4910328" y="39867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79%</a:t>
            </a:r>
            <a:endParaRPr lang="en-US" sz="2600" dirty="0"/>
          </a:p>
        </p:txBody>
      </p:sp>
      <p:sp>
        <p:nvSpPr>
          <p:cNvPr id="22" name="text-65"/>
          <p:cNvSpPr txBox="1"/>
          <p:nvPr/>
        </p:nvSpPr>
        <p:spPr>
          <a:xfrm>
            <a:off x="4910328" y="4599432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жителей миллионников 18-55 лет хотят снимать напрямую у собственника (опрос 1 040 человек)</a:t>
            </a:r>
            <a:endParaRPr lang="en-US" sz="1100" dirty="0"/>
          </a:p>
        </p:txBody>
      </p:sp>
      <p:sp>
        <p:nvSpPr>
          <p:cNvPr id="23" name="tag-66"/>
          <p:cNvSpPr/>
          <p:nvPr/>
        </p:nvSpPr>
        <p:spPr>
          <a:xfrm>
            <a:off x="4910328" y="5788152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-67"/>
          <p:cNvSpPr txBox="1"/>
          <p:nvPr/>
        </p:nvSpPr>
        <p:spPr>
          <a:xfrm>
            <a:off x="4910328" y="5788152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OMI ДЛЯ АВИТО, МАЙ 2026</a:t>
            </a:r>
            <a:endParaRPr lang="en-US" sz="800" dirty="0"/>
          </a:p>
        </p:txBody>
      </p:sp>
      <p:sp>
        <p:nvSpPr>
          <p:cNvPr id="25" name="card-68"/>
          <p:cNvSpPr/>
          <p:nvPr/>
        </p:nvSpPr>
        <p:spPr>
          <a:xfrm>
            <a:off x="8257032" y="3822192"/>
            <a:ext cx="338328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69"/>
          <p:cNvSpPr txBox="1"/>
          <p:nvPr/>
        </p:nvSpPr>
        <p:spPr>
          <a:xfrm>
            <a:off x="8458200" y="39867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55%</a:t>
            </a:r>
            <a:endParaRPr lang="en-US" sz="2600" dirty="0"/>
          </a:p>
        </p:txBody>
      </p:sp>
      <p:sp>
        <p:nvSpPr>
          <p:cNvPr id="27" name="text-70"/>
          <p:cNvSpPr txBox="1"/>
          <p:nvPr/>
        </p:nvSpPr>
        <p:spPr>
          <a:xfrm>
            <a:off x="8458200" y="4599432"/>
            <a:ext cx="301752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предложения долгосрочной аренды на Авито размещают собственники, в Москве 51%</a:t>
            </a:r>
            <a:endParaRPr lang="en-US" sz="1100" dirty="0"/>
          </a:p>
        </p:txBody>
      </p:sp>
      <p:sp>
        <p:nvSpPr>
          <p:cNvPr id="28" name="tag-71"/>
          <p:cNvSpPr/>
          <p:nvPr/>
        </p:nvSpPr>
        <p:spPr>
          <a:xfrm>
            <a:off x="8458200" y="5788152"/>
            <a:ext cx="298094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-72"/>
          <p:cNvSpPr txBox="1"/>
          <p:nvPr/>
        </p:nvSpPr>
        <p:spPr>
          <a:xfrm>
            <a:off x="8458200" y="5788152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СЕНТЯБРЬ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1 ИЗ 5 · СЕГМЕНТ И ЗАДАЧА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Задача: заехать без залога и выехать без спора</a:t>
            </a:r>
            <a:endParaRPr lang="en-US" sz="2400" dirty="0"/>
          </a:p>
        </p:txBody>
      </p:sp>
      <p:sp>
        <p:nvSpPr>
          <p:cNvPr id="4" name="card-73"/>
          <p:cNvSpPr/>
          <p:nvPr/>
        </p:nvSpPr>
        <p:spPr>
          <a:xfrm>
            <a:off x="457200" y="1371600"/>
            <a:ext cx="551383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74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7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655064"/>
            <a:ext cx="256032" cy="256032"/>
          </a:xfrm>
          <a:prstGeom prst="rect">
            <a:avLst/>
          </a:prstGeom>
        </p:spPr>
      </p:pic>
      <p:sp>
        <p:nvSpPr>
          <p:cNvPr id="7" name="text-76"/>
          <p:cNvSpPr txBox="1"/>
          <p:nvPr/>
        </p:nvSpPr>
        <p:spPr>
          <a:xfrm>
            <a:off x="1280160" y="1645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Работа жильца</a:t>
            </a:r>
            <a:endParaRPr lang="en-US" sz="1300" dirty="0"/>
          </a:p>
        </p:txBody>
      </p:sp>
      <p:sp>
        <p:nvSpPr>
          <p:cNvPr id="8" name="text-77"/>
          <p:cNvSpPr txBox="1"/>
          <p:nvPr/>
        </p:nvSpPr>
        <p:spPr>
          <a:xfrm>
            <a:off x="685800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Когда я нашел подходящую квартиру и должен за день заплатить 2-3 месячные ставки, я хочу заехать, не замораживая деньги и не рискуя потерять залог при выезде, чтобы переезд не съедал мою подушку и не заканчивался спором с хозяином.</a:t>
            </a:r>
            <a:endParaRPr lang="en-US" sz="1200" dirty="0"/>
          </a:p>
        </p:txBody>
      </p:sp>
      <p:sp>
        <p:nvSpPr>
          <p:cNvPr id="9" name="card-78"/>
          <p:cNvSpPr/>
          <p:nvPr/>
        </p:nvSpPr>
        <p:spPr>
          <a:xfrm>
            <a:off x="6217920" y="1371600"/>
            <a:ext cx="5513832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bg-79"/>
          <p:cNvSpPr/>
          <p:nvPr/>
        </p:nvSpPr>
        <p:spPr>
          <a:xfrm>
            <a:off x="6419088" y="1554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9672" y="1655064"/>
            <a:ext cx="256032" cy="256032"/>
          </a:xfrm>
          <a:prstGeom prst="rect">
            <a:avLst/>
          </a:prstGeom>
        </p:spPr>
      </p:pic>
      <p:sp>
        <p:nvSpPr>
          <p:cNvPr id="12" name="text-81"/>
          <p:cNvSpPr txBox="1"/>
          <p:nvPr/>
        </p:nvSpPr>
        <p:spPr>
          <a:xfrm>
            <a:off x="7040880" y="1645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Работа собственника</a:t>
            </a:r>
            <a:endParaRPr lang="en-US" sz="1300" dirty="0"/>
          </a:p>
        </p:txBody>
      </p:sp>
      <p:sp>
        <p:nvSpPr>
          <p:cNvPr id="13" name="text-82"/>
          <p:cNvSpPr txBox="1"/>
          <p:nvPr/>
        </p:nvSpPr>
        <p:spPr>
          <a:xfrm>
            <a:off x="6446520" y="2148840"/>
            <a:ext cx="5074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Когда я пускаю в квартиру незнакомого человека, я хочу быть уверен, что ущерб, долги и досрочный выезд будут покрыты быстро и без суда, чтобы сдавать квартиру без нервов и простоя.</a:t>
            </a:r>
            <a:endParaRPr lang="en-US" sz="1200" dirty="0"/>
          </a:p>
        </p:txBody>
      </p:sp>
      <p:sp>
        <p:nvSpPr>
          <p:cNvPr id="14" name="text-83"/>
          <p:cNvSpPr txBox="1"/>
          <p:nvPr/>
        </p:nvSpPr>
        <p:spPr>
          <a:xfrm>
            <a:off x="457200" y="35844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Путь жильца и точки боли</a:t>
            </a:r>
            <a:endParaRPr lang="en-US" sz="1400" dirty="0"/>
          </a:p>
        </p:txBody>
      </p:sp>
      <p:sp>
        <p:nvSpPr>
          <p:cNvPr id="15" name="card-84"/>
          <p:cNvSpPr/>
          <p:nvPr/>
        </p:nvSpPr>
        <p:spPr>
          <a:xfrm>
            <a:off x="457200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85"/>
          <p:cNvSpPr txBox="1"/>
          <p:nvPr/>
        </p:nvSpPr>
        <p:spPr>
          <a:xfrm>
            <a:off x="548640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1. Поиск</a:t>
            </a:r>
            <a:endParaRPr lang="en-US" sz="1150" dirty="0"/>
          </a:p>
        </p:txBody>
      </p:sp>
      <p:sp>
        <p:nvSpPr>
          <p:cNvPr id="17" name="card-86"/>
          <p:cNvSpPr/>
          <p:nvPr/>
        </p:nvSpPr>
        <p:spPr>
          <a:xfrm>
            <a:off x="2350008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87"/>
          <p:cNvSpPr txBox="1"/>
          <p:nvPr/>
        </p:nvSpPr>
        <p:spPr>
          <a:xfrm>
            <a:off x="2441448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2. Просмотр</a:t>
            </a:r>
            <a:endParaRPr lang="en-US" sz="1150" dirty="0"/>
          </a:p>
        </p:txBody>
      </p:sp>
      <p:sp>
        <p:nvSpPr>
          <p:cNvPr id="19" name="card-88"/>
          <p:cNvSpPr/>
          <p:nvPr/>
        </p:nvSpPr>
        <p:spPr>
          <a:xfrm>
            <a:off x="2350008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0" name="text-89"/>
          <p:cNvSpPr txBox="1"/>
          <p:nvPr/>
        </p:nvSpPr>
        <p:spPr>
          <a:xfrm>
            <a:off x="2459736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Схем мошенничества с арендой стало на 26% больше в январе-феврале 2026 (Информзащита)</a:t>
            </a:r>
            <a:endParaRPr lang="en-US" sz="1050" dirty="0"/>
          </a:p>
        </p:txBody>
      </p:sp>
      <p:sp>
        <p:nvSpPr>
          <p:cNvPr id="21" name="card-90"/>
          <p:cNvSpPr/>
          <p:nvPr/>
        </p:nvSpPr>
        <p:spPr>
          <a:xfrm>
            <a:off x="4242816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91"/>
          <p:cNvSpPr txBox="1"/>
          <p:nvPr/>
        </p:nvSpPr>
        <p:spPr>
          <a:xfrm>
            <a:off x="4334256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3. Заезд</a:t>
            </a:r>
            <a:endParaRPr lang="en-US" sz="1150" dirty="0"/>
          </a:p>
        </p:txBody>
      </p:sp>
      <p:sp>
        <p:nvSpPr>
          <p:cNvPr id="23" name="card-92"/>
          <p:cNvSpPr/>
          <p:nvPr/>
        </p:nvSpPr>
        <p:spPr>
          <a:xfrm>
            <a:off x="4242816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4" name="text-93"/>
          <p:cNvSpPr txBox="1"/>
          <p:nvPr/>
        </p:nvSpPr>
        <p:spPr>
          <a:xfrm>
            <a:off x="4352544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Москва: ставка + депозит 97% ставки + комиссия до 100% = 140-211 тыс. ₽</a:t>
            </a:r>
            <a:endParaRPr lang="en-US" sz="1050" dirty="0"/>
          </a:p>
        </p:txBody>
      </p:sp>
      <p:sp>
        <p:nvSpPr>
          <p:cNvPr id="25" name="card-94"/>
          <p:cNvSpPr/>
          <p:nvPr/>
        </p:nvSpPr>
        <p:spPr>
          <a:xfrm>
            <a:off x="6135624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-95"/>
          <p:cNvSpPr txBox="1"/>
          <p:nvPr/>
        </p:nvSpPr>
        <p:spPr>
          <a:xfrm>
            <a:off x="6227064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4. Проживание</a:t>
            </a:r>
            <a:endParaRPr lang="en-US" sz="1150" dirty="0"/>
          </a:p>
        </p:txBody>
      </p:sp>
      <p:sp>
        <p:nvSpPr>
          <p:cNvPr id="27" name="card-96"/>
          <p:cNvSpPr/>
          <p:nvPr/>
        </p:nvSpPr>
        <p:spPr>
          <a:xfrm>
            <a:off x="8028432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97"/>
          <p:cNvSpPr txBox="1"/>
          <p:nvPr/>
        </p:nvSpPr>
        <p:spPr>
          <a:xfrm>
            <a:off x="8119872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5. Выезд и осмотр</a:t>
            </a:r>
            <a:endParaRPr lang="en-US" sz="1150" dirty="0"/>
          </a:p>
        </p:txBody>
      </p:sp>
      <p:sp>
        <p:nvSpPr>
          <p:cNvPr id="29" name="card-98"/>
          <p:cNvSpPr/>
          <p:nvPr/>
        </p:nvSpPr>
        <p:spPr>
          <a:xfrm>
            <a:off x="8028432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0" name="text-99"/>
          <p:cNvSpPr txBox="1"/>
          <p:nvPr/>
        </p:nvSpPr>
        <p:spPr>
          <a:xfrm>
            <a:off x="8138160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Спор упирается в то, как квартиру зафиксировали при заезде: 20 из 59 историй</a:t>
            </a:r>
            <a:endParaRPr lang="en-US" sz="1050" dirty="0"/>
          </a:p>
        </p:txBody>
      </p:sp>
      <p:sp>
        <p:nvSpPr>
          <p:cNvPr id="31" name="card-100"/>
          <p:cNvSpPr/>
          <p:nvPr/>
        </p:nvSpPr>
        <p:spPr>
          <a:xfrm>
            <a:off x="9921240" y="4023360"/>
            <a:ext cx="1801368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-101"/>
          <p:cNvSpPr txBox="1"/>
          <p:nvPr/>
        </p:nvSpPr>
        <p:spPr>
          <a:xfrm>
            <a:off x="10012680" y="4023360"/>
            <a:ext cx="161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6. Возврат залога</a:t>
            </a:r>
            <a:endParaRPr lang="en-US" sz="1150" dirty="0"/>
          </a:p>
        </p:txBody>
      </p:sp>
      <p:sp>
        <p:nvSpPr>
          <p:cNvPr id="33" name="card-102"/>
          <p:cNvSpPr/>
          <p:nvPr/>
        </p:nvSpPr>
        <p:spPr>
          <a:xfrm>
            <a:off x="9921240" y="4681728"/>
            <a:ext cx="1801368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34" name="text-103"/>
          <p:cNvSpPr txBox="1"/>
          <p:nvPr/>
        </p:nvSpPr>
        <p:spPr>
          <a:xfrm>
            <a:off x="10030968" y="4736592"/>
            <a:ext cx="158191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Суд по залогу длится 20-31 месяц (9 дел 2023-2026, расчет команды)</a:t>
            </a:r>
            <a:endParaRPr lang="en-US" sz="1050" dirty="0"/>
          </a:p>
        </p:txBody>
      </p:sp>
      <p:sp>
        <p:nvSpPr>
          <p:cNvPr id="35" name="text-104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Источники: Информзащита через RTVI, 13.03.2026, ЦИАН через Коммерсантъ, 24.11.2025, Авито через Мойка78, 03.04.2026, разбор 59 публичных историй и 9 судебных дел (материалы исследования).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Рынок аренды большой и растет</a:t>
            </a:r>
            <a:endParaRPr lang="en-US" sz="2400" dirty="0"/>
          </a:p>
        </p:txBody>
      </p:sp>
      <p:sp>
        <p:nvSpPr>
          <p:cNvPr id="4" name="card-105"/>
          <p:cNvSpPr/>
          <p:nvPr/>
        </p:nvSpPr>
        <p:spPr>
          <a:xfrm>
            <a:off x="457200" y="1371600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06"/>
          <p:cNvSpPr txBox="1"/>
          <p:nvPr/>
        </p:nvSpPr>
        <p:spPr>
          <a:xfrm>
            <a:off x="658368" y="15361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5,8 млн</a:t>
            </a:r>
            <a:endParaRPr lang="en-US" sz="2600" dirty="0"/>
          </a:p>
        </p:txBody>
      </p:sp>
      <p:sp>
        <p:nvSpPr>
          <p:cNvPr id="6" name="text-107"/>
          <p:cNvSpPr txBox="1"/>
          <p:nvPr/>
        </p:nvSpPr>
        <p:spPr>
          <a:xfrm>
            <a:off x="658368" y="2148840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семей снимают жилье на рыночных условиях в 2025 году. В 2020 году было 5,1 млн</a:t>
            </a:r>
            <a:endParaRPr lang="en-US" sz="1100" dirty="0"/>
          </a:p>
        </p:txBody>
      </p:sp>
      <p:sp>
        <p:nvSpPr>
          <p:cNvPr id="7" name="tag-108"/>
          <p:cNvSpPr/>
          <p:nvPr/>
        </p:nvSpPr>
        <p:spPr>
          <a:xfrm>
            <a:off x="658368" y="3337560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109"/>
          <p:cNvSpPr txBox="1"/>
          <p:nvPr/>
        </p:nvSpPr>
        <p:spPr>
          <a:xfrm>
            <a:off x="658368" y="3337560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КОММЕРСАНТЪ 22.06.2026</a:t>
            </a:r>
            <a:endParaRPr lang="en-US" sz="800" dirty="0"/>
          </a:p>
        </p:txBody>
      </p:sp>
      <p:sp>
        <p:nvSpPr>
          <p:cNvPr id="9" name="card-110"/>
          <p:cNvSpPr/>
          <p:nvPr/>
        </p:nvSpPr>
        <p:spPr>
          <a:xfrm>
            <a:off x="457200" y="3858768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11"/>
          <p:cNvSpPr txBox="1"/>
          <p:nvPr/>
        </p:nvSpPr>
        <p:spPr>
          <a:xfrm>
            <a:off x="658368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252 млн м²</a:t>
            </a:r>
            <a:endParaRPr lang="en-US" sz="2600" dirty="0"/>
          </a:p>
        </p:txBody>
      </p:sp>
      <p:sp>
        <p:nvSpPr>
          <p:cNvPr id="11" name="text-112"/>
          <p:cNvSpPr txBox="1"/>
          <p:nvPr/>
        </p:nvSpPr>
        <p:spPr>
          <a:xfrm>
            <a:off x="658368" y="463600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арендный фонд, 6,3% всего жилья. В 2020 году было 198 млн м²</a:t>
            </a:r>
            <a:endParaRPr lang="en-US" sz="1100" dirty="0"/>
          </a:p>
        </p:txBody>
      </p:sp>
      <p:sp>
        <p:nvSpPr>
          <p:cNvPr id="12" name="tag-113"/>
          <p:cNvSpPr/>
          <p:nvPr/>
        </p:nvSpPr>
        <p:spPr>
          <a:xfrm>
            <a:off x="658368" y="5824728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-114"/>
          <p:cNvSpPr txBox="1"/>
          <p:nvPr/>
        </p:nvSpPr>
        <p:spPr>
          <a:xfrm>
            <a:off x="658368" y="582472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КОММЕРСАНТЪ 22.06.2026</a:t>
            </a:r>
            <a:endParaRPr lang="en-US" sz="800" dirty="0"/>
          </a:p>
        </p:txBody>
      </p:sp>
      <p:sp>
        <p:nvSpPr>
          <p:cNvPr id="14" name="card-115"/>
          <p:cNvSpPr/>
          <p:nvPr/>
        </p:nvSpPr>
        <p:spPr>
          <a:xfrm>
            <a:off x="4206240" y="1371600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116"/>
          <p:cNvSpPr txBox="1"/>
          <p:nvPr/>
        </p:nvSpPr>
        <p:spPr>
          <a:xfrm>
            <a:off x="4407408" y="153619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+25%</a:t>
            </a:r>
            <a:endParaRPr lang="en-US" sz="2600" dirty="0"/>
          </a:p>
        </p:txBody>
      </p:sp>
      <p:sp>
        <p:nvSpPr>
          <p:cNvPr id="16" name="text-117"/>
          <p:cNvSpPr txBox="1"/>
          <p:nvPr/>
        </p:nvSpPr>
        <p:spPr>
          <a:xfrm>
            <a:off x="4407408" y="2148840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прогноз роста рынка к 2030 году. Из 1,5 млн семей, готовых арендовать, 62% молодые семьи</a:t>
            </a:r>
            <a:endParaRPr lang="en-US" sz="1100" dirty="0"/>
          </a:p>
        </p:txBody>
      </p:sp>
      <p:sp>
        <p:nvSpPr>
          <p:cNvPr id="17" name="tag-118"/>
          <p:cNvSpPr/>
          <p:nvPr/>
        </p:nvSpPr>
        <p:spPr>
          <a:xfrm>
            <a:off x="4407408" y="3337560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119"/>
          <p:cNvSpPr txBox="1"/>
          <p:nvPr/>
        </p:nvSpPr>
        <p:spPr>
          <a:xfrm>
            <a:off x="4407408" y="3337560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ДОМ.РФ, РБК 26.02.2026</a:t>
            </a:r>
            <a:endParaRPr lang="en-US" sz="800" dirty="0"/>
          </a:p>
        </p:txBody>
      </p:sp>
      <p:sp>
        <p:nvSpPr>
          <p:cNvPr id="19" name="card-120"/>
          <p:cNvSpPr/>
          <p:nvPr/>
        </p:nvSpPr>
        <p:spPr>
          <a:xfrm>
            <a:off x="4206240" y="3858768"/>
            <a:ext cx="35661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121"/>
          <p:cNvSpPr txBox="1"/>
          <p:nvPr/>
        </p:nvSpPr>
        <p:spPr>
          <a:xfrm>
            <a:off x="4407408" y="4023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+27%</a:t>
            </a:r>
            <a:endParaRPr lang="en-US" sz="2600" dirty="0"/>
          </a:p>
        </p:txBody>
      </p:sp>
      <p:sp>
        <p:nvSpPr>
          <p:cNvPr id="21" name="text-122"/>
          <p:cNvSpPr txBox="1"/>
          <p:nvPr/>
        </p:nvSpPr>
        <p:spPr>
          <a:xfrm>
            <a:off x="4407408" y="4636008"/>
            <a:ext cx="32004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предложение к прошлому году: 112 тыс. объявлений на 01.10.2026. Ставки впервые с 2020 года ниже прошлогодних</a:t>
            </a:r>
            <a:endParaRPr lang="en-US" sz="1100" dirty="0"/>
          </a:p>
        </p:txBody>
      </p:sp>
      <p:sp>
        <p:nvSpPr>
          <p:cNvPr id="22" name="tag-123"/>
          <p:cNvSpPr/>
          <p:nvPr/>
        </p:nvSpPr>
        <p:spPr>
          <a:xfrm>
            <a:off x="4407408" y="5824728"/>
            <a:ext cx="31638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-124"/>
          <p:cNvSpPr txBox="1"/>
          <p:nvPr/>
        </p:nvSpPr>
        <p:spPr>
          <a:xfrm>
            <a:off x="4407408" y="5824728"/>
            <a:ext cx="3163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 И ЦИАН, 2026</a:t>
            </a:r>
            <a:endParaRPr lang="en-US" sz="800" dirty="0"/>
          </a:p>
        </p:txBody>
      </p:sp>
      <p:sp>
        <p:nvSpPr>
          <p:cNvPr id="24" name="card-125"/>
          <p:cNvSpPr/>
          <p:nvPr/>
        </p:nvSpPr>
        <p:spPr>
          <a:xfrm>
            <a:off x="7955280" y="1371600"/>
            <a:ext cx="3776472" cy="4800600"/>
          </a:xfrm>
          <a:prstGeom prst="roundRect">
            <a:avLst>
              <a:gd name="adj" fmla="val 29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126"/>
          <p:cNvSpPr txBox="1"/>
          <p:nvPr/>
        </p:nvSpPr>
        <p:spPr>
          <a:xfrm>
            <a:off x="8156448" y="1508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Однушка, тыс. ₽ в месяц, сентябрь 2026</a:t>
            </a:r>
            <a:endParaRPr lang="en-US" sz="12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8046720" y="1828800"/>
          <a:ext cx="3611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-127"/>
          <p:cNvSpPr txBox="1"/>
          <p:nvPr/>
        </p:nvSpPr>
        <p:spPr>
          <a:xfrm>
            <a:off x="8156448" y="54406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ЦИАН через ПРАЙМ, 22.09.2026. Москва -0,7%, Санкт-Петербург -8,4% за год.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Залог стал нормой рынка, и он растет</a:t>
            </a:r>
            <a:endParaRPr lang="en-US" sz="2400" dirty="0"/>
          </a:p>
        </p:txBody>
      </p:sp>
      <p:sp>
        <p:nvSpPr>
          <p:cNvPr id="4" name="card-128"/>
          <p:cNvSpPr/>
          <p:nvPr/>
        </p:nvSpPr>
        <p:spPr>
          <a:xfrm>
            <a:off x="457200" y="1371600"/>
            <a:ext cx="4572000" cy="48006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29"/>
          <p:cNvSpPr txBox="1"/>
          <p:nvPr/>
        </p:nvSpPr>
        <p:spPr>
          <a:xfrm>
            <a:off x="685800" y="153619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Средний депозит, % месячной ставки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874520"/>
          <a:ext cx="4206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30"/>
          <p:cNvSpPr txBox="1"/>
          <p:nvPr/>
        </p:nvSpPr>
        <p:spPr>
          <a:xfrm>
            <a:off x="685800" y="53492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ЦИАН, крупные города России. Рост связывают с расходами собственников на ремонт после выезда жильцов.</a:t>
            </a:r>
            <a:endParaRPr lang="en-US" sz="1050" dirty="0"/>
          </a:p>
        </p:txBody>
      </p:sp>
      <p:sp>
        <p:nvSpPr>
          <p:cNvPr id="8" name="card-131"/>
          <p:cNvSpPr/>
          <p:nvPr/>
        </p:nvSpPr>
        <p:spPr>
          <a:xfrm>
            <a:off x="5303520" y="1371600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-132"/>
          <p:cNvSpPr txBox="1"/>
          <p:nvPr/>
        </p:nvSpPr>
        <p:spPr>
          <a:xfrm>
            <a:off x="5504688" y="1536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3%</a:t>
            </a:r>
            <a:endParaRPr lang="en-US" sz="2600" dirty="0"/>
          </a:p>
        </p:txBody>
      </p:sp>
      <p:sp>
        <p:nvSpPr>
          <p:cNvPr id="10" name="text-133"/>
          <p:cNvSpPr txBox="1"/>
          <p:nvPr/>
        </p:nvSpPr>
        <p:spPr>
          <a:xfrm>
            <a:off x="5504688" y="2148840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объявлений в крупных городах не требуют депозита. Годом ранее было 5%. В Москве 2%, в Санкт-Петербурге 1%</a:t>
            </a:r>
            <a:endParaRPr lang="en-US" sz="1100" dirty="0"/>
          </a:p>
        </p:txBody>
      </p:sp>
      <p:sp>
        <p:nvSpPr>
          <p:cNvPr id="11" name="tag-134"/>
          <p:cNvSpPr/>
          <p:nvPr/>
        </p:nvSpPr>
        <p:spPr>
          <a:xfrm>
            <a:off x="5504688" y="3337560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-135"/>
          <p:cNvSpPr txBox="1"/>
          <p:nvPr/>
        </p:nvSpPr>
        <p:spPr>
          <a:xfrm>
            <a:off x="5504688" y="33375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КОММЕРСАНТЪ 24.11.2025</a:t>
            </a:r>
            <a:endParaRPr lang="en-US" sz="800" dirty="0"/>
          </a:p>
        </p:txBody>
      </p:sp>
      <p:sp>
        <p:nvSpPr>
          <p:cNvPr id="13" name="card-136"/>
          <p:cNvSpPr/>
          <p:nvPr/>
        </p:nvSpPr>
        <p:spPr>
          <a:xfrm>
            <a:off x="8549640" y="1371600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137"/>
          <p:cNvSpPr txBox="1"/>
          <p:nvPr/>
        </p:nvSpPr>
        <p:spPr>
          <a:xfrm>
            <a:off x="8750808" y="1536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97%</a:t>
            </a:r>
            <a:endParaRPr lang="en-US" sz="2600" dirty="0"/>
          </a:p>
        </p:txBody>
      </p:sp>
      <p:sp>
        <p:nvSpPr>
          <p:cNvPr id="15" name="text-138"/>
          <p:cNvSpPr txBox="1"/>
          <p:nvPr/>
        </p:nvSpPr>
        <p:spPr>
          <a:xfrm>
            <a:off x="8750808" y="2148840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ставки в среднем просят в залог собственники в Москве и Санкт-Петербурге</a:t>
            </a:r>
            <a:endParaRPr lang="en-US" sz="1100" dirty="0"/>
          </a:p>
        </p:txBody>
      </p:sp>
      <p:sp>
        <p:nvSpPr>
          <p:cNvPr id="16" name="tag-139"/>
          <p:cNvSpPr/>
          <p:nvPr/>
        </p:nvSpPr>
        <p:spPr>
          <a:xfrm>
            <a:off x="8750808" y="3337560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-140"/>
          <p:cNvSpPr txBox="1"/>
          <p:nvPr/>
        </p:nvSpPr>
        <p:spPr>
          <a:xfrm>
            <a:off x="8750808" y="33375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КОММЕРСАНТЪ 24.11.2025</a:t>
            </a:r>
            <a:endParaRPr lang="en-US" sz="800" dirty="0"/>
          </a:p>
        </p:txBody>
      </p:sp>
      <p:sp>
        <p:nvSpPr>
          <p:cNvPr id="18" name="card-141"/>
          <p:cNvSpPr/>
          <p:nvPr/>
        </p:nvSpPr>
        <p:spPr>
          <a:xfrm>
            <a:off x="5303520" y="3822192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-142"/>
          <p:cNvSpPr txBox="1"/>
          <p:nvPr/>
        </p:nvSpPr>
        <p:spPr>
          <a:xfrm>
            <a:off x="5504688" y="39867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94%</a:t>
            </a:r>
            <a:endParaRPr lang="en-US" sz="2600" dirty="0"/>
          </a:p>
        </p:txBody>
      </p:sp>
      <p:sp>
        <p:nvSpPr>
          <p:cNvPr id="20" name="text-143"/>
          <p:cNvSpPr txBox="1"/>
          <p:nvPr/>
        </p:nvSpPr>
        <p:spPr>
          <a:xfrm>
            <a:off x="5504688" y="4599432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объявлений в миллионниках требовали депозит в декабре 2024 года. В 2019 году было 54%</a:t>
            </a:r>
            <a:endParaRPr lang="en-US" sz="1100" dirty="0"/>
          </a:p>
        </p:txBody>
      </p:sp>
      <p:sp>
        <p:nvSpPr>
          <p:cNvPr id="21" name="tag-144"/>
          <p:cNvSpPr/>
          <p:nvPr/>
        </p:nvSpPr>
        <p:spPr>
          <a:xfrm>
            <a:off x="5504688" y="5788152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-145"/>
          <p:cNvSpPr txBox="1"/>
          <p:nvPr/>
        </p:nvSpPr>
        <p:spPr>
          <a:xfrm>
            <a:off x="5504688" y="578815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МК 04.12.2024</a:t>
            </a:r>
            <a:endParaRPr lang="en-US" sz="800" dirty="0"/>
          </a:p>
        </p:txBody>
      </p:sp>
      <p:sp>
        <p:nvSpPr>
          <p:cNvPr id="23" name="card-146"/>
          <p:cNvSpPr/>
          <p:nvPr/>
        </p:nvSpPr>
        <p:spPr>
          <a:xfrm>
            <a:off x="8549640" y="3822192"/>
            <a:ext cx="3108960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-147"/>
          <p:cNvSpPr txBox="1"/>
          <p:nvPr/>
        </p:nvSpPr>
        <p:spPr>
          <a:xfrm>
            <a:off x="8750808" y="39867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14%</a:t>
            </a:r>
            <a:endParaRPr lang="en-US" sz="2600" dirty="0"/>
          </a:p>
        </p:txBody>
      </p:sp>
      <p:sp>
        <p:nvSpPr>
          <p:cNvPr id="25" name="text-148"/>
          <p:cNvSpPr txBox="1"/>
          <p:nvPr/>
        </p:nvSpPr>
        <p:spPr>
          <a:xfrm>
            <a:off x="8750808" y="4599432"/>
            <a:ext cx="27432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собственников проверяют жильцов, хотя 78% готовы пользоваться проверкой</a:t>
            </a:r>
            <a:endParaRPr lang="en-US" sz="1100" dirty="0"/>
          </a:p>
        </p:txBody>
      </p:sp>
      <p:sp>
        <p:nvSpPr>
          <p:cNvPr id="26" name="tag-149"/>
          <p:cNvSpPr/>
          <p:nvPr/>
        </p:nvSpPr>
        <p:spPr>
          <a:xfrm>
            <a:off x="8750808" y="5788152"/>
            <a:ext cx="270662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7" name="text-150"/>
          <p:cNvSpPr txBox="1"/>
          <p:nvPr/>
        </p:nvSpPr>
        <p:spPr>
          <a:xfrm>
            <a:off x="8750808" y="578815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 И КАРМА, АВГУСТ 2026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Сколько стоит заезд: 2-3 ставки в один день</a:t>
            </a:r>
            <a:endParaRPr lang="en-US" sz="2400" dirty="0"/>
          </a:p>
        </p:txBody>
      </p:sp>
      <p:sp>
        <p:nvSpPr>
          <p:cNvPr id="4" name="card-151"/>
          <p:cNvSpPr/>
          <p:nvPr/>
        </p:nvSpPr>
        <p:spPr>
          <a:xfrm>
            <a:off x="457200" y="1371600"/>
            <a:ext cx="694944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52"/>
          <p:cNvSpPr txBox="1"/>
          <p:nvPr/>
        </p:nvSpPr>
        <p:spPr>
          <a:xfrm>
            <a:off x="685800" y="151790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Платеж при заезде в однушку, тыс. ₽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67665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53"/>
          <p:cNvSpPr txBox="1"/>
          <p:nvPr/>
        </p:nvSpPr>
        <p:spPr>
          <a:xfrm>
            <a:off x="685800" y="548640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Формула: ставка + депозит + комиссия. Депозит 97% ставки в столицах и 67% в других городах. Ставки ЦИАН, сентябрь 2026: Москва 71, Санкт-Петербург 45,6, 38 городов 29,7 тыс. ₽.</a:t>
            </a:r>
            <a:endParaRPr lang="en-US" sz="1000" dirty="0"/>
          </a:p>
        </p:txBody>
      </p:sp>
      <p:sp>
        <p:nvSpPr>
          <p:cNvPr id="8" name="tag-154"/>
          <p:cNvSpPr/>
          <p:nvPr/>
        </p:nvSpPr>
        <p:spPr>
          <a:xfrm>
            <a:off x="5760720" y="1554480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-155"/>
          <p:cNvSpPr txBox="1"/>
          <p:nvPr/>
        </p:nvSpPr>
        <p:spPr>
          <a:xfrm>
            <a:off x="5760720" y="15544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КОМАНДЫ</a:t>
            </a:r>
            <a:endParaRPr lang="en-US" sz="800" dirty="0"/>
          </a:p>
        </p:txBody>
      </p:sp>
      <p:sp>
        <p:nvSpPr>
          <p:cNvPr id="10" name="card-156"/>
          <p:cNvSpPr/>
          <p:nvPr/>
        </p:nvSpPr>
        <p:spPr>
          <a:xfrm>
            <a:off x="7680960" y="137160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157"/>
          <p:cNvSpPr txBox="1"/>
          <p:nvPr/>
        </p:nvSpPr>
        <p:spPr>
          <a:xfrm>
            <a:off x="7882128" y="146304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50-100%</a:t>
            </a:r>
            <a:endParaRPr lang="en-US" sz="2200" dirty="0"/>
          </a:p>
        </p:txBody>
      </p:sp>
      <p:sp>
        <p:nvSpPr>
          <p:cNvPr id="12" name="text-158"/>
          <p:cNvSpPr txBox="1"/>
          <p:nvPr/>
        </p:nvSpPr>
        <p:spPr>
          <a:xfrm>
            <a:off x="7882128" y="1956816"/>
            <a:ext cx="36850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ставки берет агент, от 12 тыс. ₽</a:t>
            </a:r>
            <a:endParaRPr lang="en-US" sz="1050" dirty="0"/>
          </a:p>
        </p:txBody>
      </p:sp>
      <p:sp>
        <p:nvSpPr>
          <p:cNvPr id="13" name="tag-159"/>
          <p:cNvSpPr/>
          <p:nvPr/>
        </p:nvSpPr>
        <p:spPr>
          <a:xfrm>
            <a:off x="7882128" y="253288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160"/>
          <p:cNvSpPr txBox="1"/>
          <p:nvPr/>
        </p:nvSpPr>
        <p:spPr>
          <a:xfrm>
            <a:off x="7882128" y="253288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МОЙКА78 03.04.2026</a:t>
            </a:r>
            <a:endParaRPr lang="en-US" sz="800" dirty="0"/>
          </a:p>
        </p:txBody>
      </p:sp>
      <p:sp>
        <p:nvSpPr>
          <p:cNvPr id="15" name="card-161"/>
          <p:cNvSpPr/>
          <p:nvPr/>
        </p:nvSpPr>
        <p:spPr>
          <a:xfrm>
            <a:off x="7680960" y="301752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-162"/>
          <p:cNvSpPr txBox="1"/>
          <p:nvPr/>
        </p:nvSpPr>
        <p:spPr>
          <a:xfrm>
            <a:off x="7882128" y="3108960"/>
            <a:ext cx="3685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51%</a:t>
            </a:r>
            <a:endParaRPr lang="en-US" sz="2200" dirty="0"/>
          </a:p>
        </p:txBody>
      </p:sp>
      <p:sp>
        <p:nvSpPr>
          <p:cNvPr id="17" name="text-163"/>
          <p:cNvSpPr txBox="1"/>
          <p:nvPr/>
        </p:nvSpPr>
        <p:spPr>
          <a:xfrm>
            <a:off x="7882128" y="3602736"/>
            <a:ext cx="368503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объявлений в Москве без комиссии, рост на 9,5 п. п. за год</a:t>
            </a:r>
            <a:endParaRPr lang="en-US" sz="1050" dirty="0"/>
          </a:p>
        </p:txBody>
      </p:sp>
      <p:sp>
        <p:nvSpPr>
          <p:cNvPr id="18" name="tag-164"/>
          <p:cNvSpPr/>
          <p:nvPr/>
        </p:nvSpPr>
        <p:spPr>
          <a:xfrm>
            <a:off x="7882128" y="417880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-165"/>
          <p:cNvSpPr txBox="1"/>
          <p:nvPr/>
        </p:nvSpPr>
        <p:spPr>
          <a:xfrm>
            <a:off x="7882128" y="417880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АВИТО, Т-Ж 16.09.2026</a:t>
            </a:r>
            <a:endParaRPr lang="en-US" sz="800" dirty="0"/>
          </a:p>
        </p:txBody>
      </p:sp>
      <p:sp>
        <p:nvSpPr>
          <p:cNvPr id="20" name="card-166"/>
          <p:cNvSpPr/>
          <p:nvPr/>
        </p:nvSpPr>
        <p:spPr>
          <a:xfrm>
            <a:off x="7680960" y="4663440"/>
            <a:ext cx="4050792" cy="150876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167"/>
          <p:cNvSpPr txBox="1"/>
          <p:nvPr/>
        </p:nvSpPr>
        <p:spPr>
          <a:xfrm>
            <a:off x="7882128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Проценты не главный аргумент</a:t>
            </a:r>
            <a:endParaRPr lang="en-US" sz="1200" dirty="0"/>
          </a:p>
        </p:txBody>
      </p:sp>
      <p:sp>
        <p:nvSpPr>
          <p:cNvPr id="22" name="text-168"/>
          <p:cNvSpPr txBox="1"/>
          <p:nvPr/>
        </p:nvSpPr>
        <p:spPr>
          <a:xfrm>
            <a:off x="7882128" y="5047488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Залог 69 тыс. ₽ на вкладе под 13,1% дал бы 9 тыс. ₽ в год. Взнос ИнгоКлюча 14,2 тыс. ₽ больше. Ценность для жильца в деньгах на заезд и в защите от спорных удержаний.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Голос людей: 59 публичных историй о залогах</a:t>
            </a:r>
            <a:endParaRPr lang="en-US" sz="2400" dirty="0"/>
          </a:p>
        </p:txBody>
      </p:sp>
      <p:sp>
        <p:nvSpPr>
          <p:cNvPr id="4" name="card-169"/>
          <p:cNvSpPr/>
          <p:nvPr/>
        </p:nvSpPr>
        <p:spPr>
          <a:xfrm>
            <a:off x="457200" y="1371600"/>
            <a:ext cx="58521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170"/>
          <p:cNvSpPr txBox="1"/>
          <p:nvPr/>
        </p:nvSpPr>
        <p:spPr>
          <a:xfrm>
            <a:off x="658368" y="14813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Темы, число историй (одна история несет несколько тем)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78308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-171"/>
          <p:cNvSpPr txBox="1"/>
          <p:nvPr/>
        </p:nvSpPr>
        <p:spPr>
          <a:xfrm>
            <a:off x="658368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accent4"/>
                </a:solidFill>
              </a:rPr>
              <a:t>30 арендаторов и 29 собственников, 53 истории за 2023-2026. Т-Ж, harant.ru, vc.ru, Pikabu, Отзовик, Яндекс Карты. Каждая цитата сверена со страницей.</a:t>
            </a:r>
            <a:endParaRPr lang="en-US" sz="950" dirty="0"/>
          </a:p>
        </p:txBody>
      </p:sp>
      <p:sp>
        <p:nvSpPr>
          <p:cNvPr id="8" name="card-172"/>
          <p:cNvSpPr/>
          <p:nvPr/>
        </p:nvSpPr>
        <p:spPr>
          <a:xfrm>
            <a:off x="6537960" y="137160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-173"/>
          <p:cNvSpPr txBox="1"/>
          <p:nvPr/>
        </p:nvSpPr>
        <p:spPr>
          <a:xfrm>
            <a:off x="6720840" y="150876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Учитывая, что акта при заезде нет, арендодатель отказала в возврате залога</a:t>
            </a:r>
            <a:endParaRPr lang="en-US" sz="1100" dirty="0"/>
          </a:p>
        </p:txBody>
      </p:sp>
      <p:sp>
        <p:nvSpPr>
          <p:cNvPr id="10" name="text-174"/>
          <p:cNvSpPr txBox="1"/>
          <p:nvPr/>
        </p:nvSpPr>
        <p:spPr>
          <a:xfrm>
            <a:off x="6720840" y="205740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Арендатор, Красноярск · Т-Ж, 19.08.2026</a:t>
            </a:r>
            <a:endParaRPr lang="en-US" sz="900" dirty="0"/>
          </a:p>
        </p:txBody>
      </p:sp>
      <p:sp>
        <p:nvSpPr>
          <p:cNvPr id="11" name="card-175"/>
          <p:cNvSpPr/>
          <p:nvPr/>
        </p:nvSpPr>
        <p:spPr>
          <a:xfrm>
            <a:off x="6537960" y="256032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-176"/>
          <p:cNvSpPr txBox="1"/>
          <p:nvPr/>
        </p:nvSpPr>
        <p:spPr>
          <a:xfrm>
            <a:off x="6720840" y="269748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при выселении фото каждой мелочи,при заселении общий вид.</a:t>
            </a:r>
            <a:endParaRPr lang="en-US" sz="1100" dirty="0"/>
          </a:p>
        </p:txBody>
      </p:sp>
      <p:sp>
        <p:nvSpPr>
          <p:cNvPr id="13" name="text-177"/>
          <p:cNvSpPr txBox="1"/>
          <p:nvPr/>
        </p:nvSpPr>
        <p:spPr>
          <a:xfrm>
            <a:off x="6720840" y="324612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Арендатор, Одинцово · otzyvru.com, 21.12.2022</a:t>
            </a:r>
            <a:endParaRPr lang="en-US" sz="900" dirty="0"/>
          </a:p>
        </p:txBody>
      </p:sp>
      <p:sp>
        <p:nvSpPr>
          <p:cNvPr id="14" name="card-178"/>
          <p:cNvSpPr/>
          <p:nvPr/>
        </p:nvSpPr>
        <p:spPr>
          <a:xfrm>
            <a:off x="6537960" y="3749040"/>
            <a:ext cx="5193792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-179"/>
          <p:cNvSpPr txBox="1"/>
          <p:nvPr/>
        </p:nvSpPr>
        <p:spPr>
          <a:xfrm>
            <a:off x="6720840" y="3886200"/>
            <a:ext cx="4828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В итоге они согласились возместить мне только 21 679,48 рублей.</a:t>
            </a:r>
            <a:endParaRPr lang="en-US" sz="1100" dirty="0"/>
          </a:p>
        </p:txBody>
      </p:sp>
      <p:sp>
        <p:nvSpPr>
          <p:cNvPr id="16" name="text-180"/>
          <p:cNvSpPr txBox="1"/>
          <p:nvPr/>
        </p:nvSpPr>
        <p:spPr>
          <a:xfrm>
            <a:off x="6720840" y="443484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Собственник, ущерб больше 80 тыс. ₽ · vc.ru, 24.05.2024</a:t>
            </a:r>
            <a:endParaRPr lang="en-US" sz="900" dirty="0"/>
          </a:p>
        </p:txBody>
      </p:sp>
      <p:sp>
        <p:nvSpPr>
          <p:cNvPr id="17" name="card-181"/>
          <p:cNvSpPr/>
          <p:nvPr/>
        </p:nvSpPr>
        <p:spPr>
          <a:xfrm>
            <a:off x="6537960" y="4937760"/>
            <a:ext cx="5193792" cy="123444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182"/>
          <p:cNvSpPr txBox="1"/>
          <p:nvPr/>
        </p:nvSpPr>
        <p:spPr>
          <a:xfrm>
            <a:off x="6720840" y="5074920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bg1"/>
                </a:solidFill>
              </a:rPr>
              <a:t>Самое главное - залога не было, я сэкономила кучу денег, для меня при переезде это было важно</a:t>
            </a:r>
            <a:endParaRPr lang="en-US" sz="1100" dirty="0"/>
          </a:p>
        </p:txBody>
      </p:sp>
      <p:sp>
        <p:nvSpPr>
          <p:cNvPr id="19" name="text-183"/>
          <p:cNvSpPr txBox="1"/>
          <p:nvPr/>
        </p:nvSpPr>
        <p:spPr>
          <a:xfrm>
            <a:off x="6720840" y="5760720"/>
            <a:ext cx="4828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2"/>
                </a:solidFill>
              </a:rPr>
              <a:t>Арендатор о сервисе без залога · Т-Ж, 2025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Что показали отзывы и как это меняет продукт</a:t>
            </a:r>
            <a:endParaRPr lang="en-US" sz="2400" dirty="0"/>
          </a:p>
        </p:txBody>
      </p:sp>
      <p:graphicFrame>
        <p:nvGraphicFramePr>
          <p:cNvPr id="11" name="table-1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097280"/>
                <a:gridCol w="597103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Паттерн в отзывах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Историй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Требование к ИнгоКлючу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Главный конфликт - досрочный выезд, а не порча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Правило досрочного выезда видно до подписания: срок уведомления и что покрывает Ингосстрах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Спор упирается в то, как квартиру зафиксировали при заезде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20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Цифровой акт: одинаковый чек-лист при заезде и выезде, фото с датой, подпись обеих сторон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Собственники не верят выплатам по гарантиям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14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Выплата по подписанному акту без чеков до согласования суммы и с известным сроком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Без залога воспринимают как скрытую плату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10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Взнос одной суммой, без наценки в ставке и без сборов при выезде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Платформы не разбирают споры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15</a:t>
                      </a:r>
                      <a:endParaRPr lang="en-US" sz="15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Ингосстрах урегулирует спор по регламенту как страховщик, а не как посредник</a:t>
                      </a:r>
                      <a:endParaRPr lang="en-US" sz="1150" dirty="0"/>
                    </a:p>
                  </a:txBody>
                  <a:tcPr marL="128016" marR="128016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9C4"/>
                    </a:solidFill>
                  </a:tcPr>
                </a:tc>
              </a:tr>
            </a:tbl>
          </a:graphicData>
        </a:graphic>
      </p:graphicFrame>
      <p:sp>
        <p:nvSpPr>
          <p:cNvPr id="5" name="card-185"/>
          <p:cNvSpPr/>
          <p:nvPr/>
        </p:nvSpPr>
        <p:spPr>
          <a:xfrm>
            <a:off x="457200" y="5257800"/>
            <a:ext cx="11274552" cy="9144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6" name="text-186"/>
          <p:cNvSpPr txBox="1"/>
          <p:nvPr/>
        </p:nvSpPr>
        <p:spPr>
          <a:xfrm>
            <a:off x="658368" y="5321808"/>
            <a:ext cx="10881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Что против гипотезы: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5 собственников прямо предпочитают денежный залог. Ни один арендатор в выборке не написал, что готов платить невозвратный сбор вместо залога. Это главная гипотеза для проверки в финале (H1 и H2).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2 ИЗ 5 · ПОДТВЕРЖДЕНИЕ ПРОБЛЕМЫ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Суды: исход решают договор и акт</a:t>
            </a:r>
            <a:endParaRPr lang="en-US" sz="2400" dirty="0"/>
          </a:p>
        </p:txBody>
      </p:sp>
      <p:sp>
        <p:nvSpPr>
          <p:cNvPr id="4" name="card-187"/>
          <p:cNvSpPr/>
          <p:nvPr/>
        </p:nvSpPr>
        <p:spPr>
          <a:xfrm>
            <a:off x="457200" y="1371600"/>
            <a:ext cx="2743200" cy="1828800"/>
          </a:xfrm>
          <a:prstGeom prst="roundRect">
            <a:avLst>
              <a:gd name="adj" fmla="val 6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188"/>
          <p:cNvSpPr txBox="1"/>
          <p:nvPr/>
        </p:nvSpPr>
        <p:spPr>
          <a:xfrm>
            <a:off x="658368" y="153619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9 дел</a:t>
            </a:r>
            <a:endParaRPr lang="en-US" sz="2400" dirty="0"/>
          </a:p>
        </p:txBody>
      </p:sp>
      <p:sp>
        <p:nvSpPr>
          <p:cNvPr id="6" name="text-189"/>
          <p:cNvSpPr txBox="1"/>
          <p:nvPr/>
        </p:nvSpPr>
        <p:spPr>
          <a:xfrm>
            <a:off x="658368" y="2148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о залоге при найме жилья, 2023-2026: 3 выиграл жилец, 6 собственник</a:t>
            </a:r>
            <a:endParaRPr lang="en-US" sz="1100" dirty="0"/>
          </a:p>
        </p:txBody>
      </p:sp>
      <p:sp>
        <p:nvSpPr>
          <p:cNvPr id="7" name="tag-190"/>
          <p:cNvSpPr/>
          <p:nvPr/>
        </p:nvSpPr>
        <p:spPr>
          <a:xfrm>
            <a:off x="658368" y="285292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191"/>
          <p:cNvSpPr txBox="1"/>
          <p:nvPr/>
        </p:nvSpPr>
        <p:spPr>
          <a:xfrm>
            <a:off x="658368" y="285292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СУДЕБНЫЕ АКТЫ</a:t>
            </a:r>
            <a:endParaRPr lang="en-US" sz="800" dirty="0"/>
          </a:p>
        </p:txBody>
      </p:sp>
      <p:sp>
        <p:nvSpPr>
          <p:cNvPr id="9" name="card-192"/>
          <p:cNvSpPr/>
          <p:nvPr/>
        </p:nvSpPr>
        <p:spPr>
          <a:xfrm>
            <a:off x="457200" y="3337560"/>
            <a:ext cx="27432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193"/>
          <p:cNvSpPr txBox="1"/>
          <p:nvPr/>
        </p:nvSpPr>
        <p:spPr>
          <a:xfrm>
            <a:off x="658368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20-31 мес.</a:t>
            </a:r>
            <a:endParaRPr lang="en-US" sz="1800" dirty="0"/>
          </a:p>
        </p:txBody>
      </p:sp>
      <p:sp>
        <p:nvSpPr>
          <p:cNvPr id="11" name="text-194"/>
          <p:cNvSpPr txBox="1"/>
          <p:nvPr/>
        </p:nvSpPr>
        <p:spPr>
          <a:xfrm>
            <a:off x="658368" y="392277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от выезда до последнего акта</a:t>
            </a:r>
            <a:endParaRPr lang="en-US" sz="1050" dirty="0"/>
          </a:p>
        </p:txBody>
      </p:sp>
      <p:sp>
        <p:nvSpPr>
          <p:cNvPr id="12" name="tag-195"/>
          <p:cNvSpPr/>
          <p:nvPr/>
        </p:nvSpPr>
        <p:spPr>
          <a:xfrm>
            <a:off x="658368" y="436168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-196"/>
          <p:cNvSpPr txBox="1"/>
          <p:nvPr/>
        </p:nvSpPr>
        <p:spPr>
          <a:xfrm>
            <a:off x="658368" y="436168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9 ДЕЛ</a:t>
            </a:r>
            <a:endParaRPr lang="en-US" sz="800" dirty="0"/>
          </a:p>
        </p:txBody>
      </p:sp>
      <p:sp>
        <p:nvSpPr>
          <p:cNvPr id="14" name="card-197"/>
          <p:cNvSpPr/>
          <p:nvPr/>
        </p:nvSpPr>
        <p:spPr>
          <a:xfrm>
            <a:off x="457200" y="4846320"/>
            <a:ext cx="27432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198"/>
          <p:cNvSpPr txBox="1"/>
          <p:nvPr/>
        </p:nvSpPr>
        <p:spPr>
          <a:xfrm>
            <a:off x="658368" y="4937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4 000 ₽</a:t>
            </a:r>
            <a:endParaRPr lang="en-US" sz="1800" dirty="0"/>
          </a:p>
        </p:txBody>
      </p:sp>
      <p:sp>
        <p:nvSpPr>
          <p:cNvPr id="16" name="text-199"/>
          <p:cNvSpPr txBox="1"/>
          <p:nvPr/>
        </p:nvSpPr>
        <p:spPr>
          <a:xfrm>
            <a:off x="658368" y="5431536"/>
            <a:ext cx="23774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госпошлина при иске до 100 тыс. ₽</a:t>
            </a:r>
            <a:endParaRPr lang="en-US" sz="1050" dirty="0"/>
          </a:p>
        </p:txBody>
      </p:sp>
      <p:sp>
        <p:nvSpPr>
          <p:cNvPr id="17" name="tag-200"/>
          <p:cNvSpPr/>
          <p:nvPr/>
        </p:nvSpPr>
        <p:spPr>
          <a:xfrm>
            <a:off x="658368" y="5824728"/>
            <a:ext cx="2340864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201"/>
          <p:cNvSpPr txBox="1"/>
          <p:nvPr/>
        </p:nvSpPr>
        <p:spPr>
          <a:xfrm>
            <a:off x="658368" y="582472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СТ. 333.19 НК РФ</a:t>
            </a:r>
            <a:endParaRPr lang="en-US" sz="800" dirty="0"/>
          </a:p>
        </p:txBody>
      </p:sp>
      <p:graphicFrame>
        <p:nvGraphicFramePr>
          <p:cNvPr id="12" name="table-2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371600"/>
          <a:ext cx="83027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79392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Суд, дата, номер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Суть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Выиграл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ВС РФ, 30.07.2024, № 4-КГ24-30-К1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150 тыс. ₽. Суд поддержал условие договора о невозврате при досрочном выезде жильца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2-й КСОЮ, 24.06.2025, № 8Г-14546/2025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90 тыс. ₽ зачтен в долг по аренде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Благовещенский горсуд, 14.08.2025, № 2-2931/2025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Залог 19 тыс. ₽ удержан: есть акт при заселении и фото повреждений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Санкт-Петербургский горсуд, 2026, № 33-6245/2026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Депозит 150 тыс. ₽ вернули: неподписанный акт возврата не дает права удержать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Жилец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Суд ХМАО-Югры, 2026, № 33-1931/2026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Залог 45 тыс. ₽ удержан за досрочный выезд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</a:rPr>
                        <a:t>Собственник</a:t>
                      </a:r>
                      <a:endParaRPr lang="en-US" sz="105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0" name="card-203"/>
          <p:cNvSpPr/>
          <p:nvPr/>
        </p:nvSpPr>
        <p:spPr>
          <a:xfrm>
            <a:off x="3429000" y="5349240"/>
            <a:ext cx="8302752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-204"/>
          <p:cNvSpPr txBox="1"/>
          <p:nvPr/>
        </p:nvSpPr>
        <p:spPr>
          <a:xfrm>
            <a:off x="3630168" y="539496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Вывод: выигрывает тот, у кого есть подписанный акт и четкие условия договора. ИнгоКлюч дает обеим сторонам и то, и другое до заезда.</a:t>
            </a:r>
            <a:endParaRPr lang="en-US" sz="1200" dirty="0"/>
          </a:p>
        </p:txBody>
      </p:sp>
      <p:sp>
        <p:nvSpPr>
          <p:cNvPr id="22" name="text-205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Тексты актов: legalacts.ru, sudact.ru, mos-gorsud.ru. Срок 20-31 месяц: расчет команды по датам дел. Норма: п. 2 ст. 381.1 ГК РФ.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Как жильцы и собственники решают задачу сегодня</a:t>
            </a:r>
            <a:endParaRPr lang="en-US" sz="2400" dirty="0"/>
          </a:p>
        </p:txBody>
      </p:sp>
      <p:graphicFrame>
        <p:nvGraphicFramePr>
          <p:cNvPr id="13" name="table-2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3776472"/>
                <a:gridCol w="2194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Способ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работает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Что мешает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Цена для жильца</a:t>
                      </a:r>
                      <a:endParaRPr lang="en-US" sz="11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Наличный залог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Привычно, деньги у собственника на руках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Деньги жильца заморожены, удержания спорны, суд идет 20-31 месяц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≈69 тыс. ₽ заморожено (97% ставки)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Яндекс Аренда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Без депозита. Поручительство Яндекса: неоплата до 1 месяца, ущерб до 1 ставки. Страховщик АльфаСтрахование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В основном квартиры сервиса. Неоплата первого и последнего месяца не покрыта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5% ставки + 4 650 ₽ в месяц: ≈98 тыс. ₽ в год, из них 56 тыс. за отказ от депозита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Самолет Плюс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Полис вместо депозита за 1/5 ставки на 11 месяцев. Его выбирали около 80% арендаторов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Только партнеры сети. В КИД нет риска неоплаты аренды. Страховщик Лучи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≈12 тыс. ₽ при ставке 60-79 тыс. ₽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ПИК-Аренда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Безопасная сделка вместо депозита: неоплата до 1 месяца и 2 недели простоя, до 1 млн ₽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Только квартиры сервиса в Москве и Санкт-Петербурге. Страховщик АльфаСтрахование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Ежемесячно, тариф не опубликован, не больше 100% ставки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Домклик Аренда+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Подключается к уже подписанному договору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Перенос срока оплаты и страховка ущерба, депозит не заменяет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199 ₽ в месяц, залог остается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Полис квартиры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Т-Страхование, Яндекс Забота, Ингосстрах: любая квартира, платит собственник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Нет неоплаты аренды. У Ингосстраха убытки покрываются, только если они не по вине арендатора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 ₽ для жильца, залог остается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ИнгоКлюч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Любая квартира, в том числе прямая сделка на Авито и ЦИАН. Акт, правила выплаты, неуплата и ущерб в одном полисе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accent1"/>
                          </a:solidFill>
                        </a:rPr>
                        <a:t>Нужно убедить собственника принять полис вместо денег (H1)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≈14,2 тыс. ₽ в год, дешевле с хорошей историей</a:t>
                      </a:r>
                      <a:endParaRPr lang="en-US" sz="1000" dirty="0"/>
                    </a:p>
                  </a:txBody>
                  <a:tcPr marL="91440" marR="91440" marT="36576" marB="36576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5" name="text-207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Расчет команды при ставке 71 тыс. ₽. Условия: оферты Яндекс Аренды 17.07, 21.07 и 11.10.2026 (yandex.ru/legal), КИД Лучи Страхование 24.07.2026, ComNews 23.07.2026, pik-arenda.ru, РБК 10.06.2026 и VBR 18.09.2026 (Домклик), InFullBroker 26.09.2025, care.yandex.ru, ingos.ru/property/flat.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За рубежом модель работает и уже масштабирована</a:t>
            </a:r>
            <a:endParaRPr lang="en-US" sz="2400" dirty="0"/>
          </a:p>
        </p:txBody>
      </p:sp>
      <p:sp>
        <p:nvSpPr>
          <p:cNvPr id="4" name="card-208"/>
          <p:cNvSpPr/>
          <p:nvPr/>
        </p:nvSpPr>
        <p:spPr>
          <a:xfrm>
            <a:off x="457200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09"/>
          <p:cNvSpPr txBox="1"/>
          <p:nvPr/>
        </p:nvSpPr>
        <p:spPr>
          <a:xfrm>
            <a:off x="640080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Zero Deposit</a:t>
            </a:r>
            <a:endParaRPr lang="en-US" sz="1300" dirty="0"/>
          </a:p>
        </p:txBody>
      </p:sp>
      <p:sp>
        <p:nvSpPr>
          <p:cNvPr id="6" name="text-210"/>
          <p:cNvSpPr txBox="1"/>
          <p:nvPr/>
        </p:nvSpPr>
        <p:spPr>
          <a:xfrm>
            <a:off x="2697480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Великобритания</a:t>
            </a:r>
            <a:endParaRPr lang="en-US" sz="900" dirty="0"/>
          </a:p>
        </p:txBody>
      </p:sp>
      <p:sp>
        <p:nvSpPr>
          <p:cNvPr id="7" name="text-211"/>
          <p:cNvSpPr txBox="1"/>
          <p:nvPr/>
        </p:nvSpPr>
        <p:spPr>
          <a:xfrm>
            <a:off x="640080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 неделя аренды и разовый сбор от £49. Покрытие 6 недель. Риск несет Great Lakes, группа Munich Re</a:t>
            </a:r>
            <a:endParaRPr lang="en-US" sz="1050" dirty="0"/>
          </a:p>
        </p:txBody>
      </p:sp>
      <p:sp>
        <p:nvSpPr>
          <p:cNvPr id="8" name="text-212"/>
          <p:cNvSpPr txBox="1"/>
          <p:nvPr/>
        </p:nvSpPr>
        <p:spPr>
          <a:xfrm>
            <a:off x="640080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&gt;200 тыс. арендаторов, &gt;£170 млн покрытия (янв. 2026)</a:t>
            </a:r>
            <a:endParaRPr lang="en-US" sz="1050" dirty="0"/>
          </a:p>
        </p:txBody>
      </p:sp>
      <p:sp>
        <p:nvSpPr>
          <p:cNvPr id="9" name="card-213"/>
          <p:cNvSpPr/>
          <p:nvPr/>
        </p:nvSpPr>
        <p:spPr>
          <a:xfrm>
            <a:off x="4270248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214"/>
          <p:cNvSpPr txBox="1"/>
          <p:nvPr/>
        </p:nvSpPr>
        <p:spPr>
          <a:xfrm>
            <a:off x="4453128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Reposit</a:t>
            </a:r>
            <a:endParaRPr lang="en-US" sz="1300" dirty="0"/>
          </a:p>
        </p:txBody>
      </p:sp>
      <p:sp>
        <p:nvSpPr>
          <p:cNvPr id="11" name="text-215"/>
          <p:cNvSpPr txBox="1"/>
          <p:nvPr/>
        </p:nvSpPr>
        <p:spPr>
          <a:xfrm>
            <a:off x="6510528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Великобритания</a:t>
            </a:r>
            <a:endParaRPr lang="en-US" sz="900" dirty="0"/>
          </a:p>
        </p:txBody>
      </p:sp>
      <p:sp>
        <p:nvSpPr>
          <p:cNvPr id="12" name="text-216"/>
          <p:cNvSpPr txBox="1"/>
          <p:nvPr/>
        </p:nvSpPr>
        <p:spPr>
          <a:xfrm>
            <a:off x="4453128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1 неделя аренды, от £150. Покрытие 8 недель</a:t>
            </a:r>
            <a:endParaRPr lang="en-US" sz="1050" dirty="0"/>
          </a:p>
        </p:txBody>
      </p:sp>
      <p:sp>
        <p:nvSpPr>
          <p:cNvPr id="13" name="text-217"/>
          <p:cNvSpPr txBox="1"/>
          <p:nvPr/>
        </p:nvSpPr>
        <p:spPr>
          <a:xfrm>
            <a:off x="4453128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49% договоров без удержаний, 17% с претензией &gt;5 недель (2024)</a:t>
            </a:r>
            <a:endParaRPr lang="en-US" sz="1050" dirty="0"/>
          </a:p>
        </p:txBody>
      </p:sp>
      <p:sp>
        <p:nvSpPr>
          <p:cNvPr id="14" name="card-218"/>
          <p:cNvSpPr/>
          <p:nvPr/>
        </p:nvSpPr>
        <p:spPr>
          <a:xfrm>
            <a:off x="8083296" y="137160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219"/>
          <p:cNvSpPr txBox="1"/>
          <p:nvPr/>
        </p:nvSpPr>
        <p:spPr>
          <a:xfrm>
            <a:off x="8266176" y="149961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Greenlight Rent</a:t>
            </a:r>
            <a:endParaRPr lang="en-US" sz="1300" dirty="0"/>
          </a:p>
        </p:txBody>
      </p:sp>
      <p:sp>
        <p:nvSpPr>
          <p:cNvPr id="16" name="text-220"/>
          <p:cNvSpPr txBox="1"/>
          <p:nvPr/>
        </p:nvSpPr>
        <p:spPr>
          <a:xfrm>
            <a:off x="10323576" y="15179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США</a:t>
            </a:r>
            <a:endParaRPr lang="en-US" sz="900" dirty="0"/>
          </a:p>
        </p:txBody>
      </p:sp>
      <p:sp>
        <p:nvSpPr>
          <p:cNvPr id="17" name="text-221"/>
          <p:cNvSpPr txBox="1"/>
          <p:nvPr/>
        </p:nvSpPr>
        <p:spPr>
          <a:xfrm>
            <a:off x="8266176" y="184708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Rhino и Jetty объединились в феврале 2025</a:t>
            </a:r>
            <a:endParaRPr lang="en-US" sz="1050" dirty="0"/>
          </a:p>
        </p:txBody>
      </p:sp>
      <p:sp>
        <p:nvSpPr>
          <p:cNvPr id="18" name="text-222"/>
          <p:cNvSpPr txBox="1"/>
          <p:nvPr/>
        </p:nvSpPr>
        <p:spPr>
          <a:xfrm>
            <a:off x="8266176" y="256032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&gt;6 млн квартир в сети партнеров</a:t>
            </a:r>
            <a:endParaRPr lang="en-US" sz="1050" dirty="0"/>
          </a:p>
        </p:txBody>
      </p:sp>
      <p:sp>
        <p:nvSpPr>
          <p:cNvPr id="19" name="card-223"/>
          <p:cNvSpPr/>
          <p:nvPr/>
        </p:nvSpPr>
        <p:spPr>
          <a:xfrm>
            <a:off x="457200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224"/>
          <p:cNvSpPr txBox="1"/>
          <p:nvPr/>
        </p:nvSpPr>
        <p:spPr>
          <a:xfrm>
            <a:off x="640080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LeaseLock</a:t>
            </a:r>
            <a:endParaRPr lang="en-US" sz="1300" dirty="0"/>
          </a:p>
        </p:txBody>
      </p:sp>
      <p:sp>
        <p:nvSpPr>
          <p:cNvPr id="21" name="text-225"/>
          <p:cNvSpPr txBox="1"/>
          <p:nvPr/>
        </p:nvSpPr>
        <p:spPr>
          <a:xfrm>
            <a:off x="2697480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США</a:t>
            </a:r>
            <a:endParaRPr lang="en-US" sz="900" dirty="0"/>
          </a:p>
        </p:txBody>
      </p:sp>
      <p:sp>
        <p:nvSpPr>
          <p:cNvPr id="22" name="text-226"/>
          <p:cNvSpPr txBox="1"/>
          <p:nvPr/>
        </p:nvSpPr>
        <p:spPr>
          <a:xfrm>
            <a:off x="640080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Страхование договора аренды вместо залога, в среднем $39 в месяц</a:t>
            </a:r>
            <a:endParaRPr lang="en-US" sz="1050" dirty="0"/>
          </a:p>
        </p:txBody>
      </p:sp>
      <p:sp>
        <p:nvSpPr>
          <p:cNvPr id="23" name="text-227"/>
          <p:cNvSpPr txBox="1"/>
          <p:nvPr/>
        </p:nvSpPr>
        <p:spPr>
          <a:xfrm>
            <a:off x="640080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$17 млрд застрахованных договоров (июль 2026)</a:t>
            </a:r>
            <a:endParaRPr lang="en-US" sz="1050" dirty="0"/>
          </a:p>
        </p:txBody>
      </p:sp>
      <p:sp>
        <p:nvSpPr>
          <p:cNvPr id="24" name="card-228"/>
          <p:cNvSpPr/>
          <p:nvPr/>
        </p:nvSpPr>
        <p:spPr>
          <a:xfrm>
            <a:off x="4270248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29"/>
          <p:cNvSpPr txBox="1"/>
          <p:nvPr/>
        </p:nvSpPr>
        <p:spPr>
          <a:xfrm>
            <a:off x="4453128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Visale</a:t>
            </a:r>
            <a:endParaRPr lang="en-US" sz="1300" dirty="0"/>
          </a:p>
        </p:txBody>
      </p:sp>
      <p:sp>
        <p:nvSpPr>
          <p:cNvPr id="26" name="text-230"/>
          <p:cNvSpPr txBox="1"/>
          <p:nvPr/>
        </p:nvSpPr>
        <p:spPr>
          <a:xfrm>
            <a:off x="6510528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Франция</a:t>
            </a:r>
            <a:endParaRPr lang="en-US" sz="900" dirty="0"/>
          </a:p>
        </p:txBody>
      </p:sp>
      <p:sp>
        <p:nvSpPr>
          <p:cNvPr id="27" name="text-231"/>
          <p:cNvSpPr txBox="1"/>
          <p:nvPr/>
        </p:nvSpPr>
        <p:spPr>
          <a:xfrm>
            <a:off x="4453128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Бесплатное поручительство государства</a:t>
            </a:r>
            <a:endParaRPr lang="en-US" sz="1050" dirty="0"/>
          </a:p>
        </p:txBody>
      </p:sp>
      <p:sp>
        <p:nvSpPr>
          <p:cNvPr id="28" name="text-232"/>
          <p:cNvSpPr txBox="1"/>
          <p:nvPr/>
        </p:nvSpPr>
        <p:spPr>
          <a:xfrm>
            <a:off x="4453128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≈350 тыс. договоров в 2025, 2 млн всего</a:t>
            </a:r>
            <a:endParaRPr lang="en-US" sz="1050" dirty="0"/>
          </a:p>
        </p:txBody>
      </p:sp>
      <p:sp>
        <p:nvSpPr>
          <p:cNvPr id="29" name="card-233"/>
          <p:cNvSpPr/>
          <p:nvPr/>
        </p:nvSpPr>
        <p:spPr>
          <a:xfrm>
            <a:off x="8083296" y="3246120"/>
            <a:ext cx="3648456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-234"/>
          <p:cNvSpPr txBox="1"/>
          <p:nvPr/>
        </p:nvSpPr>
        <p:spPr>
          <a:xfrm>
            <a:off x="8266176" y="33741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VUSO + Tenant</a:t>
            </a:r>
            <a:endParaRPr lang="en-US" sz="1300" dirty="0"/>
          </a:p>
        </p:txBody>
      </p:sp>
      <p:sp>
        <p:nvSpPr>
          <p:cNvPr id="31" name="text-235"/>
          <p:cNvSpPr txBox="1"/>
          <p:nvPr/>
        </p:nvSpPr>
        <p:spPr>
          <a:xfrm>
            <a:off x="10323576" y="33924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Украина</a:t>
            </a:r>
            <a:endParaRPr lang="en-US" sz="900" dirty="0"/>
          </a:p>
        </p:txBody>
      </p:sp>
      <p:sp>
        <p:nvSpPr>
          <p:cNvPr id="32" name="text-236"/>
          <p:cNvSpPr txBox="1"/>
          <p:nvPr/>
        </p:nvSpPr>
        <p:spPr>
          <a:xfrm>
            <a:off x="8266176" y="3721608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Полис 4-17 тыс. грн за покрытие 100-500 тыс. грн</a:t>
            </a:r>
            <a:endParaRPr lang="en-US" sz="1050" dirty="0"/>
          </a:p>
        </p:txBody>
      </p:sp>
      <p:sp>
        <p:nvSpPr>
          <p:cNvPr id="33" name="text-237"/>
          <p:cNvSpPr txBox="1"/>
          <p:nvPr/>
        </p:nvSpPr>
        <p:spPr>
          <a:xfrm>
            <a:off x="8266176" y="4434840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Запуск 23.03.2026</a:t>
            </a:r>
            <a:endParaRPr lang="en-US" sz="1050" dirty="0"/>
          </a:p>
        </p:txBody>
      </p:sp>
      <p:sp>
        <p:nvSpPr>
          <p:cNvPr id="34" name="card-238"/>
          <p:cNvSpPr/>
          <p:nvPr/>
        </p:nvSpPr>
        <p:spPr>
          <a:xfrm>
            <a:off x="457200" y="5166360"/>
            <a:ext cx="11274552" cy="1005840"/>
          </a:xfrm>
          <a:prstGeom prst="roundRect">
            <a:avLst>
              <a:gd name="adj" fmla="val 1090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-239"/>
          <p:cNvSpPr txBox="1"/>
          <p:nvPr/>
        </p:nvSpPr>
        <p:spPr>
          <a:xfrm>
            <a:off x="658368" y="5230368"/>
            <a:ext cx="10881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Уроки для России: </a:t>
            </a:r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цена около недели аренды за лимит больше залога. Экономика держится на взыскании с виновного жильца и скоринге. Продукт должен быть добровольным: в Мэриленде плату приравняли к залогу, и LeaseLock ушла из штата. В Великобритании им пользуются 7% арендаторов (Opinium, 2025).</a:t>
            </a:r>
            <a:endParaRPr lang="en-US" sz="1100" dirty="0"/>
          </a:p>
        </p:txBody>
      </p:sp>
      <p:sp>
        <p:nvSpPr>
          <p:cNvPr id="36" name="text-240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Сайты компаний (zerodeposit.com, reposit.co.uk, leaselock.com, visale.fr), PR Newswire 06.02.2025, Scottish Housing News 28.07.2025, Interfax-Украина 23.03.2026. Масштаб указан по данным компаний.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Ниша: неоплата, акт и история жильца вместе</a:t>
            </a:r>
            <a:endParaRPr lang="en-US" sz="2400" dirty="0"/>
          </a:p>
        </p:txBody>
      </p:sp>
      <p:sp>
        <p:nvSpPr>
          <p:cNvPr id="4" name="card-241"/>
          <p:cNvSpPr/>
          <p:nvPr/>
        </p:nvSpPr>
        <p:spPr>
          <a:xfrm>
            <a:off x="457200" y="1371600"/>
            <a:ext cx="6766560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xis-242"/>
          <p:cNvSpPr/>
          <p:nvPr/>
        </p:nvSpPr>
        <p:spPr>
          <a:xfrm>
            <a:off x="3840480" y="1737360"/>
            <a:ext cx="0" cy="39319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6" name="axis-243"/>
          <p:cNvSpPr/>
          <p:nvPr/>
        </p:nvSpPr>
        <p:spPr>
          <a:xfrm>
            <a:off x="777240" y="2788920"/>
            <a:ext cx="612648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7" name="text-244"/>
          <p:cNvSpPr txBox="1"/>
          <p:nvPr/>
        </p:nvSpPr>
        <p:spPr>
          <a:xfrm>
            <a:off x="731520" y="5760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Своя сеть или фонд</a:t>
            </a:r>
            <a:endParaRPr lang="en-US" sz="1000" dirty="0"/>
          </a:p>
        </p:txBody>
      </p:sp>
      <p:sp>
        <p:nvSpPr>
          <p:cNvPr id="8" name="text-245"/>
          <p:cNvSpPr txBox="1"/>
          <p:nvPr/>
        </p:nvSpPr>
        <p:spPr>
          <a:xfrm>
            <a:off x="4023360" y="5760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Любая квартира и договор</a:t>
            </a:r>
            <a:endParaRPr lang="en-US" sz="1000" dirty="0"/>
          </a:p>
        </p:txBody>
      </p:sp>
      <p:sp>
        <p:nvSpPr>
          <p:cNvPr id="9" name="text-246"/>
          <p:cNvSpPr txBox="1"/>
          <p:nvPr/>
        </p:nvSpPr>
        <p:spPr>
          <a:xfrm>
            <a:off x="731520" y="14813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Неоплата до 2 ставок + ущерб + симметричный акт + история жильца</a:t>
            </a:r>
            <a:endParaRPr lang="en-US" sz="1000" dirty="0"/>
          </a:p>
        </p:txBody>
      </p:sp>
      <p:sp>
        <p:nvSpPr>
          <p:cNvPr id="10" name="text-247"/>
          <p:cNvSpPr txBox="1"/>
          <p:nvPr/>
        </p:nvSpPr>
        <p:spPr>
          <a:xfrm>
            <a:off x="731520" y="285292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Частичная защита: ущерб или 1 месяц неоплаты</a:t>
            </a:r>
            <a:endParaRPr lang="en-US" sz="1000" dirty="0"/>
          </a:p>
        </p:txBody>
      </p:sp>
      <p:sp>
        <p:nvSpPr>
          <p:cNvPr id="11" name="pos-248"/>
          <p:cNvSpPr/>
          <p:nvPr/>
        </p:nvSpPr>
        <p:spPr>
          <a:xfrm>
            <a:off x="868680" y="324612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-249"/>
          <p:cNvSpPr txBox="1"/>
          <p:nvPr/>
        </p:nvSpPr>
        <p:spPr>
          <a:xfrm>
            <a:off x="868680" y="32461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Яндекс Аренда</a:t>
            </a:r>
            <a:endParaRPr lang="en-US" sz="1000" dirty="0"/>
          </a:p>
        </p:txBody>
      </p:sp>
      <p:sp>
        <p:nvSpPr>
          <p:cNvPr id="13" name="pos-250"/>
          <p:cNvSpPr/>
          <p:nvPr/>
        </p:nvSpPr>
        <p:spPr>
          <a:xfrm>
            <a:off x="868680" y="379476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-251"/>
          <p:cNvSpPr txBox="1"/>
          <p:nvPr/>
        </p:nvSpPr>
        <p:spPr>
          <a:xfrm>
            <a:off x="868680" y="379476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ПИК-Аренда</a:t>
            </a:r>
            <a:endParaRPr lang="en-US" sz="1000" dirty="0"/>
          </a:p>
        </p:txBody>
      </p:sp>
      <p:sp>
        <p:nvSpPr>
          <p:cNvPr id="15" name="pos-252"/>
          <p:cNvSpPr/>
          <p:nvPr/>
        </p:nvSpPr>
        <p:spPr>
          <a:xfrm>
            <a:off x="868680" y="434340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-253"/>
          <p:cNvSpPr txBox="1"/>
          <p:nvPr/>
        </p:nvSpPr>
        <p:spPr>
          <a:xfrm>
            <a:off x="868680" y="43434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Самолет Плюс</a:t>
            </a:r>
            <a:endParaRPr lang="en-US" sz="1000" dirty="0"/>
          </a:p>
        </p:txBody>
      </p:sp>
      <p:sp>
        <p:nvSpPr>
          <p:cNvPr id="17" name="pos-254"/>
          <p:cNvSpPr/>
          <p:nvPr/>
        </p:nvSpPr>
        <p:spPr>
          <a:xfrm>
            <a:off x="4160520" y="324612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-255"/>
          <p:cNvSpPr txBox="1"/>
          <p:nvPr/>
        </p:nvSpPr>
        <p:spPr>
          <a:xfrm>
            <a:off x="4160520" y="324612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Домклик Аренда+</a:t>
            </a:r>
            <a:endParaRPr lang="en-US" sz="1000" dirty="0"/>
          </a:p>
        </p:txBody>
      </p:sp>
      <p:sp>
        <p:nvSpPr>
          <p:cNvPr id="19" name="pos-256"/>
          <p:cNvSpPr/>
          <p:nvPr/>
        </p:nvSpPr>
        <p:spPr>
          <a:xfrm>
            <a:off x="4160520" y="379476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0" name="text-257"/>
          <p:cNvSpPr txBox="1"/>
          <p:nvPr/>
        </p:nvSpPr>
        <p:spPr>
          <a:xfrm>
            <a:off x="4160520" y="379476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Полисы квартир</a:t>
            </a:r>
            <a:endParaRPr lang="en-US" sz="1000" dirty="0"/>
          </a:p>
        </p:txBody>
      </p:sp>
      <p:sp>
        <p:nvSpPr>
          <p:cNvPr id="21" name="pos-258"/>
          <p:cNvSpPr/>
          <p:nvPr/>
        </p:nvSpPr>
        <p:spPr>
          <a:xfrm>
            <a:off x="4160520" y="434340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-259"/>
          <p:cNvSpPr txBox="1"/>
          <p:nvPr/>
        </p:nvSpPr>
        <p:spPr>
          <a:xfrm>
            <a:off x="4160520" y="43434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Наличный залог</a:t>
            </a:r>
            <a:endParaRPr lang="en-US" sz="1000" dirty="0"/>
          </a:p>
        </p:txBody>
      </p:sp>
      <p:sp>
        <p:nvSpPr>
          <p:cNvPr id="23" name="pos-260"/>
          <p:cNvSpPr/>
          <p:nvPr/>
        </p:nvSpPr>
        <p:spPr>
          <a:xfrm>
            <a:off x="4160520" y="1920240"/>
            <a:ext cx="26517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-261"/>
          <p:cNvSpPr txBox="1"/>
          <p:nvPr/>
        </p:nvSpPr>
        <p:spPr>
          <a:xfrm>
            <a:off x="4160520" y="1920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ИнгоКлюч</a:t>
            </a:r>
            <a:endParaRPr lang="en-US" sz="1000" dirty="0"/>
          </a:p>
        </p:txBody>
      </p:sp>
      <p:pic>
        <p:nvPicPr>
          <p:cNvPr id="25" name="star-262" descr="/tmp/claude-0/-home-user-my/7151b996-ac25-582f-ad95-91de1a331b55/scratchpad/assets/s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783080"/>
            <a:ext cx="329184" cy="365760"/>
          </a:xfrm>
          <a:prstGeom prst="rect">
            <a:avLst/>
          </a:prstGeom>
        </p:spPr>
      </p:pic>
      <p:sp>
        <p:nvSpPr>
          <p:cNvPr id="26" name="text-263"/>
          <p:cNvSpPr txBox="1"/>
          <p:nvPr/>
        </p:nvSpPr>
        <p:spPr>
          <a:xfrm>
            <a:off x="868680" y="4983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С 17.07.2026 Яндекс ручается за аренду и по договорам вне сервиса, но не дольше 1 месяца</a:t>
            </a:r>
            <a:endParaRPr lang="en-US" sz="1000" dirty="0"/>
          </a:p>
        </p:txBody>
      </p:sp>
      <p:sp>
        <p:nvSpPr>
          <p:cNvPr id="27" name="card-264"/>
          <p:cNvSpPr/>
          <p:nvPr/>
        </p:nvSpPr>
        <p:spPr>
          <a:xfrm>
            <a:off x="7498080" y="1371600"/>
            <a:ext cx="4233672" cy="2313432"/>
          </a:xfrm>
          <a:prstGeom prst="roundRect">
            <a:avLst>
              <a:gd name="adj" fmla="val 47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265"/>
          <p:cNvSpPr txBox="1"/>
          <p:nvPr/>
        </p:nvSpPr>
        <p:spPr>
          <a:xfrm>
            <a:off x="7699248" y="1536192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80% и 85%</a:t>
            </a:r>
            <a:endParaRPr lang="en-US" sz="2600" dirty="0"/>
          </a:p>
        </p:txBody>
      </p:sp>
      <p:sp>
        <p:nvSpPr>
          <p:cNvPr id="29" name="text-266"/>
          <p:cNvSpPr txBox="1"/>
          <p:nvPr/>
        </p:nvSpPr>
        <p:spPr>
          <a:xfrm>
            <a:off x="7699248" y="2148840"/>
            <a:ext cx="386791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арендаторов Самолет Плюс выбирали страховку вместо депозита (2026), сделок ПИК-Аренды шли со страховкой (2020). Спрос на замену залога есть</a:t>
            </a:r>
            <a:endParaRPr lang="en-US" sz="1100" dirty="0"/>
          </a:p>
        </p:txBody>
      </p:sp>
      <p:sp>
        <p:nvSpPr>
          <p:cNvPr id="30" name="tag-267"/>
          <p:cNvSpPr/>
          <p:nvPr/>
        </p:nvSpPr>
        <p:spPr>
          <a:xfrm>
            <a:off x="7699248" y="3337560"/>
            <a:ext cx="3831336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-268"/>
          <p:cNvSpPr txBox="1"/>
          <p:nvPr/>
        </p:nvSpPr>
        <p:spPr>
          <a:xfrm>
            <a:off x="7699248" y="3337560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COMNEWS 23.07.2026, VC.RU 07.08.2020</a:t>
            </a:r>
            <a:endParaRPr lang="en-US" sz="800" dirty="0"/>
          </a:p>
        </p:txBody>
      </p:sp>
      <p:sp>
        <p:nvSpPr>
          <p:cNvPr id="32" name="card-269"/>
          <p:cNvSpPr/>
          <p:nvPr/>
        </p:nvSpPr>
        <p:spPr>
          <a:xfrm>
            <a:off x="7498080" y="3858768"/>
            <a:ext cx="4233672" cy="2313432"/>
          </a:xfrm>
          <a:prstGeom prst="roundRect">
            <a:avLst>
              <a:gd name="adj" fmla="val 47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-270"/>
          <p:cNvSpPr txBox="1"/>
          <p:nvPr/>
        </p:nvSpPr>
        <p:spPr>
          <a:xfrm>
            <a:off x="7699248" y="39867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Окно сужается</a:t>
            </a:r>
            <a:endParaRPr lang="en-US" sz="1300" dirty="0"/>
          </a:p>
        </p:txBody>
      </p:sp>
      <p:sp>
        <p:nvSpPr>
          <p:cNvPr id="34" name="text-271"/>
          <p:cNvSpPr txBox="1"/>
          <p:nvPr/>
        </p:nvSpPr>
        <p:spPr>
          <a:xfrm>
            <a:off x="7699248" y="4315968"/>
            <a:ext cx="3840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7 запусков за 2025-2026: Т-Страхование, пилот Авито, Домклик дважды, Яндекс Забота, Яндекс вне сервиса, Самолет Плюс. За Яндекс Арендой, ПИК-Арендой и пилотом Авито стоит АльфаСтрахование. Ингосстраха на площадках нет.</a:t>
            </a:r>
            <a:endParaRPr lang="en-US" sz="1050" dirty="0"/>
          </a:p>
        </p:txBody>
      </p:sp>
      <p:sp>
        <p:nvSpPr>
          <p:cNvPr id="35" name="text-272"/>
          <p:cNvSpPr txBox="1"/>
          <p:nvPr/>
        </p:nvSpPr>
        <p:spPr>
          <a:xfrm>
            <a:off x="7699248" y="5852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Источники: слайд 12 и материалы исследования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3 ИЗ 5 · АЛЬТЕРНАТИВЫ И ПРИВЛЕКАТЕЛЬНОСТЬ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Размер возможности: ≈21 млрд ₽ взносов в год</a:t>
            </a:r>
            <a:endParaRPr lang="en-US" sz="2400" dirty="0"/>
          </a:p>
        </p:txBody>
      </p:sp>
      <p:sp>
        <p:nvSpPr>
          <p:cNvPr id="4" name="card-273"/>
          <p:cNvSpPr/>
          <p:nvPr/>
        </p:nvSpPr>
        <p:spPr>
          <a:xfrm>
            <a:off x="457200" y="1371600"/>
            <a:ext cx="694944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274"/>
          <p:cNvSpPr txBox="1"/>
          <p:nvPr/>
        </p:nvSpPr>
        <p:spPr>
          <a:xfrm>
            <a:off x="658368" y="1371600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5,8 млн</a:t>
            </a:r>
            <a:endParaRPr lang="en-US" sz="1600" dirty="0"/>
          </a:p>
        </p:txBody>
      </p:sp>
      <p:sp>
        <p:nvSpPr>
          <p:cNvPr id="6" name="text-275"/>
          <p:cNvSpPr txBox="1"/>
          <p:nvPr/>
        </p:nvSpPr>
        <p:spPr>
          <a:xfrm>
            <a:off x="2880360" y="1371600"/>
            <a:ext cx="2423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семей снимают жилье на рыночных условиях</a:t>
            </a:r>
            <a:endParaRPr lang="en-US" sz="1100" dirty="0"/>
          </a:p>
        </p:txBody>
      </p:sp>
      <p:sp>
        <p:nvSpPr>
          <p:cNvPr id="7" name="tag-276"/>
          <p:cNvSpPr/>
          <p:nvPr/>
        </p:nvSpPr>
        <p:spPr>
          <a:xfrm>
            <a:off x="5806440" y="1609344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-277"/>
          <p:cNvSpPr txBox="1"/>
          <p:nvPr/>
        </p:nvSpPr>
        <p:spPr>
          <a:xfrm>
            <a:off x="5806440" y="1609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ДОМ.РФ</a:t>
            </a:r>
            <a:endParaRPr lang="en-US" sz="800" dirty="0"/>
          </a:p>
        </p:txBody>
      </p:sp>
      <p:sp>
        <p:nvSpPr>
          <p:cNvPr id="9" name="card-278"/>
          <p:cNvSpPr/>
          <p:nvPr/>
        </p:nvSpPr>
        <p:spPr>
          <a:xfrm>
            <a:off x="457200" y="2176272"/>
            <a:ext cx="676656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-279"/>
          <p:cNvSpPr txBox="1"/>
          <p:nvPr/>
        </p:nvSpPr>
        <p:spPr>
          <a:xfrm>
            <a:off x="658368" y="2176272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50%</a:t>
            </a:r>
            <a:endParaRPr lang="en-US" sz="1600" dirty="0"/>
          </a:p>
        </p:txBody>
      </p:sp>
      <p:sp>
        <p:nvSpPr>
          <p:cNvPr id="11" name="text-280"/>
          <p:cNvSpPr txBox="1"/>
          <p:nvPr/>
        </p:nvSpPr>
        <p:spPr>
          <a:xfrm>
            <a:off x="2880360" y="2176272"/>
            <a:ext cx="2240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живут в крупных городах, где залог стал нормой</a:t>
            </a:r>
            <a:endParaRPr lang="en-US" sz="1100" dirty="0"/>
          </a:p>
        </p:txBody>
      </p:sp>
      <p:sp>
        <p:nvSpPr>
          <p:cNvPr id="12" name="tag-281"/>
          <p:cNvSpPr/>
          <p:nvPr/>
        </p:nvSpPr>
        <p:spPr>
          <a:xfrm>
            <a:off x="5623560" y="2414016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-282"/>
          <p:cNvSpPr txBox="1"/>
          <p:nvPr/>
        </p:nvSpPr>
        <p:spPr>
          <a:xfrm>
            <a:off x="5623560" y="241401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ДОПУЩЕНИЕ</a:t>
            </a:r>
            <a:endParaRPr lang="en-US" sz="800" dirty="0"/>
          </a:p>
        </p:txBody>
      </p:sp>
      <p:sp>
        <p:nvSpPr>
          <p:cNvPr id="14" name="card-283"/>
          <p:cNvSpPr/>
          <p:nvPr/>
        </p:nvSpPr>
        <p:spPr>
          <a:xfrm>
            <a:off x="457200" y="2980944"/>
            <a:ext cx="658368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-284"/>
          <p:cNvSpPr txBox="1"/>
          <p:nvPr/>
        </p:nvSpPr>
        <p:spPr>
          <a:xfrm>
            <a:off x="658368" y="2980944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97%</a:t>
            </a:r>
            <a:endParaRPr lang="en-US" sz="1600" dirty="0"/>
          </a:p>
        </p:txBody>
      </p:sp>
      <p:sp>
        <p:nvSpPr>
          <p:cNvPr id="16" name="text-285"/>
          <p:cNvSpPr txBox="1"/>
          <p:nvPr/>
        </p:nvSpPr>
        <p:spPr>
          <a:xfrm>
            <a:off x="2880360" y="2980944"/>
            <a:ext cx="2057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объявлений в крупных городах требуют депозит</a:t>
            </a:r>
            <a:endParaRPr lang="en-US" sz="1100" dirty="0"/>
          </a:p>
        </p:txBody>
      </p:sp>
      <p:sp>
        <p:nvSpPr>
          <p:cNvPr id="17" name="tag-286"/>
          <p:cNvSpPr/>
          <p:nvPr/>
        </p:nvSpPr>
        <p:spPr>
          <a:xfrm>
            <a:off x="5440680" y="3218688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-287"/>
          <p:cNvSpPr txBox="1"/>
          <p:nvPr/>
        </p:nvSpPr>
        <p:spPr>
          <a:xfrm>
            <a:off x="5440680" y="32186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</a:t>
            </a:r>
            <a:endParaRPr lang="en-US" sz="800" dirty="0"/>
          </a:p>
        </p:txBody>
      </p:sp>
      <p:sp>
        <p:nvSpPr>
          <p:cNvPr id="19" name="card-288"/>
          <p:cNvSpPr/>
          <p:nvPr/>
        </p:nvSpPr>
        <p:spPr>
          <a:xfrm>
            <a:off x="457200" y="3785616"/>
            <a:ext cx="640080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-289"/>
          <p:cNvSpPr txBox="1"/>
          <p:nvPr/>
        </p:nvSpPr>
        <p:spPr>
          <a:xfrm>
            <a:off x="658368" y="3785616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= 2,8 млн</a:t>
            </a:r>
            <a:endParaRPr lang="en-US" sz="1600" dirty="0"/>
          </a:p>
        </p:txBody>
      </p:sp>
      <p:sp>
        <p:nvSpPr>
          <p:cNvPr id="21" name="text-290"/>
          <p:cNvSpPr txBox="1"/>
          <p:nvPr/>
        </p:nvSpPr>
        <p:spPr>
          <a:xfrm>
            <a:off x="2880360" y="3785616"/>
            <a:ext cx="1874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домохозяйств вносят депозит</a:t>
            </a:r>
            <a:endParaRPr lang="en-US" sz="1100" dirty="0"/>
          </a:p>
        </p:txBody>
      </p:sp>
      <p:sp>
        <p:nvSpPr>
          <p:cNvPr id="22" name="tag-291"/>
          <p:cNvSpPr/>
          <p:nvPr/>
        </p:nvSpPr>
        <p:spPr>
          <a:xfrm>
            <a:off x="5257800" y="4023360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3" name="text-292"/>
          <p:cNvSpPr txBox="1"/>
          <p:nvPr/>
        </p:nvSpPr>
        <p:spPr>
          <a:xfrm>
            <a:off x="5257800" y="4023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</a:t>
            </a:r>
            <a:endParaRPr lang="en-US" sz="800" dirty="0"/>
          </a:p>
        </p:txBody>
      </p:sp>
      <p:sp>
        <p:nvSpPr>
          <p:cNvPr id="24" name="card-293"/>
          <p:cNvSpPr/>
          <p:nvPr/>
        </p:nvSpPr>
        <p:spPr>
          <a:xfrm>
            <a:off x="457200" y="4590288"/>
            <a:ext cx="6217920" cy="694944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-294"/>
          <p:cNvSpPr txBox="1"/>
          <p:nvPr/>
        </p:nvSpPr>
        <p:spPr>
          <a:xfrm>
            <a:off x="658368" y="4590288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× 25,5 тыс. ₽</a:t>
            </a:r>
            <a:endParaRPr lang="en-US" sz="1600" dirty="0"/>
          </a:p>
        </p:txBody>
      </p:sp>
      <p:sp>
        <p:nvSpPr>
          <p:cNvPr id="26" name="text-295"/>
          <p:cNvSpPr txBox="1"/>
          <p:nvPr/>
        </p:nvSpPr>
        <p:spPr>
          <a:xfrm>
            <a:off x="2880360" y="4590288"/>
            <a:ext cx="1691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67% × 38 тыс. ₽ вне столиц</a:t>
            </a:r>
            <a:endParaRPr lang="en-US" sz="1100" dirty="0"/>
          </a:p>
        </p:txBody>
      </p:sp>
      <p:sp>
        <p:nvSpPr>
          <p:cNvPr id="27" name="tag-296"/>
          <p:cNvSpPr/>
          <p:nvPr/>
        </p:nvSpPr>
        <p:spPr>
          <a:xfrm>
            <a:off x="5074920" y="4828032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-297"/>
          <p:cNvSpPr txBox="1"/>
          <p:nvPr/>
        </p:nvSpPr>
        <p:spPr>
          <a:xfrm>
            <a:off x="5074920" y="48280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ФАКТ · ЦИАН, ДОМ.РФ</a:t>
            </a:r>
            <a:endParaRPr lang="en-US" sz="800" dirty="0"/>
          </a:p>
        </p:txBody>
      </p:sp>
      <p:sp>
        <p:nvSpPr>
          <p:cNvPr id="29" name="card-298"/>
          <p:cNvSpPr/>
          <p:nvPr/>
        </p:nvSpPr>
        <p:spPr>
          <a:xfrm>
            <a:off x="457200" y="5394960"/>
            <a:ext cx="6035040" cy="694944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299"/>
          <p:cNvSpPr txBox="1"/>
          <p:nvPr/>
        </p:nvSpPr>
        <p:spPr>
          <a:xfrm>
            <a:off x="658368" y="5394960"/>
            <a:ext cx="21945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 72 млрд ₽</a:t>
            </a:r>
            <a:endParaRPr lang="en-US" sz="1600" dirty="0"/>
          </a:p>
        </p:txBody>
      </p:sp>
      <p:sp>
        <p:nvSpPr>
          <p:cNvPr id="31" name="text-300"/>
          <p:cNvSpPr txBox="1"/>
          <p:nvPr/>
        </p:nvSpPr>
        <p:spPr>
          <a:xfrm>
            <a:off x="2880360" y="5394960"/>
            <a:ext cx="15087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денег арендаторов заморожено в залогах</a:t>
            </a:r>
            <a:endParaRPr lang="en-US" sz="1100" dirty="0"/>
          </a:p>
        </p:txBody>
      </p:sp>
      <p:sp>
        <p:nvSpPr>
          <p:cNvPr id="32" name="tag-301"/>
          <p:cNvSpPr/>
          <p:nvPr/>
        </p:nvSpPr>
        <p:spPr>
          <a:xfrm>
            <a:off x="4892040" y="5632704"/>
            <a:ext cx="1463040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-302"/>
          <p:cNvSpPr txBox="1"/>
          <p:nvPr/>
        </p:nvSpPr>
        <p:spPr>
          <a:xfrm>
            <a:off x="4892040" y="5632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</a:t>
            </a:r>
            <a:endParaRPr lang="en-US" sz="800" dirty="0"/>
          </a:p>
        </p:txBody>
      </p:sp>
      <p:sp>
        <p:nvSpPr>
          <p:cNvPr id="34" name="card-303"/>
          <p:cNvSpPr/>
          <p:nvPr/>
        </p:nvSpPr>
        <p:spPr>
          <a:xfrm>
            <a:off x="7680960" y="1371600"/>
            <a:ext cx="4050792" cy="233172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-304"/>
          <p:cNvSpPr txBox="1"/>
          <p:nvPr/>
        </p:nvSpPr>
        <p:spPr>
          <a:xfrm>
            <a:off x="7882128" y="1536192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≈21 млрд ₽</a:t>
            </a:r>
            <a:endParaRPr lang="en-US" sz="2600" dirty="0"/>
          </a:p>
        </p:txBody>
      </p:sp>
      <p:sp>
        <p:nvSpPr>
          <p:cNvPr id="36" name="text-305"/>
          <p:cNvSpPr txBox="1"/>
          <p:nvPr/>
        </p:nvSpPr>
        <p:spPr>
          <a:xfrm>
            <a:off x="7882128" y="2148840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в год: 2,8 млн домохозяйств × взнос 20% от ставки 38 тыс. ₽ (7,6 тыс. ₽)</a:t>
            </a:r>
            <a:endParaRPr lang="en-US" sz="1100" dirty="0"/>
          </a:p>
        </p:txBody>
      </p:sp>
      <p:sp>
        <p:nvSpPr>
          <p:cNvPr id="37" name="tag-306"/>
          <p:cNvSpPr/>
          <p:nvPr/>
        </p:nvSpPr>
        <p:spPr>
          <a:xfrm>
            <a:off x="7882128" y="335584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8" name="text-307"/>
          <p:cNvSpPr txBox="1"/>
          <p:nvPr/>
        </p:nvSpPr>
        <p:spPr>
          <a:xfrm>
            <a:off x="7882128" y="335584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· 2,8 МЛН × 7,6 ТЫС. ₽</a:t>
            </a:r>
            <a:endParaRPr lang="en-US" sz="800" dirty="0"/>
          </a:p>
        </p:txBody>
      </p:sp>
      <p:sp>
        <p:nvSpPr>
          <p:cNvPr id="39" name="card-308"/>
          <p:cNvSpPr/>
          <p:nvPr/>
        </p:nvSpPr>
        <p:spPr>
          <a:xfrm>
            <a:off x="7680960" y="3840480"/>
            <a:ext cx="4050792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text-309"/>
          <p:cNvSpPr txBox="1"/>
          <p:nvPr/>
        </p:nvSpPr>
        <p:spPr>
          <a:xfrm>
            <a:off x="7882128" y="4005072"/>
            <a:ext cx="3685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0,21 млрд ₽</a:t>
            </a:r>
            <a:endParaRPr lang="en-US" sz="2200" dirty="0"/>
          </a:p>
        </p:txBody>
      </p:sp>
      <p:sp>
        <p:nvSpPr>
          <p:cNvPr id="41" name="text-310"/>
          <p:cNvSpPr txBox="1"/>
          <p:nvPr/>
        </p:nvSpPr>
        <p:spPr>
          <a:xfrm>
            <a:off x="7882128" y="4617720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цель 3-го года: 1% рынка, 28 тыс. полисов. Это +2,6% к взносам Ингосстраха в страховании имущества граждан (8,17 млрд ₽ в 2025)</a:t>
            </a:r>
            <a:endParaRPr lang="en-US" sz="1100" dirty="0"/>
          </a:p>
        </p:txBody>
      </p:sp>
      <p:sp>
        <p:nvSpPr>
          <p:cNvPr id="42" name="tag-311"/>
          <p:cNvSpPr/>
          <p:nvPr/>
        </p:nvSpPr>
        <p:spPr>
          <a:xfrm>
            <a:off x="7882128" y="5824728"/>
            <a:ext cx="3648456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3" name="text-312"/>
          <p:cNvSpPr txBox="1"/>
          <p:nvPr/>
        </p:nvSpPr>
        <p:spPr>
          <a:xfrm>
            <a:off x="7882128" y="5824728"/>
            <a:ext cx="3648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ДОПУЩЕНИЕ · 1% РЫНКА</a:t>
            </a:r>
            <a:endParaRPr lang="en-US" sz="800" dirty="0"/>
          </a:p>
        </p:txBody>
      </p:sp>
      <p:sp>
        <p:nvSpPr>
          <p:cNvPr id="44" name="text-313"/>
          <p:cNvSpPr txBox="1"/>
          <p:nvPr/>
        </p:nvSpPr>
        <p:spPr>
          <a:xfrm>
            <a:off x="457200" y="6263640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Ставка 38 тыс. ₽: средняя по всем квартирам вне Москвы и Санкт-Петербурга, ДОМ.РФ, III кв. 2026. Для столиц ставка выше, оценка консервативная. Взносы Ингосстраха: Банк России, 2025.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Ценностное предложение ИнгоКлюча</a:t>
            </a:r>
            <a:endParaRPr lang="en-US" sz="2400" dirty="0"/>
          </a:p>
        </p:txBody>
      </p:sp>
      <p:sp>
        <p:nvSpPr>
          <p:cNvPr id="4" name="card-314"/>
          <p:cNvSpPr/>
          <p:nvPr/>
        </p:nvSpPr>
        <p:spPr>
          <a:xfrm>
            <a:off x="457200" y="1371600"/>
            <a:ext cx="5513832" cy="2926080"/>
          </a:xfrm>
          <a:prstGeom prst="roundRect">
            <a:avLst>
              <a:gd name="adj" fmla="val 3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iconbg-315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-31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665122"/>
            <a:ext cx="281635" cy="281635"/>
          </a:xfrm>
          <a:prstGeom prst="rect">
            <a:avLst/>
          </a:prstGeom>
        </p:spPr>
      </p:pic>
      <p:sp>
        <p:nvSpPr>
          <p:cNvPr id="7" name="text-317"/>
          <p:cNvSpPr txBox="1"/>
          <p:nvPr/>
        </p:nvSpPr>
        <p:spPr>
          <a:xfrm>
            <a:off x="132588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Для жильца</a:t>
            </a:r>
            <a:endParaRPr lang="en-US" sz="1500" dirty="0"/>
          </a:p>
        </p:txBody>
      </p:sp>
      <p:sp>
        <p:nvSpPr>
          <p:cNvPr id="8" name="text-318"/>
          <p:cNvSpPr txBox="1"/>
          <p:nvPr/>
        </p:nvSpPr>
        <p:spPr>
          <a:xfrm>
            <a:off x="685800" y="2194560"/>
            <a:ext cx="5074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Для молодого арендатора, который при переезде должен за день отдать 2-3 ставки, ИнгоКлюч заменяет залог одним взносом около 20% ставки в год. Риск берет Ингосстрах, а состояние квартиры фиксирует цифровой акт, подписанный обеими сторонами. В отличие от залога деньги не заморожены, а удержать их без причины нельзя.</a:t>
            </a:r>
            <a:endParaRPr lang="en-US" sz="1150" dirty="0"/>
          </a:p>
        </p:txBody>
      </p:sp>
      <p:sp>
        <p:nvSpPr>
          <p:cNvPr id="9" name="card-319"/>
          <p:cNvSpPr/>
          <p:nvPr/>
        </p:nvSpPr>
        <p:spPr>
          <a:xfrm>
            <a:off x="6217920" y="1371600"/>
            <a:ext cx="5513832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iconbg-320"/>
          <p:cNvSpPr/>
          <p:nvPr/>
        </p:nvSpPr>
        <p:spPr>
          <a:xfrm>
            <a:off x="644652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3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162" y="1665122"/>
            <a:ext cx="281635" cy="281635"/>
          </a:xfrm>
          <a:prstGeom prst="rect">
            <a:avLst/>
          </a:prstGeom>
        </p:spPr>
      </p:pic>
      <p:sp>
        <p:nvSpPr>
          <p:cNvPr id="12" name="text-322"/>
          <p:cNvSpPr txBox="1"/>
          <p:nvPr/>
        </p:nvSpPr>
        <p:spPr>
          <a:xfrm>
            <a:off x="7086600" y="16459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Для собственника</a:t>
            </a:r>
            <a:endParaRPr lang="en-US" sz="1500" dirty="0"/>
          </a:p>
        </p:txBody>
      </p:sp>
      <p:sp>
        <p:nvSpPr>
          <p:cNvPr id="13" name="text-323"/>
          <p:cNvSpPr txBox="1"/>
          <p:nvPr/>
        </p:nvSpPr>
        <p:spPr>
          <a:xfrm>
            <a:off x="6446520" y="2194560"/>
            <a:ext cx="5074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Для частного собственника, который боится ущерба, долгов и досрочного выезда, ИнгоКлюч дает покрытие до двух месячных ставок, в два раза больше залога в столицах. Выплата идет по подписанному акту и известному заранее сроку. В отличие от залога его хватает на типичный ущерб, а в отличие от гарантий платформ правила видны до сделки.</a:t>
            </a:r>
            <a:endParaRPr lang="en-US" sz="1150" dirty="0"/>
          </a:p>
        </p:txBody>
      </p:sp>
      <p:sp>
        <p:nvSpPr>
          <p:cNvPr id="14" name="card-324"/>
          <p:cNvSpPr/>
          <p:nvPr/>
        </p:nvSpPr>
        <p:spPr>
          <a:xfrm>
            <a:off x="457200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iconbg-325"/>
          <p:cNvSpPr/>
          <p:nvPr/>
        </p:nvSpPr>
        <p:spPr>
          <a:xfrm>
            <a:off x="640080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-3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" y="4737689"/>
            <a:ext cx="235549" cy="235549"/>
          </a:xfrm>
          <a:prstGeom prst="rect">
            <a:avLst/>
          </a:prstGeom>
        </p:spPr>
      </p:pic>
      <p:sp>
        <p:nvSpPr>
          <p:cNvPr id="17" name="text-327"/>
          <p:cNvSpPr txBox="1"/>
          <p:nvPr/>
        </p:nvSpPr>
        <p:spPr>
          <a:xfrm>
            <a:off x="1170432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Любая квартира</a:t>
            </a:r>
            <a:endParaRPr lang="en-US" sz="1200" dirty="0"/>
          </a:p>
        </p:txBody>
      </p:sp>
      <p:sp>
        <p:nvSpPr>
          <p:cNvPr id="18" name="text-328"/>
          <p:cNvSpPr txBox="1"/>
          <p:nvPr/>
        </p:nvSpPr>
        <p:spPr>
          <a:xfrm>
            <a:off x="640080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Прямые сделки на Авито и ЦИАН, без агента и без закрытой сети</a:t>
            </a:r>
            <a:endParaRPr lang="en-US" sz="1050" dirty="0"/>
          </a:p>
        </p:txBody>
      </p:sp>
      <p:sp>
        <p:nvSpPr>
          <p:cNvPr id="19" name="card-329"/>
          <p:cNvSpPr/>
          <p:nvPr/>
        </p:nvSpPr>
        <p:spPr>
          <a:xfrm>
            <a:off x="3300984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iconbg-330"/>
          <p:cNvSpPr/>
          <p:nvPr/>
        </p:nvSpPr>
        <p:spPr>
          <a:xfrm>
            <a:off x="3483864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-33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401" y="4737689"/>
            <a:ext cx="235549" cy="235549"/>
          </a:xfrm>
          <a:prstGeom prst="rect">
            <a:avLst/>
          </a:prstGeom>
        </p:spPr>
      </p:pic>
      <p:sp>
        <p:nvSpPr>
          <p:cNvPr id="22" name="text-332"/>
          <p:cNvSpPr txBox="1"/>
          <p:nvPr/>
        </p:nvSpPr>
        <p:spPr>
          <a:xfrm>
            <a:off x="4014216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Симметричный акт</a:t>
            </a:r>
            <a:endParaRPr lang="en-US" sz="1200" dirty="0"/>
          </a:p>
        </p:txBody>
      </p:sp>
      <p:sp>
        <p:nvSpPr>
          <p:cNvPr id="23" name="text-333"/>
          <p:cNvSpPr txBox="1"/>
          <p:nvPr/>
        </p:nvSpPr>
        <p:spPr>
          <a:xfrm>
            <a:off x="3483864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Один чек-лист при заезде и выезде, фото с датой, подпись обеих сторон</a:t>
            </a:r>
            <a:endParaRPr lang="en-US" sz="1050" dirty="0"/>
          </a:p>
        </p:txBody>
      </p:sp>
      <p:sp>
        <p:nvSpPr>
          <p:cNvPr id="24" name="card-334"/>
          <p:cNvSpPr/>
          <p:nvPr/>
        </p:nvSpPr>
        <p:spPr>
          <a:xfrm>
            <a:off x="6144768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iconbg-335"/>
          <p:cNvSpPr/>
          <p:nvPr/>
        </p:nvSpPr>
        <p:spPr>
          <a:xfrm>
            <a:off x="6327648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-33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0185" y="4737689"/>
            <a:ext cx="235549" cy="235549"/>
          </a:xfrm>
          <a:prstGeom prst="rect">
            <a:avLst/>
          </a:prstGeom>
        </p:spPr>
      </p:pic>
      <p:sp>
        <p:nvSpPr>
          <p:cNvPr id="27" name="text-337"/>
          <p:cNvSpPr txBox="1"/>
          <p:nvPr/>
        </p:nvSpPr>
        <p:spPr>
          <a:xfrm>
            <a:off x="6858000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Правила заранее</a:t>
            </a:r>
            <a:endParaRPr lang="en-US" sz="1200" dirty="0"/>
          </a:p>
        </p:txBody>
      </p:sp>
      <p:sp>
        <p:nvSpPr>
          <p:cNvPr id="28" name="text-338"/>
          <p:cNvSpPr txBox="1"/>
          <p:nvPr/>
        </p:nvSpPr>
        <p:spPr>
          <a:xfrm>
            <a:off x="6327648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Досрочный выезд, лимит и срок выплаты видны до подписания</a:t>
            </a:r>
            <a:endParaRPr lang="en-US" sz="1050" dirty="0"/>
          </a:p>
        </p:txBody>
      </p:sp>
      <p:sp>
        <p:nvSpPr>
          <p:cNvPr id="29" name="card-339"/>
          <p:cNvSpPr/>
          <p:nvPr/>
        </p:nvSpPr>
        <p:spPr>
          <a:xfrm>
            <a:off x="8988552" y="4480560"/>
            <a:ext cx="269748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iconbg-340"/>
          <p:cNvSpPr/>
          <p:nvPr/>
        </p:nvSpPr>
        <p:spPr>
          <a:xfrm>
            <a:off x="9171432" y="46451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-3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3969" y="4737689"/>
            <a:ext cx="235549" cy="235549"/>
          </a:xfrm>
          <a:prstGeom prst="rect">
            <a:avLst/>
          </a:prstGeom>
        </p:spPr>
      </p:pic>
      <p:sp>
        <p:nvSpPr>
          <p:cNvPr id="32" name="text-342"/>
          <p:cNvSpPr txBox="1"/>
          <p:nvPr/>
        </p:nvSpPr>
        <p:spPr>
          <a:xfrm>
            <a:off x="9701784" y="468172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История жильца</a:t>
            </a:r>
            <a:endParaRPr lang="en-US" sz="1200" dirty="0"/>
          </a:p>
        </p:txBody>
      </p:sp>
      <p:sp>
        <p:nvSpPr>
          <p:cNvPr id="33" name="text-343"/>
          <p:cNvSpPr txBox="1"/>
          <p:nvPr/>
        </p:nvSpPr>
        <p:spPr>
          <a:xfrm>
            <a:off x="9171432" y="516636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Минус 25% к взносу за каждый выезд без претензий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Ключевой сценарий: 7 шагов</a:t>
            </a:r>
            <a:endParaRPr lang="en-US" sz="2400" dirty="0"/>
          </a:p>
        </p:txBody>
      </p:sp>
      <p:sp>
        <p:nvSpPr>
          <p:cNvPr id="4" name="card-344"/>
          <p:cNvSpPr/>
          <p:nvPr/>
        </p:nvSpPr>
        <p:spPr>
          <a:xfrm>
            <a:off x="45720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-345"/>
          <p:cNvSpPr/>
          <p:nvPr/>
        </p:nvSpPr>
        <p:spPr>
          <a:xfrm>
            <a:off x="59436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346"/>
          <p:cNvSpPr txBox="1"/>
          <p:nvPr/>
        </p:nvSpPr>
        <p:spPr>
          <a:xfrm>
            <a:off x="59436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-347"/>
          <p:cNvSpPr txBox="1"/>
          <p:nvPr/>
        </p:nvSpPr>
        <p:spPr>
          <a:xfrm>
            <a:off x="59436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Нашел квартиру</a:t>
            </a:r>
            <a:endParaRPr lang="en-US" sz="1150" dirty="0"/>
          </a:p>
        </p:txBody>
      </p:sp>
      <p:sp>
        <p:nvSpPr>
          <p:cNvPr id="8" name="text-348"/>
          <p:cNvSpPr txBox="1"/>
          <p:nvPr/>
        </p:nvSpPr>
        <p:spPr>
          <a:xfrm>
            <a:off x="59436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Собственник просит депозит в размере ставки. Жилец предлагает ИнгоКлюч.</a:t>
            </a:r>
            <a:endParaRPr lang="en-US" sz="1050" dirty="0"/>
          </a:p>
        </p:txBody>
      </p:sp>
      <p:sp>
        <p:nvSpPr>
          <p:cNvPr id="9" name="card-349"/>
          <p:cNvSpPr/>
          <p:nvPr/>
        </p:nvSpPr>
        <p:spPr>
          <a:xfrm>
            <a:off x="208026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350"/>
          <p:cNvSpPr/>
          <p:nvPr/>
        </p:nvSpPr>
        <p:spPr>
          <a:xfrm>
            <a:off x="221742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351"/>
          <p:cNvSpPr txBox="1"/>
          <p:nvPr/>
        </p:nvSpPr>
        <p:spPr>
          <a:xfrm>
            <a:off x="221742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-352"/>
          <p:cNvSpPr txBox="1"/>
          <p:nvPr/>
        </p:nvSpPr>
        <p:spPr>
          <a:xfrm>
            <a:off x="221742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Скоринг за 3 минуты</a:t>
            </a:r>
            <a:endParaRPr lang="en-US" sz="1150" dirty="0"/>
          </a:p>
        </p:txBody>
      </p:sp>
      <p:sp>
        <p:nvSpPr>
          <p:cNvPr id="13" name="text-353"/>
          <p:cNvSpPr txBox="1"/>
          <p:nvPr/>
        </p:nvSpPr>
        <p:spPr>
          <a:xfrm>
            <a:off x="221742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Сайт или Telegram-бот: паспорт, доход, история аренды. Цена взноса зависит от риска.</a:t>
            </a:r>
            <a:endParaRPr lang="en-US" sz="1050" dirty="0"/>
          </a:p>
        </p:txBody>
      </p:sp>
      <p:sp>
        <p:nvSpPr>
          <p:cNvPr id="14" name="ingo-354"/>
          <p:cNvSpPr/>
          <p:nvPr/>
        </p:nvSpPr>
        <p:spPr>
          <a:xfrm>
            <a:off x="218998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-355"/>
          <p:cNvSpPr txBox="1"/>
          <p:nvPr/>
        </p:nvSpPr>
        <p:spPr>
          <a:xfrm>
            <a:off x="218998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Скоринг на ИИ</a:t>
            </a:r>
            <a:endParaRPr lang="en-US" sz="950" dirty="0"/>
          </a:p>
        </p:txBody>
      </p:sp>
      <p:sp>
        <p:nvSpPr>
          <p:cNvPr id="16" name="card-356"/>
          <p:cNvSpPr/>
          <p:nvPr/>
        </p:nvSpPr>
        <p:spPr>
          <a:xfrm>
            <a:off x="370332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badge-357"/>
          <p:cNvSpPr/>
          <p:nvPr/>
        </p:nvSpPr>
        <p:spPr>
          <a:xfrm>
            <a:off x="3840480" y="1517904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-358"/>
          <p:cNvSpPr txBox="1"/>
          <p:nvPr/>
        </p:nvSpPr>
        <p:spPr>
          <a:xfrm>
            <a:off x="384048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-359"/>
          <p:cNvSpPr txBox="1"/>
          <p:nvPr/>
        </p:nvSpPr>
        <p:spPr>
          <a:xfrm>
            <a:off x="384048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Сертификат собственнику</a:t>
            </a:r>
            <a:endParaRPr lang="en-US" sz="1150" dirty="0"/>
          </a:p>
        </p:txBody>
      </p:sp>
      <p:sp>
        <p:nvSpPr>
          <p:cNvPr id="20" name="text-360"/>
          <p:cNvSpPr txBox="1"/>
          <p:nvPr/>
        </p:nvSpPr>
        <p:spPr>
          <a:xfrm>
            <a:off x="384048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Ссылка с лимитом, правилами досрочного выезда и сроком выплаты.</a:t>
            </a:r>
            <a:endParaRPr lang="en-US" sz="1050" dirty="0"/>
          </a:p>
        </p:txBody>
      </p:sp>
      <p:sp>
        <p:nvSpPr>
          <p:cNvPr id="21" name="ingo-361"/>
          <p:cNvSpPr/>
          <p:nvPr/>
        </p:nvSpPr>
        <p:spPr>
          <a:xfrm>
            <a:off x="381304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-362"/>
          <p:cNvSpPr txBox="1"/>
          <p:nvPr/>
        </p:nvSpPr>
        <p:spPr>
          <a:xfrm>
            <a:off x="381304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Бренд, ruAAA</a:t>
            </a:r>
            <a:endParaRPr lang="en-US" sz="950" dirty="0"/>
          </a:p>
        </p:txBody>
      </p:sp>
      <p:sp>
        <p:nvSpPr>
          <p:cNvPr id="23" name="card-363"/>
          <p:cNvSpPr/>
          <p:nvPr/>
        </p:nvSpPr>
        <p:spPr>
          <a:xfrm>
            <a:off x="532638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badge-364"/>
          <p:cNvSpPr/>
          <p:nvPr/>
        </p:nvSpPr>
        <p:spPr>
          <a:xfrm>
            <a:off x="546354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-365"/>
          <p:cNvSpPr txBox="1"/>
          <p:nvPr/>
        </p:nvSpPr>
        <p:spPr>
          <a:xfrm>
            <a:off x="546354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-366"/>
          <p:cNvSpPr txBox="1"/>
          <p:nvPr/>
        </p:nvSpPr>
        <p:spPr>
          <a:xfrm>
            <a:off x="546354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Полис и договор</a:t>
            </a:r>
            <a:endParaRPr lang="en-US" sz="1150" dirty="0"/>
          </a:p>
        </p:txBody>
      </p:sp>
      <p:sp>
        <p:nvSpPr>
          <p:cNvPr id="27" name="text-367"/>
          <p:cNvSpPr txBox="1"/>
          <p:nvPr/>
        </p:nvSpPr>
        <p:spPr>
          <a:xfrm>
            <a:off x="546354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Собственник получает полис, жилец платит взнос. Шаблон договора найма с правилами.</a:t>
            </a:r>
            <a:endParaRPr lang="en-US" sz="1050" dirty="0"/>
          </a:p>
        </p:txBody>
      </p:sp>
      <p:sp>
        <p:nvSpPr>
          <p:cNvPr id="28" name="card-368"/>
          <p:cNvSpPr/>
          <p:nvPr/>
        </p:nvSpPr>
        <p:spPr>
          <a:xfrm>
            <a:off x="694944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-369"/>
          <p:cNvSpPr/>
          <p:nvPr/>
        </p:nvSpPr>
        <p:spPr>
          <a:xfrm>
            <a:off x="708660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-370"/>
          <p:cNvSpPr txBox="1"/>
          <p:nvPr/>
        </p:nvSpPr>
        <p:spPr>
          <a:xfrm>
            <a:off x="708660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-371"/>
          <p:cNvSpPr txBox="1"/>
          <p:nvPr/>
        </p:nvSpPr>
        <p:spPr>
          <a:xfrm>
            <a:off x="708660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Акт заезда</a:t>
            </a:r>
            <a:endParaRPr lang="en-US" sz="1150" dirty="0"/>
          </a:p>
        </p:txBody>
      </p:sp>
      <p:sp>
        <p:nvSpPr>
          <p:cNvPr id="32" name="text-372"/>
          <p:cNvSpPr txBox="1"/>
          <p:nvPr/>
        </p:nvSpPr>
        <p:spPr>
          <a:xfrm>
            <a:off x="708660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Самоосмотр по чек-листу за 10-15 минут, фото с датой, подписи обеих сторон.</a:t>
            </a:r>
            <a:endParaRPr lang="en-US" sz="1050" dirty="0"/>
          </a:p>
        </p:txBody>
      </p:sp>
      <p:sp>
        <p:nvSpPr>
          <p:cNvPr id="33" name="ingo-373"/>
          <p:cNvSpPr/>
          <p:nvPr/>
        </p:nvSpPr>
        <p:spPr>
          <a:xfrm>
            <a:off x="705916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-374"/>
          <p:cNvSpPr txBox="1"/>
          <p:nvPr/>
        </p:nvSpPr>
        <p:spPr>
          <a:xfrm>
            <a:off x="705916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Самоосмотр</a:t>
            </a:r>
            <a:endParaRPr lang="en-US" sz="950" dirty="0"/>
          </a:p>
        </p:txBody>
      </p:sp>
      <p:sp>
        <p:nvSpPr>
          <p:cNvPr id="35" name="card-375"/>
          <p:cNvSpPr/>
          <p:nvPr/>
        </p:nvSpPr>
        <p:spPr>
          <a:xfrm>
            <a:off x="857250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badge-376"/>
          <p:cNvSpPr/>
          <p:nvPr/>
        </p:nvSpPr>
        <p:spPr>
          <a:xfrm>
            <a:off x="8709660" y="1517904"/>
            <a:ext cx="411480" cy="4114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-377"/>
          <p:cNvSpPr txBox="1"/>
          <p:nvPr/>
        </p:nvSpPr>
        <p:spPr>
          <a:xfrm>
            <a:off x="870966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-378"/>
          <p:cNvSpPr txBox="1"/>
          <p:nvPr/>
        </p:nvSpPr>
        <p:spPr>
          <a:xfrm>
            <a:off x="870966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Выезд</a:t>
            </a:r>
            <a:endParaRPr lang="en-US" sz="1150" dirty="0"/>
          </a:p>
        </p:txBody>
      </p:sp>
      <p:sp>
        <p:nvSpPr>
          <p:cNvPr id="39" name="text-379"/>
          <p:cNvSpPr txBox="1"/>
          <p:nvPr/>
        </p:nvSpPr>
        <p:spPr>
          <a:xfrm>
            <a:off x="870966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Такой же акт. При претензии эксперт сравнивает акты, выплата собственнику, затем взыскание с виновного жильца.</a:t>
            </a:r>
            <a:endParaRPr lang="en-US" sz="1050" dirty="0"/>
          </a:p>
        </p:txBody>
      </p:sp>
      <p:sp>
        <p:nvSpPr>
          <p:cNvPr id="40" name="ingo-380"/>
          <p:cNvSpPr/>
          <p:nvPr/>
        </p:nvSpPr>
        <p:spPr>
          <a:xfrm>
            <a:off x="8682228" y="4901184"/>
            <a:ext cx="1316736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1" name="text-381"/>
          <p:cNvSpPr txBox="1"/>
          <p:nvPr/>
        </p:nvSpPr>
        <p:spPr>
          <a:xfrm>
            <a:off x="8682228" y="4901184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accent1"/>
                </a:solidFill>
              </a:rPr>
              <a:t>Урегулирование</a:t>
            </a:r>
            <a:endParaRPr lang="en-US" sz="950" dirty="0"/>
          </a:p>
        </p:txBody>
      </p:sp>
      <p:sp>
        <p:nvSpPr>
          <p:cNvPr id="42" name="card-382"/>
          <p:cNvSpPr/>
          <p:nvPr/>
        </p:nvSpPr>
        <p:spPr>
          <a:xfrm>
            <a:off x="10195560" y="1371600"/>
            <a:ext cx="1536192" cy="4023360"/>
          </a:xfrm>
          <a:prstGeom prst="roundRect">
            <a:avLst>
              <a:gd name="adj" fmla="val 714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badge-383"/>
          <p:cNvSpPr/>
          <p:nvPr/>
        </p:nvSpPr>
        <p:spPr>
          <a:xfrm>
            <a:off x="10332720" y="1517904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text-384"/>
          <p:cNvSpPr txBox="1"/>
          <p:nvPr/>
        </p:nvSpPr>
        <p:spPr>
          <a:xfrm>
            <a:off x="10332720" y="1517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</a:t>
            </a:r>
            <a:endParaRPr lang="en-US" sz="1300" dirty="0"/>
          </a:p>
        </p:txBody>
      </p:sp>
      <p:sp>
        <p:nvSpPr>
          <p:cNvPr id="45" name="text-385"/>
          <p:cNvSpPr txBox="1"/>
          <p:nvPr/>
        </p:nvSpPr>
        <p:spPr>
          <a:xfrm>
            <a:off x="10332720" y="2057400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2"/>
                </a:solidFill>
              </a:rPr>
              <a:t>Следующий переезд</a:t>
            </a:r>
            <a:endParaRPr lang="en-US" sz="1150" dirty="0"/>
          </a:p>
        </p:txBody>
      </p:sp>
      <p:sp>
        <p:nvSpPr>
          <p:cNvPr id="46" name="text-386"/>
          <p:cNvSpPr txBox="1"/>
          <p:nvPr/>
        </p:nvSpPr>
        <p:spPr>
          <a:xfrm>
            <a:off x="10332720" y="2743200"/>
            <a:ext cx="12893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Чистый выезд снижает следующий взнос на 25%. Жилец возвращается при каждом переезде.</a:t>
            </a:r>
            <a:endParaRPr lang="en-US" sz="1050" dirty="0"/>
          </a:p>
        </p:txBody>
      </p:sp>
      <p:sp>
        <p:nvSpPr>
          <p:cNvPr id="47" name="text-387"/>
          <p:cNvSpPr txBox="1"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Момент ценности: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шаг 3, собственник соглашается без денег, и шаг 7, жилец возвращается.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Лаймовые метки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показывают, где работают системы Ингосстраха.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Юридическая конструкция продукта</a:t>
            </a:r>
            <a:endParaRPr lang="en-US" sz="2400" dirty="0"/>
          </a:p>
        </p:txBody>
      </p:sp>
      <p:sp>
        <p:nvSpPr>
          <p:cNvPr id="4" name="card-388"/>
          <p:cNvSpPr/>
          <p:nvPr/>
        </p:nvSpPr>
        <p:spPr>
          <a:xfrm>
            <a:off x="457200" y="137160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389"/>
          <p:cNvSpPr/>
          <p:nvPr/>
        </p:nvSpPr>
        <p:spPr>
          <a:xfrm>
            <a:off x="640080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73352"/>
            <a:ext cx="256032" cy="256032"/>
          </a:xfrm>
          <a:prstGeom prst="rect">
            <a:avLst/>
          </a:prstGeom>
        </p:spPr>
      </p:pic>
      <p:sp>
        <p:nvSpPr>
          <p:cNvPr id="7" name="text-391"/>
          <p:cNvSpPr txBox="1"/>
          <p:nvPr/>
        </p:nvSpPr>
        <p:spPr>
          <a:xfrm>
            <a:off x="1234440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Страхователь</a:t>
            </a:r>
            <a:endParaRPr lang="en-US" sz="1300" dirty="0"/>
          </a:p>
        </p:txBody>
      </p:sp>
      <p:sp>
        <p:nvSpPr>
          <p:cNvPr id="8" name="text-392"/>
          <p:cNvSpPr txBox="1"/>
          <p:nvPr/>
        </p:nvSpPr>
        <p:spPr>
          <a:xfrm>
            <a:off x="1234440" y="18745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Собственник квартиры. Вариант для масштаба: платформа по генеральному договору в пользу собственников.</a:t>
            </a:r>
            <a:endParaRPr lang="en-US" sz="1100" dirty="0"/>
          </a:p>
        </p:txBody>
      </p:sp>
      <p:sp>
        <p:nvSpPr>
          <p:cNvPr id="9" name="text-393"/>
          <p:cNvSpPr txBox="1"/>
          <p:nvPr/>
        </p:nvSpPr>
        <p:spPr>
          <a:xfrm>
            <a:off x="123444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930 ГК РФ</a:t>
            </a:r>
            <a:endParaRPr lang="en-US" sz="950" dirty="0"/>
          </a:p>
        </p:txBody>
      </p:sp>
      <p:sp>
        <p:nvSpPr>
          <p:cNvPr id="10" name="card-394"/>
          <p:cNvSpPr/>
          <p:nvPr/>
        </p:nvSpPr>
        <p:spPr>
          <a:xfrm>
            <a:off x="6172200" y="137160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395"/>
          <p:cNvSpPr/>
          <p:nvPr/>
        </p:nvSpPr>
        <p:spPr>
          <a:xfrm>
            <a:off x="6355080" y="1572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3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673352"/>
            <a:ext cx="256032" cy="256032"/>
          </a:xfrm>
          <a:prstGeom prst="rect">
            <a:avLst/>
          </a:prstGeom>
        </p:spPr>
      </p:pic>
      <p:sp>
        <p:nvSpPr>
          <p:cNvPr id="13" name="text-397"/>
          <p:cNvSpPr txBox="1"/>
          <p:nvPr/>
        </p:nvSpPr>
        <p:spPr>
          <a:xfrm>
            <a:off x="6949440" y="15544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Ущерб квартире</a:t>
            </a:r>
            <a:endParaRPr lang="en-US" sz="1300" dirty="0"/>
          </a:p>
        </p:txBody>
      </p:sp>
      <p:sp>
        <p:nvSpPr>
          <p:cNvPr id="14" name="text-398"/>
          <p:cNvSpPr txBox="1"/>
          <p:nvPr/>
        </p:nvSpPr>
        <p:spPr>
          <a:xfrm>
            <a:off x="6949440" y="18745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Страхование имущества граждан в пользу собственника.</a:t>
            </a:r>
            <a:endParaRPr lang="en-US" sz="1100" dirty="0"/>
          </a:p>
        </p:txBody>
      </p:sp>
      <p:sp>
        <p:nvSpPr>
          <p:cNvPr id="15" name="text-399"/>
          <p:cNvSpPr txBox="1"/>
          <p:nvPr/>
        </p:nvSpPr>
        <p:spPr>
          <a:xfrm>
            <a:off x="6949440" y="244144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929, 930 ГК РФ, вид 13 ст. 32.9 Закона 4015-1</a:t>
            </a:r>
            <a:endParaRPr lang="en-US" sz="950" dirty="0"/>
          </a:p>
        </p:txBody>
      </p:sp>
      <p:sp>
        <p:nvSpPr>
          <p:cNvPr id="16" name="card-400"/>
          <p:cNvSpPr/>
          <p:nvPr/>
        </p:nvSpPr>
        <p:spPr>
          <a:xfrm>
            <a:off x="457200" y="292608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bg-401"/>
          <p:cNvSpPr/>
          <p:nvPr/>
        </p:nvSpPr>
        <p:spPr>
          <a:xfrm>
            <a:off x="640080" y="3127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40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227832"/>
            <a:ext cx="256032" cy="256032"/>
          </a:xfrm>
          <a:prstGeom prst="rect">
            <a:avLst/>
          </a:prstGeom>
        </p:spPr>
      </p:pic>
      <p:sp>
        <p:nvSpPr>
          <p:cNvPr id="19" name="text-403"/>
          <p:cNvSpPr txBox="1"/>
          <p:nvPr/>
        </p:nvSpPr>
        <p:spPr>
          <a:xfrm>
            <a:off x="1234440" y="3108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Неуплата аренды и ЖКУ</a:t>
            </a:r>
            <a:endParaRPr lang="en-US" sz="1300" dirty="0"/>
          </a:p>
        </p:txBody>
      </p:sp>
      <p:sp>
        <p:nvSpPr>
          <p:cNvPr id="20" name="text-404"/>
          <p:cNvSpPr txBox="1"/>
          <p:nvPr/>
        </p:nvSpPr>
        <p:spPr>
          <a:xfrm>
            <a:off x="1234440" y="34290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Страхование финансовых рисков собственника: риск неполучения дохода.</a:t>
            </a:r>
            <a:endParaRPr lang="en-US" sz="1100" dirty="0"/>
          </a:p>
        </p:txBody>
      </p:sp>
      <p:sp>
        <p:nvSpPr>
          <p:cNvPr id="21" name="text-405"/>
          <p:cNvSpPr txBox="1"/>
          <p:nvPr/>
        </p:nvSpPr>
        <p:spPr>
          <a:xfrm>
            <a:off x="1234440" y="39959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4 п. 4 и вид 23 ст. 32.9 Закона 4015-1</a:t>
            </a:r>
            <a:endParaRPr lang="en-US" sz="950" dirty="0"/>
          </a:p>
        </p:txBody>
      </p:sp>
      <p:sp>
        <p:nvSpPr>
          <p:cNvPr id="22" name="card-406"/>
          <p:cNvSpPr/>
          <p:nvPr/>
        </p:nvSpPr>
        <p:spPr>
          <a:xfrm>
            <a:off x="6172200" y="2926080"/>
            <a:ext cx="555955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-407"/>
          <p:cNvSpPr/>
          <p:nvPr/>
        </p:nvSpPr>
        <p:spPr>
          <a:xfrm>
            <a:off x="6355080" y="3127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-4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227832"/>
            <a:ext cx="256032" cy="256032"/>
          </a:xfrm>
          <a:prstGeom prst="rect">
            <a:avLst/>
          </a:prstGeom>
        </p:spPr>
      </p:pic>
      <p:sp>
        <p:nvSpPr>
          <p:cNvPr id="25" name="text-409"/>
          <p:cNvSpPr txBox="1"/>
          <p:nvPr/>
        </p:nvSpPr>
        <p:spPr>
          <a:xfrm>
            <a:off x="6949440" y="31089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Взыскание с жильца</a:t>
            </a:r>
            <a:endParaRPr lang="en-US" sz="1300" dirty="0"/>
          </a:p>
        </p:txBody>
      </p:sp>
      <p:sp>
        <p:nvSpPr>
          <p:cNvPr id="26" name="text-410"/>
          <p:cNvSpPr txBox="1"/>
          <p:nvPr/>
        </p:nvSpPr>
        <p:spPr>
          <a:xfrm>
            <a:off x="6949440" y="342900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После выплаты Ингосстрах взыскивает ущерб с виновного жильца в пределах выплаты.</a:t>
            </a:r>
            <a:endParaRPr lang="en-US" sz="1100" dirty="0"/>
          </a:p>
        </p:txBody>
      </p:sp>
      <p:sp>
        <p:nvSpPr>
          <p:cNvPr id="27" name="text-411"/>
          <p:cNvSpPr txBox="1"/>
          <p:nvPr/>
        </p:nvSpPr>
        <p:spPr>
          <a:xfrm>
            <a:off x="6949440" y="3995928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chemeClr val="accent4"/>
                </a:solidFill>
              </a:rPr>
              <a:t>ст. 965 ГК РФ, Пленум ВС № 19, п. 57-58</a:t>
            </a:r>
            <a:endParaRPr lang="en-US" sz="950" dirty="0"/>
          </a:p>
        </p:txBody>
      </p:sp>
      <p:sp>
        <p:nvSpPr>
          <p:cNvPr id="28" name="card-412"/>
          <p:cNvSpPr/>
          <p:nvPr/>
        </p:nvSpPr>
        <p:spPr>
          <a:xfrm>
            <a:off x="457200" y="4526280"/>
            <a:ext cx="5559552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solid"/>
          </a:ln>
        </p:spPr>
      </p:sp>
      <p:sp>
        <p:nvSpPr>
          <p:cNvPr id="29" name="text-413"/>
          <p:cNvSpPr txBox="1"/>
          <p:nvPr/>
        </p:nvSpPr>
        <p:spPr>
          <a:xfrm>
            <a:off x="658368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Чего не делать</a:t>
            </a:r>
            <a:endParaRPr lang="en-US" sz="1300" dirty="0"/>
          </a:p>
        </p:txBody>
      </p:sp>
      <p:sp>
        <p:nvSpPr>
          <p:cNvPr id="30" name="text-414"/>
          <p:cNvSpPr txBox="1"/>
          <p:nvPr/>
        </p:nvSpPr>
        <p:spPr>
          <a:xfrm>
            <a:off x="658368" y="4937760"/>
            <a:ext cx="5166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Не продавать жильцу страхование его ответственности за неуплату по договору найма. Такой риск страхуется только в случаях, прямо предусмотренных законом (ст. 932 ГК РФ), а жилец-страхователь закрывает взыскание.</a:t>
            </a:r>
            <a:endParaRPr lang="en-US" sz="1100" dirty="0"/>
          </a:p>
        </p:txBody>
      </p:sp>
      <p:sp>
        <p:nvSpPr>
          <p:cNvPr id="31" name="card-415"/>
          <p:cNvSpPr/>
          <p:nvPr/>
        </p:nvSpPr>
        <p:spPr>
          <a:xfrm>
            <a:off x="6172200" y="4526280"/>
            <a:ext cx="5559552" cy="164592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-416"/>
          <p:cNvSpPr txBox="1"/>
          <p:nvPr/>
        </p:nvSpPr>
        <p:spPr>
          <a:xfrm>
            <a:off x="6373368" y="4617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Обязательные шаги</a:t>
            </a:r>
            <a:endParaRPr lang="en-US" sz="1300" dirty="0"/>
          </a:p>
        </p:txBody>
      </p:sp>
      <p:sp>
        <p:nvSpPr>
          <p:cNvPr id="33" name="text-417"/>
          <p:cNvSpPr txBox="1"/>
          <p:nvPr/>
        </p:nvSpPr>
        <p:spPr>
          <a:xfrm>
            <a:off x="6373368" y="4937760"/>
            <a:ext cx="5166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КИД до заключения договора (6109-У), период охлаждения 14 дней (3854-У), электронный полис и акт с подписями. Невозвратной делаем только сервисную часть сбора, премия возвращается по правилам периода охлаждения. Квалификацию неуплаты как финансового риска проверяем с юристами Ингосстраха.</a:t>
            </a:r>
            <a:endParaRPr lang="en-US" sz="1050" dirty="0"/>
          </a:p>
        </p:txBody>
      </p:sp>
      <p:sp>
        <p:nvSpPr>
          <p:cNvPr id="34" name="text-418"/>
          <p:cNvSpPr txBox="1"/>
          <p:nvPr/>
        </p:nvSpPr>
        <p:spPr>
          <a:xfrm>
            <a:off x="457200" y="63093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Тексты норм: base.garant.ru, legalacts.ru, cbr.ru, открыты 25.10.2026. Конструкция: устоявшееся право по пунктам 1-2 и 4 и вывод команды по пункту 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4 ИЗ 5 · ГИПОТЕЗА РЕШЕНИЯ И ПРЕИМУЩЕСТВА ИНГОССТРАХА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Почему у Ингосстраха есть право на победу</a:t>
            </a:r>
            <a:endParaRPr lang="en-US" sz="2400" dirty="0"/>
          </a:p>
        </p:txBody>
      </p:sp>
      <p:sp>
        <p:nvSpPr>
          <p:cNvPr id="4" name="card-419"/>
          <p:cNvSpPr/>
          <p:nvPr/>
        </p:nvSpPr>
        <p:spPr>
          <a:xfrm>
            <a:off x="457200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iconbg-420"/>
          <p:cNvSpPr/>
          <p:nvPr/>
        </p:nvSpPr>
        <p:spPr>
          <a:xfrm>
            <a:off x="658368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42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677375"/>
            <a:ext cx="266273" cy="266273"/>
          </a:xfrm>
          <a:prstGeom prst="rect">
            <a:avLst/>
          </a:prstGeom>
        </p:spPr>
      </p:pic>
      <p:sp>
        <p:nvSpPr>
          <p:cNvPr id="7" name="text-422"/>
          <p:cNvSpPr txBox="1"/>
          <p:nvPr/>
        </p:nvSpPr>
        <p:spPr>
          <a:xfrm>
            <a:off x="1280160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2-е место в финансовых рисках</a:t>
            </a:r>
            <a:endParaRPr lang="en-US" sz="1200" dirty="0"/>
          </a:p>
        </p:txBody>
      </p:sp>
      <p:sp>
        <p:nvSpPr>
          <p:cNvPr id="8" name="text-423"/>
          <p:cNvSpPr txBox="1"/>
          <p:nvPr/>
        </p:nvSpPr>
        <p:spPr>
          <a:xfrm>
            <a:off x="658368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Доля 10,8%, 6,22 млрд ₽ взносов в 2025 году. Неуплата аренды страхуется именно здесь</a:t>
            </a:r>
            <a:endParaRPr lang="en-US" sz="1100" dirty="0"/>
          </a:p>
        </p:txBody>
      </p:sp>
      <p:sp>
        <p:nvSpPr>
          <p:cNvPr id="9" name="text-424"/>
          <p:cNvSpPr txBox="1"/>
          <p:nvPr/>
        </p:nvSpPr>
        <p:spPr>
          <a:xfrm>
            <a:off x="658368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Банк России, расчет по форме 0420162</a:t>
            </a:r>
            <a:endParaRPr lang="en-US" sz="900" dirty="0"/>
          </a:p>
        </p:txBody>
      </p:sp>
      <p:sp>
        <p:nvSpPr>
          <p:cNvPr id="10" name="card-425"/>
          <p:cNvSpPr/>
          <p:nvPr/>
        </p:nvSpPr>
        <p:spPr>
          <a:xfrm>
            <a:off x="4270248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iconbg-426"/>
          <p:cNvSpPr/>
          <p:nvPr/>
        </p:nvSpPr>
        <p:spPr>
          <a:xfrm>
            <a:off x="4471416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-42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023" y="1677375"/>
            <a:ext cx="266273" cy="266273"/>
          </a:xfrm>
          <a:prstGeom prst="rect">
            <a:avLst/>
          </a:prstGeom>
        </p:spPr>
      </p:pic>
      <p:sp>
        <p:nvSpPr>
          <p:cNvPr id="13" name="text-428"/>
          <p:cNvSpPr txBox="1"/>
          <p:nvPr/>
        </p:nvSpPr>
        <p:spPr>
          <a:xfrm>
            <a:off x="5093208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1-е место в страховании ответственности</a:t>
            </a:r>
            <a:endParaRPr lang="en-US" sz="1200" dirty="0"/>
          </a:p>
        </p:txBody>
      </p:sp>
      <p:sp>
        <p:nvSpPr>
          <p:cNvPr id="14" name="text-429"/>
          <p:cNvSpPr txBox="1"/>
          <p:nvPr/>
        </p:nvSpPr>
        <p:spPr>
          <a:xfrm>
            <a:off x="4471416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Доля 17,9% в добровольном страховании гражданской ответственности в 2025 году</a:t>
            </a:r>
            <a:endParaRPr lang="en-US" sz="1100" dirty="0"/>
          </a:p>
        </p:txBody>
      </p:sp>
      <p:sp>
        <p:nvSpPr>
          <p:cNvPr id="15" name="text-430"/>
          <p:cNvSpPr txBox="1"/>
          <p:nvPr/>
        </p:nvSpPr>
        <p:spPr>
          <a:xfrm>
            <a:off x="4471416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Банк России, расчет по форме 0420162</a:t>
            </a:r>
            <a:endParaRPr lang="en-US" sz="900" dirty="0"/>
          </a:p>
        </p:txBody>
      </p:sp>
      <p:sp>
        <p:nvSpPr>
          <p:cNvPr id="16" name="card-431"/>
          <p:cNvSpPr/>
          <p:nvPr/>
        </p:nvSpPr>
        <p:spPr>
          <a:xfrm>
            <a:off x="8083296" y="1371600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iconbg-432"/>
          <p:cNvSpPr/>
          <p:nvPr/>
        </p:nvSpPr>
        <p:spPr>
          <a:xfrm>
            <a:off x="8284464" y="157276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-4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071" y="1677375"/>
            <a:ext cx="266273" cy="266273"/>
          </a:xfrm>
          <a:prstGeom prst="rect">
            <a:avLst/>
          </a:prstGeom>
        </p:spPr>
      </p:pic>
      <p:sp>
        <p:nvSpPr>
          <p:cNvPr id="19" name="text-434"/>
          <p:cNvSpPr txBox="1"/>
          <p:nvPr/>
        </p:nvSpPr>
        <p:spPr>
          <a:xfrm>
            <a:off x="8906256" y="1554480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Самоосмотр и цифровые выплаты</a:t>
            </a:r>
            <a:endParaRPr lang="en-US" sz="1200" dirty="0"/>
          </a:p>
        </p:txBody>
      </p:sp>
      <p:sp>
        <p:nvSpPr>
          <p:cNvPr id="20" name="text-435"/>
          <p:cNvSpPr txBox="1"/>
          <p:nvPr/>
        </p:nvSpPr>
        <p:spPr>
          <a:xfrm>
            <a:off x="8284464" y="2194560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Самоосмотр квартир в IngoMobile запущен в 2018 году. В 2025 году более 60% клиентов добровольных видов выбрали дистанционное урегулирование</a:t>
            </a:r>
            <a:endParaRPr lang="en-US" sz="1100" dirty="0"/>
          </a:p>
        </p:txBody>
      </p:sp>
      <p:sp>
        <p:nvSpPr>
          <p:cNvPr id="21" name="text-436"/>
          <p:cNvSpPr txBox="1"/>
          <p:nvPr/>
        </p:nvSpPr>
        <p:spPr>
          <a:xfrm>
            <a:off x="8284464" y="32735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ComNews 26.07.2018, ingos.ru 22.01.2026</a:t>
            </a:r>
            <a:endParaRPr lang="en-US" sz="900" dirty="0"/>
          </a:p>
        </p:txBody>
      </p:sp>
      <p:sp>
        <p:nvSpPr>
          <p:cNvPr id="22" name="card-437"/>
          <p:cNvSpPr/>
          <p:nvPr/>
        </p:nvSpPr>
        <p:spPr>
          <a:xfrm>
            <a:off x="457200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iconbg-438"/>
          <p:cNvSpPr/>
          <p:nvPr/>
        </p:nvSpPr>
        <p:spPr>
          <a:xfrm>
            <a:off x="658368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-43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4073103"/>
            <a:ext cx="266273" cy="266273"/>
          </a:xfrm>
          <a:prstGeom prst="rect">
            <a:avLst/>
          </a:prstGeom>
        </p:spPr>
      </p:pic>
      <p:sp>
        <p:nvSpPr>
          <p:cNvPr id="25" name="text-440"/>
          <p:cNvSpPr txBox="1"/>
          <p:nvPr/>
        </p:nvSpPr>
        <p:spPr>
          <a:xfrm>
            <a:off x="1280160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ИИ в скоринге и урегулировании</a:t>
            </a:r>
            <a:endParaRPr lang="en-US" sz="1200" dirty="0"/>
          </a:p>
        </p:txBody>
      </p:sp>
      <p:sp>
        <p:nvSpPr>
          <p:cNvPr id="26" name="text-441"/>
          <p:cNvSpPr txBox="1"/>
          <p:nvPr/>
        </p:nvSpPr>
        <p:spPr>
          <a:xfrm>
            <a:off x="658368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Десятки моделей, платформа ИИ-агентов IMAN. 1-е место в рейтинге инновационности Сколково за 2025</a:t>
            </a:r>
            <a:endParaRPr lang="en-US" sz="1100" dirty="0"/>
          </a:p>
        </p:txBody>
      </p:sp>
      <p:sp>
        <p:nvSpPr>
          <p:cNvPr id="27" name="text-442"/>
          <p:cNvSpPr txBox="1"/>
          <p:nvPr/>
        </p:nvSpPr>
        <p:spPr>
          <a:xfrm>
            <a:off x="658368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ingos.ru 2026</a:t>
            </a:r>
            <a:endParaRPr lang="en-US" sz="900" dirty="0"/>
          </a:p>
        </p:txBody>
      </p:sp>
      <p:sp>
        <p:nvSpPr>
          <p:cNvPr id="28" name="card-443"/>
          <p:cNvSpPr/>
          <p:nvPr/>
        </p:nvSpPr>
        <p:spPr>
          <a:xfrm>
            <a:off x="4270248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iconbg-444"/>
          <p:cNvSpPr/>
          <p:nvPr/>
        </p:nvSpPr>
        <p:spPr>
          <a:xfrm>
            <a:off x="4471416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-44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6023" y="4073103"/>
            <a:ext cx="266273" cy="266273"/>
          </a:xfrm>
          <a:prstGeom prst="rect">
            <a:avLst/>
          </a:prstGeom>
        </p:spPr>
      </p:pic>
      <p:sp>
        <p:nvSpPr>
          <p:cNvPr id="31" name="text-446"/>
          <p:cNvSpPr txBox="1"/>
          <p:nvPr/>
        </p:nvSpPr>
        <p:spPr>
          <a:xfrm>
            <a:off x="5093208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Бренд и надежность</a:t>
            </a:r>
            <a:endParaRPr lang="en-US" sz="1200" dirty="0"/>
          </a:p>
        </p:txBody>
      </p:sp>
      <p:sp>
        <p:nvSpPr>
          <p:cNvPr id="32" name="text-447"/>
          <p:cNvSpPr txBox="1"/>
          <p:nvPr/>
        </p:nvSpPr>
        <p:spPr>
          <a:xfrm>
            <a:off x="4471416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Рейтинг ruAAA (Эксперт РА, 02.12.2025), 6 млн клиентов, 6-е место на рынке по взносам</a:t>
            </a:r>
            <a:endParaRPr lang="en-US" sz="1100" dirty="0"/>
          </a:p>
        </p:txBody>
      </p:sp>
      <p:sp>
        <p:nvSpPr>
          <p:cNvPr id="33" name="text-448"/>
          <p:cNvSpPr txBox="1"/>
          <p:nvPr/>
        </p:nvSpPr>
        <p:spPr>
          <a:xfrm>
            <a:off x="4471416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raexpert.ru, ingos.ru, Банк России</a:t>
            </a:r>
            <a:endParaRPr lang="en-US" sz="900" dirty="0"/>
          </a:p>
        </p:txBody>
      </p:sp>
      <p:sp>
        <p:nvSpPr>
          <p:cNvPr id="34" name="card-449"/>
          <p:cNvSpPr/>
          <p:nvPr/>
        </p:nvSpPr>
        <p:spPr>
          <a:xfrm>
            <a:off x="8083296" y="3767328"/>
            <a:ext cx="3648456" cy="2258568"/>
          </a:xfrm>
          <a:prstGeom prst="roundRect">
            <a:avLst>
              <a:gd name="adj" fmla="val 48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iconbg-450"/>
          <p:cNvSpPr/>
          <p:nvPr/>
        </p:nvSpPr>
        <p:spPr>
          <a:xfrm>
            <a:off x="8284464" y="396849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4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9071" y="4073103"/>
            <a:ext cx="266273" cy="266273"/>
          </a:xfrm>
          <a:prstGeom prst="rect">
            <a:avLst/>
          </a:prstGeom>
        </p:spPr>
      </p:pic>
      <p:sp>
        <p:nvSpPr>
          <p:cNvPr id="37" name="text-452"/>
          <p:cNvSpPr txBox="1"/>
          <p:nvPr/>
        </p:nvSpPr>
        <p:spPr>
          <a:xfrm>
            <a:off x="8906256" y="3950208"/>
            <a:ext cx="2697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Опыт продукта для арендодателей</a:t>
            </a:r>
            <a:endParaRPr lang="en-US" sz="1200" dirty="0"/>
          </a:p>
        </p:txBody>
      </p:sp>
      <p:sp>
        <p:nvSpPr>
          <p:cNvPr id="38" name="text-453"/>
          <p:cNvSpPr txBox="1"/>
          <p:nvPr/>
        </p:nvSpPr>
        <p:spPr>
          <a:xfrm>
            <a:off x="8284464" y="4590288"/>
            <a:ext cx="3246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В 2021 году Ингосстрах запустил Рантье: ответственность съемщика, простой, отказ от депозита. Сейчас его нет, а полис квартиры не покрывает вину арендатора</a:t>
            </a:r>
            <a:endParaRPr lang="en-US" sz="1100" dirty="0"/>
          </a:p>
        </p:txBody>
      </p:sp>
      <p:sp>
        <p:nvSpPr>
          <p:cNvPr id="39" name="text-454"/>
          <p:cNvSpPr txBox="1"/>
          <p:nvPr/>
        </p:nvSpPr>
        <p:spPr>
          <a:xfrm>
            <a:off x="8284464" y="5669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ingos.ru 09.06.2021, ingos.ru/property/flat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Бизнес-модель и юнит-экономика</a:t>
            </a:r>
            <a:endParaRPr lang="en-US" sz="2400" dirty="0"/>
          </a:p>
        </p:txBody>
      </p:sp>
      <p:sp>
        <p:nvSpPr>
          <p:cNvPr id="4" name="card-455"/>
          <p:cNvSpPr/>
          <p:nvPr/>
        </p:nvSpPr>
        <p:spPr>
          <a:xfrm>
            <a:off x="457200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-456"/>
          <p:cNvSpPr txBox="1"/>
          <p:nvPr/>
        </p:nvSpPr>
        <p:spPr>
          <a:xfrm>
            <a:off x="621792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Пользователи</a:t>
            </a:r>
            <a:endParaRPr lang="en-US" sz="1200" dirty="0"/>
          </a:p>
        </p:txBody>
      </p:sp>
      <p:sp>
        <p:nvSpPr>
          <p:cNvPr id="6" name="text-457"/>
          <p:cNvSpPr txBox="1"/>
          <p:nvPr/>
        </p:nvSpPr>
        <p:spPr>
          <a:xfrm>
            <a:off x="621792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 и собственник</a:t>
            </a:r>
            <a:endParaRPr lang="en-US" sz="1050" dirty="0"/>
          </a:p>
        </p:txBody>
      </p:sp>
      <p:sp>
        <p:nvSpPr>
          <p:cNvPr id="7" name="card-458"/>
          <p:cNvSpPr/>
          <p:nvPr/>
        </p:nvSpPr>
        <p:spPr>
          <a:xfrm>
            <a:off x="2770632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459"/>
          <p:cNvSpPr txBox="1"/>
          <p:nvPr/>
        </p:nvSpPr>
        <p:spPr>
          <a:xfrm>
            <a:off x="2935224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Покупатель</a:t>
            </a:r>
            <a:endParaRPr lang="en-US" sz="1200" dirty="0"/>
          </a:p>
        </p:txBody>
      </p:sp>
      <p:sp>
        <p:nvSpPr>
          <p:cNvPr id="9" name="text-460"/>
          <p:cNvSpPr txBox="1"/>
          <p:nvPr/>
        </p:nvSpPr>
        <p:spPr>
          <a:xfrm>
            <a:off x="2935224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 выбирает и оформляет</a:t>
            </a:r>
            <a:endParaRPr lang="en-US" sz="1050" dirty="0"/>
          </a:p>
        </p:txBody>
      </p:sp>
      <p:sp>
        <p:nvSpPr>
          <p:cNvPr id="10" name="card-461"/>
          <p:cNvSpPr/>
          <p:nvPr/>
        </p:nvSpPr>
        <p:spPr>
          <a:xfrm>
            <a:off x="5084064" y="1371600"/>
            <a:ext cx="219456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462"/>
          <p:cNvSpPr txBox="1"/>
          <p:nvPr/>
        </p:nvSpPr>
        <p:spPr>
          <a:xfrm>
            <a:off x="5248656" y="1463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Плательщик</a:t>
            </a:r>
            <a:endParaRPr lang="en-US" sz="1200" dirty="0"/>
          </a:p>
        </p:txBody>
      </p:sp>
      <p:sp>
        <p:nvSpPr>
          <p:cNvPr id="12" name="text-463"/>
          <p:cNvSpPr txBox="1"/>
          <p:nvPr/>
        </p:nvSpPr>
        <p:spPr>
          <a:xfrm>
            <a:off x="5248656" y="1755648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Жилец, в B2B2C работодатель или агентство</a:t>
            </a:r>
            <a:endParaRPr lang="en-US" sz="1050" dirty="0"/>
          </a:p>
        </p:txBody>
      </p:sp>
      <p:sp>
        <p:nvSpPr>
          <p:cNvPr id="13" name="card-464"/>
          <p:cNvSpPr/>
          <p:nvPr/>
        </p:nvSpPr>
        <p:spPr>
          <a:xfrm>
            <a:off x="457200" y="2514600"/>
            <a:ext cx="6821424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-465"/>
          <p:cNvSpPr txBox="1"/>
          <p:nvPr/>
        </p:nvSpPr>
        <p:spPr>
          <a:xfrm>
            <a:off x="658368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Доходы</a:t>
            </a:r>
            <a:endParaRPr lang="en-US" sz="1300" dirty="0"/>
          </a:p>
        </p:txBody>
      </p:sp>
      <p:sp>
        <p:nvSpPr>
          <p:cNvPr id="15" name="text-466"/>
          <p:cNvSpPr txBox="1"/>
          <p:nvPr/>
        </p:nvSpPr>
        <p:spPr>
          <a:xfrm>
            <a:off x="658368" y="2944368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Взнос жильца около 20% ставки в год. Ориентиры: Самолет Плюс около 1/5 ставки за 11 месяцев, Zero Deposit неделя аренды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Кросс-продажа собственнику полиса квартиры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B2B2C: агентства, классифайды, релокация сотрудников</a:t>
            </a:r>
            <a:endParaRPr lang="en-US" sz="1050" dirty="0"/>
          </a:p>
        </p:txBody>
      </p:sp>
      <p:sp>
        <p:nvSpPr>
          <p:cNvPr id="16" name="text-467"/>
          <p:cNvSpPr txBox="1"/>
          <p:nvPr/>
        </p:nvSpPr>
        <p:spPr>
          <a:xfrm>
            <a:off x="3977640" y="26334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Расходы</a:t>
            </a:r>
            <a:endParaRPr lang="en-US" sz="1300" dirty="0"/>
          </a:p>
        </p:txBody>
      </p:sp>
      <p:sp>
        <p:nvSpPr>
          <p:cNvPr id="17" name="text-468"/>
          <p:cNvSpPr txBox="1"/>
          <p:nvPr/>
        </p:nvSpPr>
        <p:spPr>
          <a:xfrm>
            <a:off x="3977640" y="2944368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Выплаты за вычетом взыскания с жильцов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Канал продаж: комиссия посредников 25,7% взносов по рынку (Банк России, 2025)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Скоринг, акты, урегулирование, IT</a:t>
            </a:r>
            <a:endParaRPr lang="en-US" sz="1050" dirty="0"/>
          </a:p>
        </p:txBody>
      </p:sp>
      <p:sp>
        <p:nvSpPr>
          <p:cNvPr id="18" name="text-469"/>
          <p:cNvSpPr txBox="1"/>
          <p:nvPr/>
        </p:nvSpPr>
        <p:spPr>
          <a:xfrm>
            <a:off x="658368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6"/>
                </a:solidFill>
              </a:rPr>
              <a:t>Главные драйверы: частота претензий, доля взыскания с жильца и стоимость канала.</a:t>
            </a:r>
            <a:endParaRPr lang="en-US" sz="1150" dirty="0"/>
          </a:p>
        </p:txBody>
      </p:sp>
      <p:sp>
        <p:nvSpPr>
          <p:cNvPr id="19" name="card-470"/>
          <p:cNvSpPr/>
          <p:nvPr/>
        </p:nvSpPr>
        <p:spPr>
          <a:xfrm>
            <a:off x="7543800" y="1371600"/>
            <a:ext cx="4187952" cy="4800600"/>
          </a:xfrm>
          <a:prstGeom prst="roundRect">
            <a:avLst>
              <a:gd name="adj" fmla="val 262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471"/>
          <p:cNvSpPr txBox="1"/>
          <p:nvPr/>
        </p:nvSpPr>
        <p:spPr>
          <a:xfrm>
            <a:off x="7744968" y="148132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полис, Москва</a:t>
            </a:r>
            <a:endParaRPr lang="en-US" sz="1300" dirty="0"/>
          </a:p>
        </p:txBody>
      </p:sp>
      <p:sp>
        <p:nvSpPr>
          <p:cNvPr id="21" name="text-472"/>
          <p:cNvSpPr txBox="1"/>
          <p:nvPr/>
        </p:nvSpPr>
        <p:spPr>
          <a:xfrm>
            <a:off x="7744968" y="1828800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Ставка 71 тыс. ₽, взнос 14,2 тыс. ₽, лимит 142 тыс. ₽. Средняя выплата 32,3 тыс. ₽ (смесь: уборка, обои, долг за месяц, выплата на лимит)</a:t>
            </a:r>
            <a:endParaRPr lang="en-US" sz="950" dirty="0"/>
          </a:p>
        </p:txBody>
      </p:sp>
      <p:graphicFrame>
        <p:nvGraphicFramePr>
          <p:cNvPr id="21" name="table-4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44968" y="2697480"/>
          <a:ext cx="3794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77240"/>
                <a:gridCol w="777240"/>
                <a:gridCol w="7772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Опт.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База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Стресс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Частота выплат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Взыскание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Канал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25,7%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32,1%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Комбинированный коэффициент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33%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87%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133%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Итог на полис, ₽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+9 553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+1 789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-4 690</a:t>
                      </a:r>
                      <a:endParaRPr lang="en-US" sz="1000" dirty="0"/>
                    </a:p>
                  </a:txBody>
                  <a:tcPr marL="54864" marR="54864" marT="27432" marB="27432" anchor="ctr">
                    <a:lnL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66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0C0"/>
                    </a:solidFill>
                  </a:tcPr>
                </a:tc>
              </a:tr>
            </a:tbl>
          </a:graphicData>
        </a:graphic>
      </p:graphicFrame>
      <p:sp>
        <p:nvSpPr>
          <p:cNvPr id="23" name="text-474"/>
          <p:cNvSpPr txBox="1"/>
          <p:nvPr/>
        </p:nvSpPr>
        <p:spPr>
          <a:xfrm>
            <a:off x="7744968" y="48920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bg1"/>
                </a:solidFill>
              </a:rPr>
              <a:t>Безубыточность в базе: частота до 43,5%, взыскание от 19,2%, канал до 38,3%. При комиссии Ингосстраха по имуществу граждан 39,8% база дает 101,5%, поэтому нужен свой цифровой канал.</a:t>
            </a:r>
            <a:endParaRPr lang="en-US" sz="950" dirty="0"/>
          </a:p>
        </p:txBody>
      </p:sp>
      <p:sp>
        <p:nvSpPr>
          <p:cNvPr id="24" name="tag-475"/>
          <p:cNvSpPr/>
          <p:nvPr/>
        </p:nvSpPr>
        <p:spPr>
          <a:xfrm>
            <a:off x="7744968" y="5806440"/>
            <a:ext cx="2011680" cy="21945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-476"/>
          <p:cNvSpPr txBox="1"/>
          <p:nvPr/>
        </p:nvSpPr>
        <p:spPr>
          <a:xfrm>
            <a:off x="7744968" y="58064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РАСЧЕТ НА ДОПУЩЕНИЯХ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MVP: 3 месяца и 4,8 млн ₽</a:t>
            </a:r>
            <a:endParaRPr lang="en-US" sz="2400" dirty="0"/>
          </a:p>
        </p:txBody>
      </p:sp>
      <p:sp>
        <p:nvSpPr>
          <p:cNvPr id="4" name="card-477"/>
          <p:cNvSpPr/>
          <p:nvPr/>
        </p:nvSpPr>
        <p:spPr>
          <a:xfrm>
            <a:off x="457200" y="1371600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ard-478"/>
          <p:cNvSpPr/>
          <p:nvPr/>
        </p:nvSpPr>
        <p:spPr>
          <a:xfrm>
            <a:off x="457200" y="1371600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-479"/>
          <p:cNvSpPr txBox="1"/>
          <p:nvPr/>
        </p:nvSpPr>
        <p:spPr>
          <a:xfrm>
            <a:off x="457200" y="1371600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1</a:t>
            </a:r>
            <a:endParaRPr lang="en-US" sz="1200" dirty="0"/>
          </a:p>
        </p:txBody>
      </p:sp>
      <p:sp>
        <p:nvSpPr>
          <p:cNvPr id="7" name="text-480"/>
          <p:cNvSpPr txBox="1"/>
          <p:nvPr/>
        </p:nvSpPr>
        <p:spPr>
          <a:xfrm>
            <a:off x="187452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Запуск</a:t>
            </a:r>
            <a:endParaRPr lang="en-US" sz="1200" dirty="0"/>
          </a:p>
        </p:txBody>
      </p:sp>
      <p:sp>
        <p:nvSpPr>
          <p:cNvPr id="8" name="text-481"/>
          <p:cNvSpPr txBox="1"/>
          <p:nvPr/>
        </p:nvSpPr>
        <p:spPr>
          <a:xfrm>
            <a:off x="1874520" y="1737360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Правила страхования имущества и финансовых рисков собственника с взысканием. КИД. Лендинг и Telegram-бот, скоринг вручную. Договоры с 3 агентствами.</a:t>
            </a:r>
            <a:endParaRPr lang="en-US" sz="1050" dirty="0"/>
          </a:p>
        </p:txBody>
      </p:sp>
      <p:sp>
        <p:nvSpPr>
          <p:cNvPr id="9" name="card-482"/>
          <p:cNvSpPr/>
          <p:nvPr/>
        </p:nvSpPr>
        <p:spPr>
          <a:xfrm>
            <a:off x="457200" y="2578608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ard-483"/>
          <p:cNvSpPr/>
          <p:nvPr/>
        </p:nvSpPr>
        <p:spPr>
          <a:xfrm>
            <a:off x="457200" y="2578608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-484"/>
          <p:cNvSpPr txBox="1"/>
          <p:nvPr/>
        </p:nvSpPr>
        <p:spPr>
          <a:xfrm>
            <a:off x="457200" y="2578608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2</a:t>
            </a:r>
            <a:endParaRPr lang="en-US" sz="1200" dirty="0"/>
          </a:p>
        </p:txBody>
      </p:sp>
      <p:sp>
        <p:nvSpPr>
          <p:cNvPr id="12" name="text-485"/>
          <p:cNvSpPr txBox="1"/>
          <p:nvPr/>
        </p:nvSpPr>
        <p:spPr>
          <a:xfrm>
            <a:off x="187452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Пилот в Москве</a:t>
            </a:r>
            <a:endParaRPr lang="en-US" sz="1200" dirty="0"/>
          </a:p>
        </p:txBody>
      </p:sp>
      <p:sp>
        <p:nvSpPr>
          <p:cNvPr id="13" name="text-486"/>
          <p:cNvSpPr txBox="1"/>
          <p:nvPr/>
        </p:nvSpPr>
        <p:spPr>
          <a:xfrm>
            <a:off x="1874520" y="2944368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Цель 100 полисов. Акт заезда по чек-листу через фото с датой. Тест оффера собственникам из объявлений Авито и ЦИАН.</a:t>
            </a:r>
            <a:endParaRPr lang="en-US" sz="1050" dirty="0"/>
          </a:p>
        </p:txBody>
      </p:sp>
      <p:sp>
        <p:nvSpPr>
          <p:cNvPr id="14" name="card-487"/>
          <p:cNvSpPr/>
          <p:nvPr/>
        </p:nvSpPr>
        <p:spPr>
          <a:xfrm>
            <a:off x="457200" y="3785616"/>
            <a:ext cx="56692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card-488"/>
          <p:cNvSpPr/>
          <p:nvPr/>
        </p:nvSpPr>
        <p:spPr>
          <a:xfrm>
            <a:off x="457200" y="3785616"/>
            <a:ext cx="1234440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-489"/>
          <p:cNvSpPr txBox="1"/>
          <p:nvPr/>
        </p:nvSpPr>
        <p:spPr>
          <a:xfrm>
            <a:off x="457200" y="3785616"/>
            <a:ext cx="1234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Месяц 3</a:t>
            </a:r>
            <a:endParaRPr lang="en-US" sz="1200" dirty="0"/>
          </a:p>
        </p:txBody>
      </p:sp>
      <p:sp>
        <p:nvSpPr>
          <p:cNvPr id="17" name="text-490"/>
          <p:cNvSpPr txBox="1"/>
          <p:nvPr/>
        </p:nvSpPr>
        <p:spPr>
          <a:xfrm>
            <a:off x="1874520" y="38770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Замер</a:t>
            </a:r>
            <a:endParaRPr lang="en-US" sz="1200" dirty="0"/>
          </a:p>
        </p:txBody>
      </p:sp>
      <p:sp>
        <p:nvSpPr>
          <p:cNvPr id="18" name="text-491"/>
          <p:cNvSpPr txBox="1"/>
          <p:nvPr/>
        </p:nvSpPr>
        <p:spPr>
          <a:xfrm>
            <a:off x="1874520" y="4151376"/>
            <a:ext cx="4160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Первые выезды и претензии, расчет метрик, решение о Санкт-Петербурге и миллионниках.</a:t>
            </a:r>
            <a:endParaRPr lang="en-US" sz="1050" dirty="0"/>
          </a:p>
        </p:txBody>
      </p:sp>
      <p:sp>
        <p:nvSpPr>
          <p:cNvPr id="19" name="card-492"/>
          <p:cNvSpPr/>
          <p:nvPr/>
        </p:nvSpPr>
        <p:spPr>
          <a:xfrm>
            <a:off x="457200" y="5029200"/>
            <a:ext cx="566928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-493"/>
          <p:cNvSpPr txBox="1"/>
          <p:nvPr/>
        </p:nvSpPr>
        <p:spPr>
          <a:xfrm>
            <a:off x="658368" y="5120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Метрики успеха MVP</a:t>
            </a:r>
            <a:endParaRPr lang="en-US" sz="1200" dirty="0"/>
          </a:p>
        </p:txBody>
      </p:sp>
      <p:sp>
        <p:nvSpPr>
          <p:cNvPr id="21" name="text-494"/>
          <p:cNvSpPr txBox="1"/>
          <p:nvPr/>
        </p:nvSpPr>
        <p:spPr>
          <a:xfrm>
            <a:off x="658368" y="5413248"/>
            <a:ext cx="5303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bg1"/>
                </a:solidFill>
              </a:rPr>
              <a:t>От 40% собственников принимают ИнгоКлюч вместо депозита · от 10% жильцов, увидевших оффер, оформляют · 100 полисов за 2 месяца · акт заезда до 15 минут</a:t>
            </a:r>
            <a:endParaRPr lang="en-US" sz="1050" dirty="0"/>
          </a:p>
        </p:txBody>
      </p:sp>
      <p:sp>
        <p:nvSpPr>
          <p:cNvPr id="22" name="card-495"/>
          <p:cNvSpPr/>
          <p:nvPr/>
        </p:nvSpPr>
        <p:spPr>
          <a:xfrm>
            <a:off x="6400800" y="1371600"/>
            <a:ext cx="5330952" cy="48006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-496"/>
          <p:cNvSpPr txBox="1"/>
          <p:nvPr/>
        </p:nvSpPr>
        <p:spPr>
          <a:xfrm>
            <a:off x="6629400" y="1508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Бюджет MVP, млн ₽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492240" y="1828800"/>
          <a:ext cx="51206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-497"/>
          <p:cNvSpPr txBox="1"/>
          <p:nvPr/>
        </p:nvSpPr>
        <p:spPr>
          <a:xfrm>
            <a:off x="6629400" y="55321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Итого 4,8 млн ₽ </a:t>
            </a:r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из лимита 5 млн, оценка команды. Резерв 1 млн ₽ покрывает 31 выплату по 32,3 тыс. ₽.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ЭТАП 5 ИЗ 5 · БИЗНЕС-МОДЕЛЬ И ГИПОТЕЗЫ ДЛЯ ФИНАЛА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5 гипотез, которые проверим в финале</a:t>
            </a:r>
            <a:endParaRPr lang="en-US" sz="2400" dirty="0"/>
          </a:p>
        </p:txBody>
      </p:sp>
      <p:graphicFrame>
        <p:nvGraphicFramePr>
          <p:cNvPr id="23" name="table-4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749040"/>
                <a:gridCol w="4114800"/>
                <a:gridCol w="27706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Гипотеза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Как проверим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</a:rPr>
                        <a:t>Критерий успеха</a:t>
                      </a:r>
                      <a:endParaRPr lang="en-US" sz="11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H1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Собственники примут полис Ингосстраха вместо денег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Тест оффера: 150 собственникам из объявлений пишем от лица жильца с сертификатом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От 40% согласий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H2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Жильцы готовы платить невозвратный взнос около 20% ставки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Лендинг с ценой, A/B 15%, 20%, 25%, предзаказ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От 10% конверсии в заявку при 20%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H3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Частота и размер претензий держат комбинированный коэффициент до 90%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Пилот 100 полисов и данные агентств об удержаниях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Частота до 35%, средняя выплата до 0,5 ставки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H4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Симметричный цифровой акт снижает споры при выезде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Пилот против контрольной группы агентства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Споров в 2 раза меньше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+mj-lt" pitchFamily="34" charset="0"/>
                          <a:ea typeface="+mj-lt" pitchFamily="34" charset="-122"/>
                          <a:cs typeface="+mj-lt" pitchFamily="34" charset="-120"/>
                        </a:rPr>
                        <a:t>H5</a:t>
                      </a:r>
                      <a:endParaRPr lang="en-US" sz="1300" dirty="0">
                        <a:latin typeface="+mj-lt" charset="0"/>
                        <a:ea typeface="+mj-lt" charset="0"/>
                        <a:cs typeface="+mj-lt" charset="0"/>
                      </a:endParaRPr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Агентства и площадки встроят оффер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Переговоры с 5 агентствами и 1 площадкой</a:t>
                      </a:r>
                      <a:endParaRPr lang="en-US" sz="105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 подписанных пилота</a:t>
                      </a:r>
                      <a:endParaRPr lang="en-US" sz="1100" dirty="0"/>
                    </a:p>
                  </a:txBody>
                  <a:tcPr marL="109728" marR="109728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legend-499"/>
          <p:cNvSpPr/>
          <p:nvPr/>
        </p:nvSpPr>
        <p:spPr>
          <a:xfrm>
            <a:off x="457200" y="5715000"/>
            <a:ext cx="384048" cy="274320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-500"/>
          <p:cNvSpPr txBox="1"/>
          <p:nvPr/>
        </p:nvSpPr>
        <p:spPr>
          <a:xfrm>
            <a:off x="960120" y="559612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Самые рискованные гипотезы: H1, H2 и H3. Отзывы показали, что собственники не доверяют гарантиям, а жильцы видят в сборе скрытую плату. H1 и H2 проверяем первыми, за 2 недели без разработки.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Ответ на главный вопрос</a:t>
            </a:r>
            <a:endParaRPr lang="en-US" sz="3000" dirty="0"/>
          </a:p>
        </p:txBody>
      </p:sp>
      <p:sp>
        <p:nvSpPr>
          <p:cNvPr id="3" name="text-501"/>
          <p:cNvSpPr txBox="1"/>
          <p:nvPr/>
        </p:nvSpPr>
        <p:spPr>
          <a:xfrm>
            <a:off x="502920" y="12344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Да: доказательств достаточно, чтобы инвестировать в дальнейшее исследование и проверку ИнгоКлюча</a:t>
            </a:r>
            <a:endParaRPr lang="en-US" sz="1700" dirty="0"/>
          </a:p>
        </p:txBody>
      </p:sp>
      <p:sp>
        <p:nvSpPr>
          <p:cNvPr id="4" name="card-502"/>
          <p:cNvSpPr/>
          <p:nvPr/>
        </p:nvSpPr>
        <p:spPr>
          <a:xfrm>
            <a:off x="5029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text-503"/>
          <p:cNvSpPr txBox="1"/>
          <p:nvPr/>
        </p:nvSpPr>
        <p:spPr>
          <a:xfrm>
            <a:off x="7040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-504"/>
          <p:cNvSpPr txBox="1"/>
          <p:nvPr/>
        </p:nvSpPr>
        <p:spPr>
          <a:xfrm>
            <a:off x="7040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Проблема массовая и растет</a:t>
            </a:r>
            <a:endParaRPr lang="en-US" sz="1250" dirty="0"/>
          </a:p>
        </p:txBody>
      </p:sp>
      <p:sp>
        <p:nvSpPr>
          <p:cNvPr id="7" name="text-505"/>
          <p:cNvSpPr txBox="1"/>
          <p:nvPr/>
        </p:nvSpPr>
        <p:spPr>
          <a:xfrm>
            <a:off x="7040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5,8 млн семей снимают жилье. Депозит в 97% объявлений, его размер вырос с 37% до 67% ставки за пять лет.</a:t>
            </a:r>
            <a:endParaRPr lang="en-US" sz="1050" dirty="0"/>
          </a:p>
        </p:txBody>
      </p:sp>
      <p:sp>
        <p:nvSpPr>
          <p:cNvPr id="8" name="card-506"/>
          <p:cNvSpPr/>
          <p:nvPr/>
        </p:nvSpPr>
        <p:spPr>
          <a:xfrm>
            <a:off x="32461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-507"/>
          <p:cNvSpPr txBox="1"/>
          <p:nvPr/>
        </p:nvSpPr>
        <p:spPr>
          <a:xfrm>
            <a:off x="34472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-508"/>
          <p:cNvSpPr txBox="1"/>
          <p:nvPr/>
        </p:nvSpPr>
        <p:spPr>
          <a:xfrm>
            <a:off x="34472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Рынок уже выбирает замену залога</a:t>
            </a:r>
            <a:endParaRPr lang="en-US" sz="1250" dirty="0"/>
          </a:p>
        </p:txBody>
      </p:sp>
      <p:sp>
        <p:nvSpPr>
          <p:cNvPr id="11" name="text-509"/>
          <p:cNvSpPr txBox="1"/>
          <p:nvPr/>
        </p:nvSpPr>
        <p:spPr>
          <a:xfrm>
            <a:off x="34472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Страховку вместо депозита выбирали 80% арендаторов Самолет Плюс и 85% сделок ПИК-Аренды. За площадками стоит АльфаСтрахование, Ингосстраха там нет.</a:t>
            </a:r>
            <a:endParaRPr lang="en-US" sz="1050" dirty="0"/>
          </a:p>
        </p:txBody>
      </p:sp>
      <p:sp>
        <p:nvSpPr>
          <p:cNvPr id="12" name="card-510"/>
          <p:cNvSpPr/>
          <p:nvPr/>
        </p:nvSpPr>
        <p:spPr>
          <a:xfrm>
            <a:off x="5989320" y="2103120"/>
            <a:ext cx="2560320" cy="278892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-511"/>
          <p:cNvSpPr txBox="1"/>
          <p:nvPr/>
        </p:nvSpPr>
        <p:spPr>
          <a:xfrm>
            <a:off x="6190488" y="2240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-512"/>
          <p:cNvSpPr txBox="1"/>
          <p:nvPr/>
        </p:nvSpPr>
        <p:spPr>
          <a:xfrm>
            <a:off x="6190488" y="27432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У Ингосстраха есть активы</a:t>
            </a:r>
            <a:endParaRPr lang="en-US" sz="1250" dirty="0"/>
          </a:p>
        </p:txBody>
      </p:sp>
      <p:sp>
        <p:nvSpPr>
          <p:cNvPr id="15" name="text-513"/>
          <p:cNvSpPr txBox="1"/>
          <p:nvPr/>
        </p:nvSpPr>
        <p:spPr>
          <a:xfrm>
            <a:off x="6190488" y="3401568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Лидерство в финансовых рисках и ответственности, самоосмотр, ИИ-скоринг, опыт продукта для арендодателей.</a:t>
            </a:r>
            <a:endParaRPr lang="en-US" sz="1050" dirty="0"/>
          </a:p>
        </p:txBody>
      </p:sp>
      <p:sp>
        <p:nvSpPr>
          <p:cNvPr id="16" name="text-514"/>
          <p:cNvSpPr txBox="1"/>
          <p:nvPr/>
        </p:nvSpPr>
        <p:spPr>
          <a:xfrm>
            <a:off x="50292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Остановимся, если:</a:t>
            </a:r>
            <a:endParaRPr lang="en-US" sz="1300" dirty="0"/>
          </a:p>
        </p:txBody>
      </p:sp>
      <p:sp>
        <p:nvSpPr>
          <p:cNvPr id="17" name="text-515"/>
          <p:cNvSpPr txBox="1"/>
          <p:nvPr/>
        </p:nvSpPr>
        <p:spPr>
          <a:xfrm>
            <a:off x="502920" y="5440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меньше 25% собственников принимают полис · меньше 5% жильцов оформляют взнос · частота выплат в пилоте выше 43%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КОМАНДА · КОМАНДА ДЖЕЙ И МОЛЧАЛИВЫЙ БОБ · НИУ ВШЭ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Команда и зоны ответственности</a:t>
            </a:r>
            <a:endParaRPr lang="en-US" sz="2400" dirty="0"/>
          </a:p>
        </p:txBody>
      </p:sp>
      <p:sp>
        <p:nvSpPr>
          <p:cNvPr id="4" name="card-516"/>
          <p:cNvSpPr/>
          <p:nvPr/>
        </p:nvSpPr>
        <p:spPr>
          <a:xfrm>
            <a:off x="457200" y="1371600"/>
            <a:ext cx="5559552" cy="3566160"/>
          </a:xfrm>
          <a:prstGeom prst="roundRect">
            <a:avLst>
              <a:gd name="adj" fmla="val 307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-517"/>
          <p:cNvSpPr txBox="1"/>
          <p:nvPr/>
        </p:nvSpPr>
        <p:spPr>
          <a:xfrm>
            <a:off x="731520" y="1554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Дук Никита</a:t>
            </a:r>
            <a:endParaRPr lang="en-US" sz="1800" dirty="0"/>
          </a:p>
        </p:txBody>
      </p:sp>
      <p:sp>
        <p:nvSpPr>
          <p:cNvPr id="6" name="text-518"/>
          <p:cNvSpPr txBox="1"/>
          <p:nvPr/>
        </p:nvSpPr>
        <p:spPr>
          <a:xfrm>
            <a:off x="731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НИУ ВШЭ</a:t>
            </a:r>
            <a:endParaRPr lang="en-US" sz="1100" dirty="0"/>
          </a:p>
        </p:txBody>
      </p:sp>
      <p:sp>
        <p:nvSpPr>
          <p:cNvPr id="7" name="share-519"/>
          <p:cNvSpPr/>
          <p:nvPr/>
        </p:nvSpPr>
        <p:spPr>
          <a:xfrm>
            <a:off x="4434840" y="1600200"/>
            <a:ext cx="13716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-520"/>
          <p:cNvSpPr txBox="1"/>
          <p:nvPr/>
        </p:nvSpPr>
        <p:spPr>
          <a:xfrm>
            <a:off x="4434840" y="1600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50% работы</a:t>
            </a:r>
            <a:endParaRPr lang="en-US" sz="1000" dirty="0"/>
          </a:p>
        </p:txBody>
      </p:sp>
      <p:sp>
        <p:nvSpPr>
          <p:cNvPr id="9" name="text-521"/>
          <p:cNvSpPr txBox="1"/>
          <p:nvPr/>
        </p:nvSpPr>
        <p:spPr>
          <a:xfrm>
            <a:off x="731520" y="2468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Рынок аренды и депозиты: ДОМ.РФ, ЦИАН, ВЦИОМ, Авито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Разбор 59 публичных историй и выводы для продукта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Сегмент, задача по JTBD и путь жильца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Гипотезы для финала и план их проверки</a:t>
            </a:r>
            <a:endParaRPr lang="en-US" sz="1200" dirty="0"/>
          </a:p>
        </p:txBody>
      </p:sp>
      <p:sp>
        <p:nvSpPr>
          <p:cNvPr id="10" name="card-522"/>
          <p:cNvSpPr/>
          <p:nvPr/>
        </p:nvSpPr>
        <p:spPr>
          <a:xfrm>
            <a:off x="6172200" y="1371600"/>
            <a:ext cx="5559552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-523"/>
          <p:cNvSpPr txBox="1"/>
          <p:nvPr/>
        </p:nvSpPr>
        <p:spPr>
          <a:xfrm>
            <a:off x="6446520" y="15544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Филиппов Владислав</a:t>
            </a:r>
            <a:endParaRPr lang="en-US" sz="1800" dirty="0"/>
          </a:p>
        </p:txBody>
      </p:sp>
      <p:sp>
        <p:nvSpPr>
          <p:cNvPr id="12" name="text-524"/>
          <p:cNvSpPr txBox="1"/>
          <p:nvPr/>
        </p:nvSpPr>
        <p:spPr>
          <a:xfrm>
            <a:off x="6446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НИУ ВШЭ</a:t>
            </a:r>
            <a:endParaRPr lang="en-US" sz="1100" dirty="0"/>
          </a:p>
        </p:txBody>
      </p:sp>
      <p:sp>
        <p:nvSpPr>
          <p:cNvPr id="13" name="share-525"/>
          <p:cNvSpPr/>
          <p:nvPr/>
        </p:nvSpPr>
        <p:spPr>
          <a:xfrm>
            <a:off x="10149840" y="1600200"/>
            <a:ext cx="13716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6"/>
          <p:cNvSpPr txBox="1"/>
          <p:nvPr/>
        </p:nvSpPr>
        <p:spPr>
          <a:xfrm>
            <a:off x="10149840" y="160020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50% работы</a:t>
            </a:r>
            <a:endParaRPr lang="en-US" sz="1000" dirty="0"/>
          </a:p>
        </p:txBody>
      </p:sp>
      <p:sp>
        <p:nvSpPr>
          <p:cNvPr id="15" name="text-527"/>
          <p:cNvSpPr txBox="1"/>
          <p:nvPr/>
        </p:nvSpPr>
        <p:spPr>
          <a:xfrm>
            <a:off x="6446520" y="246888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Конкуренты в России и зарубежные аналоги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Юридическая конструкция и судебная практика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Юнит-экономика, размер рынка и бюджет MVP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Ресурсы Ингосстраха по данным Банка России</a:t>
            </a:r>
            <a:endParaRPr lang="en-US" sz="1200" dirty="0"/>
          </a:p>
        </p:txBody>
      </p:sp>
      <p:sp>
        <p:nvSpPr>
          <p:cNvPr id="16" name="card-528"/>
          <p:cNvSpPr/>
          <p:nvPr/>
        </p:nvSpPr>
        <p:spPr>
          <a:xfrm>
            <a:off x="457200" y="5120640"/>
            <a:ext cx="1127455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-529"/>
          <p:cNvSpPr txBox="1"/>
          <p:nvPr/>
        </p:nvSpPr>
        <p:spPr>
          <a:xfrm>
            <a:off x="685800" y="5193792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Вместе: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ценностное предложение, сценарий из 7 шагов, ответ на главный вопрос кейса и сборка презентации. Каждый проверил расчеты и источники другого.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ПРИЛОЖЕНИЕ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Источники</a:t>
            </a:r>
            <a:endParaRPr lang="en-US" sz="2400" dirty="0"/>
          </a:p>
        </p:txBody>
      </p:sp>
      <p:sp>
        <p:nvSpPr>
          <p:cNvPr id="4" name="text-530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5,8 млн семей-арендаторов, 252 млн м². Коммерсантъ, 22.06.2026. kommersant.ru/doc/8654844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прогноз +25%, 62% молодые семьи. РБК Недвижимость, 26.02.2026. rbcrealty.ru/news/69a047fa9a7947257ad4e03e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ВЦИОМ: Аренда жилья, ставка на молодых, опрос 14-15.08.2026, 1 239 человек. 14.10.2026. wciom.ru/analytical-reviews/analiticheskii-obzor/arenda-zhilja-stavka-na-molodykh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Ингосстрах и Финансовый университет: 27% людей 18-30 лет снимают жилье. 30.07.2026. ingos.ru/company/news/2026/43a6e00c-0909-4bad-835d-28d69ce61f36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ставки аренды, сентябрь 2026. ПРАЙМ, 22.09.2026. 1prime.ru/20260922/tsian-873537606.html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однушка в Москве 71 тыс. ₽. Московская перспектива, 02.10.2026. mperspektiva.ru/topics/stavki-vyrosli-vdvoe-kak-izmenilos-arendnoe-zhile-v-moskve-za-10-let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ДОМ.РФ: ставки и предложение, III кв. 2026. Инвестиции будущего, 12.10.2026. investfuture.ru/articles/predlozhenie-zhilya-v-arendu-sokratilos-stavki-vyrosli-v-iii-kvartale-2026-goda-678c004e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депозит в 97% объявлений, 67% ставки, 37% пять лет назад. Коммерсантъ, 24.11.2025. kommersant.ru/doc/8228847 и kommersant.ru/doc/8228237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ЦИАН: 94% объявлений с депозитом в декабре 2024, 54% в 2019. МК, 04.12.2024. mk.ru/economics/2024/12/04/nazvana-dolya-sobstvennikov-trebuyushhikh-depozit-pri-sdache-kvartiry-v-arendu.html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Авито: комиссия 50-100% ставки. Мойка78, 03.04.2026. moika78.ru/news/2026-04-03/1284651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Авито: 51% объявлений в Москве без комиссии, ЦИАН и Карма: проверка жильцов. Т-Ж, 16.09.2026. t-j.ru/rent-sobstv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OMI для Авито: 79% хотят снимать у собственника. РИА Недвижимость, 13.08.2026. realty.ria.ru/20260813/avito-2110644736.html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Информзащита: схемы мошенничества с арендой +26%. RTVI, 13.03.2026. rtvi.com/news/peregretyj-rynok-rossiyan-predupredili-o-volne-moshennichestva-s-arendoj-zhilya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ВС РФ, определение от 30.07.2024 № 4-КГ24-30-К1. legalacts.ru, текст определения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Судебные акты 2025-2026 по залогу при найме жилья: sudact.ru (2-й КСОЮ, Благовещенск, Тюмень, Санкт-Петербургский горсуд, суд ХМАО-Югры, Мосгорсуд)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ГК РФ ст. 381.1, 687, 929, 930, 932, 965, Закон РФ 4015-1 ст. 4, 32.9: consultant.ru, base.garant.ru. Пленум ВС № 19 от 25.06.2024: base.garant.ru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Банк России: Указание 6109-У (КИД), Указание 3854-У (период охлаждения). cbr.ru, base.garant.ru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100" dirty="0">
                <a:solidFill>
                  <a:schemeClr val="tx1"/>
                </a:solidFill>
              </a:rPr>
              <a:t>Разбор 59 публичных историй: harant.ru, t-j.ru, vc.ru, pikabu.ru, otzovik.com, otzyvru.com, Яндекс Карты. Ссылки и дословные цитаты в материалах исследования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" y="228600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ПРИЛОЖЕНИЕ</a:t>
            </a:r>
            <a:endParaRPr lang="en-US" sz="9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57200" y="50292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Источники (продолжение)</a:t>
            </a:r>
            <a:endParaRPr lang="en-US" sz="2400" dirty="0"/>
          </a:p>
        </p:txBody>
      </p:sp>
      <p:sp>
        <p:nvSpPr>
          <p:cNvPr id="4" name="text-531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страхование имущества граждан, комиссии посредников, 2025. cbr.ru/statistics/insurance/ssd_stat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страховые премии по страховщикам, форма 0420162, 2025. cbr.ru/Content/Document/File/187395/2025_4.zip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Банк России: ключевая ставка 14% с 23.10.2026, ставки вкладов топ-10 банков. cbr.ru/press/keypr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Эксперт РА: рейтинг Ингосстраха ruAAA, 02.12.2025. raexpert.ru/releases/2025/dec02b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страхование квартиры, условия по арендаторам. ingos.ru/property/flat. Дистанционное урегулирование, 22.01.2026. ingos.ru/company/news/2026/a7304c28-4be8-4252-a1c1-8ff1750f77df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самоосмотр квартир в IngoMobile. ComNews, 26.07.2018. comnews.ru/digital-economy/content/114109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Ингосстрах: запуск полиса Рантье, 09.06.2021. ingos.ru/company/news/2021/90a3a936-8ae9-47b0-1962-08dafe9eff01. Авантаж Рантье: InFullBroker, 08.06.2022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Яндекс Аренда: оферты для жильца 11.10.2026, собственника 21.07.2026, договоров вне сервиса 17.07.2026. yandex.ru/legal/realty_lease_tenant, realty_lease_landlord, realty_lease_landlord_addition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Самолет Плюс: перезапуск 23.07.2026, ComNews, CNews. КИД Замена арендного депозита, Лучи Страхование, 24.07.2026. docs.luchi.ru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ПИК-Аренда: Безопасная сделка, pik-arenda.ru/safe-deal. Доля сделок со страховкой в 2020 году: vc.ru, 07.08.2020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Домклик: сервис сдачи, РБК Недвижимость, 10.06.2026. Аренда+, VBR, 18.09.2026. Т-Страхование: InFullBroker, 26.09.2025. Яндекс Забота: care.yandex.ru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Zero Deposit: условия и масштаб. zerodeposit.com/faq/landlords, zerodeposit.com/tenants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Reposit: условия и данные о претензиях 2024. reposit.co.uk/tenants, reposit.co.uk/blog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Rhino и Jetty: слияние, Greenlight Rent. PR Newswire, 06.02.2025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LeaseLock: $17 млрд договоров, июль 2026. generation-nt.com. Показания LeaseLock в собрании Мэриленда, 2024. mgaleg.maryland.gov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Visale: 350 тыс. договоров в 2025. journaldelagence.com, visale.fr/visale-2-millions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VUSO и Tenant, Украина. Интерфакс-Украина, 23.03.2026. interfax.com.ua/news/economic/1153737.html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9"/>
            </a:pPr>
            <a:r>
              <a:rPr lang="en-US" sz="1100" dirty="0">
                <a:solidFill>
                  <a:schemeClr val="tx1"/>
                </a:solidFill>
              </a:rPr>
              <a:t>Opinium для Generation Rent: 7% арендаторов используют альтернативу залогу. Scottish Housing News, 28.07.2025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548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ИнгоКлюч</a:t>
            </a:r>
            <a:endParaRPr lang="en-US" sz="3000" dirty="0"/>
          </a:p>
        </p:txBody>
      </p:sp>
      <p:sp>
        <p:nvSpPr>
          <p:cNvPr id="3" name="text-532"/>
          <p:cNvSpPr txBox="1"/>
          <p:nvPr/>
        </p:nvSpPr>
        <p:spPr>
          <a:xfrm>
            <a:off x="502920" y="1600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Ингосстрах ручается за жильца</a:t>
            </a:r>
            <a:endParaRPr lang="en-US" sz="2400" dirty="0"/>
          </a:p>
        </p:txBody>
      </p:sp>
      <p:sp>
        <p:nvSpPr>
          <p:cNvPr id="4" name="text-533"/>
          <p:cNvSpPr txBox="1"/>
          <p:nvPr/>
        </p:nvSpPr>
        <p:spPr>
          <a:xfrm>
            <a:off x="50292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Заезжайте без залога, выезжайте без спора</a:t>
            </a:r>
            <a:endParaRPr lang="en-US" sz="1500" dirty="0"/>
          </a:p>
        </p:txBody>
      </p:sp>
      <p:sp>
        <p:nvSpPr>
          <p:cNvPr id="5" name="text-534"/>
          <p:cNvSpPr txBox="1"/>
          <p:nvPr/>
        </p:nvSpPr>
        <p:spPr>
          <a:xfrm>
            <a:off x="502920" y="5120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Команда: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Джей и молчаливый Боб, НИУ ВШЭ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accent3"/>
                </a:solidFill>
              </a:rPr>
              <a:t>Участники: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Дук Никита, Филиппов Владислав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GOSIGHT IngoKey">
  <a:themeElements>
    <a:clrScheme name="INGOSIGHT IngoKey">
      <a:dk1>
        <a:srgbClr val="1B1F3B"/>
      </a:dk1>
      <a:lt1>
        <a:srgbClr val="FFFFFF"/>
      </a:lt1>
      <a:dk2>
        <a:srgbClr val="0040C0"/>
      </a:dk2>
      <a:lt2>
        <a:srgbClr val="EFF6FB"/>
      </a:lt2>
      <a:accent1>
        <a:srgbClr val="0040C0"/>
      </a:accent1>
      <a:accent2>
        <a:srgbClr val="B7FE1D"/>
      </a:accent2>
      <a:accent3>
        <a:srgbClr val="1E9BE8"/>
      </a:accent3>
      <a:accent4>
        <a:srgbClr val="5A6478"/>
      </a:accent4>
      <a:accent5>
        <a:srgbClr val="D6E6F7"/>
      </a:accent5>
      <a:accent6>
        <a:srgbClr val="FF5A36"/>
      </a:accent6>
      <a:hlink>
        <a:srgbClr val="0040C0"/>
      </a:hlink>
      <a:folHlink>
        <a:srgbClr val="5A6478"/>
      </a:folHlink>
    </a:clrScheme>
    <a:fontScheme name="INGOSIGHT IngoKey">
      <a:majorFont>
        <a:latin typeface="Unbound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ИнгоКлюч - INGOSIGHT 2026</dc:title>
  <dc:subject>PptxGenJS Presentation</dc:subject>
  <dc:creator>Команда Джей и молчаливый Боб, НИУ ВШЭ</dc:creator>
  <cp:lastModifiedBy>Команда Джей и молчаливый Боб, НИУ ВШЭ</cp:lastModifiedBy>
  <cp:revision>1</cp:revision>
  <dcterms:created xsi:type="dcterms:W3CDTF">2026-10-25T18:47:17Z</dcterms:created>
  <dcterms:modified xsi:type="dcterms:W3CDTF">2026-10-25T18:47:17Z</dcterms:modified>
</cp:coreProperties>
</file>